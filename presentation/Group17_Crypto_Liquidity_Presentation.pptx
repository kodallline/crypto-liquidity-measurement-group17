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The paper and our data" id="{99904328-5b62-a3ff-6792-ecc72f750e8c}">
          <p14:sldIdLst>
            <p14:sldId id="256"/>
            <p14:sldId id="257"/>
            <p14:sldId id="258"/>
            <p14:sldId id="259"/>
            <p14:sldId id="260"/>
          </p14:sldIdLst>
        </p14:section>
        <p14:section name="Part 2 · Transaction-based proxies" id="{01b99b25-3a8b-bdbe-636d-b8e64d6814fb}">
          <p14:sldIdLst>
            <p14:sldId id="261"/>
            <p14:sldId id="262"/>
            <p14:sldId id="263"/>
            <p14:sldId id="264"/>
          </p14:sldIdLst>
        </p14:section>
        <p14:section name="Part 3 · Benchmarks and comparison" id="{6caca9b3-ad03-4822-b45b-b927aaeaf3cf}">
          <p14:sldIdLst>
            <p14:sldId id="265"/>
            <p14:sldId id="266"/>
            <p14:sldId id="267"/>
            <p14:sldId id="268"/>
            <p14:sldId id="269"/>
          </p14:sldIdLst>
        </p14:section>
        <p14:section name="Part 4 · Extension and conclusions" id="{4e5b77e8-8fe3-7714-12ca-0ad9fb5972c5}">
          <p14:sldIdLst>
            <p14:sldId id="270"/>
            <p14:sldId id="271"/>
            <p14:sldId id="272"/>
            <p14:sldId id="273"/>
            <p14:sldId id="274"/>
            <p14:sldId id="275"/>
            <p14:sldId id="276"/>
            <p14:sldId id="277"/>
          </p14:sldIdLst>
        </p14:section>
        <p14:section name="Appendix" id="{9493097b-918a-61f7-d7d4-93d7e8cc8635}">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D69"/>
                </a:solidFill>
                <a:latin typeface="+mn-lt"/>
              </a:defRPr>
            </a:pPr>
            <a:r>
              <a:rPr sz="1300" b="0" i="0" u="none" strike="noStrike">
                <a:solidFill>
                  <a:srgbClr val="102D69"/>
                </a:solidFill>
                <a:latin typeface="+mn-lt"/>
              </a:rPr>
              <a:t>Simulated Bitfinex-like market (bp)</a:t>
            </a:r>
          </a:p>
        </c:rich>
      </c:tx>
      <c:layout/>
      <c:overlay val="0"/>
    </c:title>
    <c:autoTitleDeleted val="0"/>
    <c:plotArea>
      <c:layout/>
      <c:barChart>
        <c:barDir val="col"/>
        <c:grouping val="clustered"/>
        <c:varyColors val="0"/>
        <c:ser>
          <c:idx val="0"/>
          <c:order val="0"/>
          <c:tx>
            <c:strRef>
              <c:f>Sheet1!$B$1</c:f>
              <c:strCache>
                <c:ptCount val="1"/>
                <c:pt idx="0">
                  <c:v>True spread</c:v>
                </c:pt>
              </c:strCache>
            </c:strRef>
          </c:tx>
          <c:spPr>
            <a:solidFill>
              <a:srgbClr val="B9BED0"/>
            </a:solidFill>
            <a:effectLst/>
          </c:spPr>
          <c:invertIfNegative val="0"/>
          <c:dLbls>
            <c:numFmt formatCode="0.00" sourceLinked="0"/>
            <c:txPr>
              <a:bodyPr/>
              <a:lstStyle/>
              <a:p>
                <a:pPr>
                  <a:defRPr b="0" i="0" strike="noStrike" sz="10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true 0.5 bp</c:v>
                  </c:pt>
                  <c:pt idx="1">
                    <c:v>true 1.5 bp</c:v>
                  </c:pt>
                  <c:pt idx="2">
                    <c:v>true 4.5 bp</c:v>
                  </c:pt>
                </c:lvl>
              </c:multiLvlStrCache>
            </c:multiLvlStrRef>
          </c:cat>
          <c:val>
            <c:numRef>
              <c:f>Sheet1!$B$2:$B$4</c:f>
              <c:numCache>
                <c:formatCode>General</c:formatCode>
                <c:ptCount val="3"/>
                <c:pt idx="0">
                  <c:v>0.5</c:v>
                </c:pt>
                <c:pt idx="1">
                  <c:v>1.5</c:v>
                </c:pt>
                <c:pt idx="2">
                  <c:v>4.5</c:v>
                </c:pt>
              </c:numCache>
            </c:numRef>
          </c:val>
        </c:ser>
        <c:ser>
          <c:idx val="1"/>
          <c:order val="1"/>
          <c:tx>
            <c:strRef>
              <c:f>Sheet1!$C$1</c:f>
              <c:strCache>
                <c:ptCount val="1"/>
                <c:pt idx="0">
                  <c:v>AR estimate</c:v>
                </c:pt>
              </c:strCache>
            </c:strRef>
          </c:tx>
          <c:spPr>
            <a:solidFill>
              <a:srgbClr val="102D69"/>
            </a:solidFill>
            <a:effectLst/>
          </c:spPr>
          <c:invertIfNegative val="0"/>
          <c:dLbls>
            <c:numFmt formatCode="0.00" sourceLinked="0"/>
            <c:txPr>
              <a:bodyPr/>
              <a:lstStyle/>
              <a:p>
                <a:pPr>
                  <a:defRPr b="0" i="0" strike="noStrike" sz="10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true 0.5 bp</c:v>
                  </c:pt>
                  <c:pt idx="1">
                    <c:v>true 1.5 bp</c:v>
                  </c:pt>
                  <c:pt idx="2">
                    <c:v>true 4.5 bp</c:v>
                  </c:pt>
                </c:lvl>
              </c:multiLvlStrCache>
            </c:multiLvlStrRef>
          </c:cat>
          <c:val>
            <c:numRef>
              <c:f>Sheet1!$C$2:$C$4</c:f>
              <c:numCache>
                <c:formatCode>General</c:formatCode>
                <c:ptCount val="3"/>
                <c:pt idx="0">
                  <c:v>2.67</c:v>
                </c:pt>
                <c:pt idx="1">
                  <c:v>2.84</c:v>
                </c:pt>
                <c:pt idx="2">
                  <c:v>4.06</c:v>
                </c:pt>
              </c:numCache>
            </c:numRef>
          </c:val>
        </c:ser>
        <c:ser>
          <c:idx val="2"/>
          <c:order val="2"/>
          <c:tx>
            <c:strRef>
              <c:f>Sheet1!$D$1</c:f>
              <c:strCache>
                <c:ptCount val="1"/>
                <c:pt idx="0">
                  <c:v>CS estimate</c:v>
                </c:pt>
              </c:strCache>
            </c:strRef>
          </c:tx>
          <c:spPr>
            <a:solidFill>
              <a:srgbClr val="7B75AA"/>
            </a:solidFill>
            <a:effectLst/>
          </c:spPr>
          <c:invertIfNegative val="0"/>
          <c:dLbls>
            <c:numFmt formatCode="0.00" sourceLinked="0"/>
            <c:txPr>
              <a:bodyPr/>
              <a:lstStyle/>
              <a:p>
                <a:pPr>
                  <a:defRPr b="0" i="0" strike="noStrike" sz="1000" u="none">
                    <a:solidFill>
                      <a:srgbClr val="1F2A44"/>
                    </a:solidFill>
                    <a:latin typeface="+mn-lt"/>
                  </a:defRPr>
                </a:pPr>
              </a:p>
            </c:txPr>
            <c:showLegendKey val="0"/>
            <c:showVal val="1"/>
            <c:showCatName val="0"/>
            <c:showSerName val="0"/>
            <c:showPercent val="0"/>
            <c:showBubbleSize val="0"/>
            <c:showLeaderLines val="0"/>
          </c:dLbls>
          <c:cat>
            <c:multiLvlStrRef>
              <c:f>Sheet1!$A$2:$A$4</c:f>
              <c:multiLvlStrCache>
                <c:ptCount val="3"/>
                <c:lvl>
                  <c:pt idx="0">
                    <c:v>true 0.5 bp</c:v>
                  </c:pt>
                  <c:pt idx="1">
                    <c:v>true 1.5 bp</c:v>
                  </c:pt>
                  <c:pt idx="2">
                    <c:v>true 4.5 bp</c:v>
                  </c:pt>
                </c:lvl>
              </c:multiLvlStrCache>
            </c:multiLvlStrRef>
          </c:cat>
          <c:val>
            <c:numRef>
              <c:f>Sheet1!$D$2:$D$4</c:f>
              <c:numCache>
                <c:formatCode>General</c:formatCode>
                <c:ptCount val="3"/>
                <c:pt idx="0">
                  <c:v>1.98</c:v>
                </c:pt>
                <c:pt idx="1">
                  <c:v>2.27</c:v>
                </c:pt>
                <c:pt idx="2">
                  <c:v>3.88</c:v>
                </c:pt>
              </c:numCache>
            </c:numRef>
          </c:val>
        </c:ser>
        <c:dLbls>
          <c:numFmt formatCode="0.00" sourceLinked="0"/>
          <c:txPr>
            <a:bodyPr/>
            <a:lstStyle/>
            <a:p>
              <a:pPr>
                <a:defRPr b="0" i="0" strike="noStrike" sz="1000" u="none">
                  <a:solidFill>
                    <a:srgbClr val="1F2A4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6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A8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D69"/>
                </a:solidFill>
                <a:latin typeface="+mn-lt"/>
              </a:defRPr>
            </a:pPr>
            <a:r>
              <a:rPr sz="1300" b="0" i="0" u="none" strike="noStrike">
                <a:solidFill>
                  <a:srgbClr val="102D69"/>
                </a:solidFill>
                <a:latin typeface="+mn-lt"/>
              </a:rPr>
              <a:t>TX (number of trades) vs QS</a:t>
            </a:r>
          </a:p>
        </c:rich>
      </c:tx>
      <c:layout/>
      <c:overlay val="0"/>
    </c:title>
    <c:autoTitleDeleted val="0"/>
    <c:plotArea>
      <c:layout/>
      <c:barChart>
        <c:barDir val="bar"/>
        <c:grouping val="clustered"/>
        <c:varyColors val="0"/>
        <c:ser>
          <c:idx val="0"/>
          <c:order val="0"/>
          <c:tx>
            <c:strRef>
              <c:f>Sheet1!$B$1</c:f>
              <c:strCache>
                <c:ptCount val="1"/>
                <c:pt idx="0">
                  <c:v>Before</c:v>
                </c:pt>
              </c:strCache>
            </c:strRef>
          </c:tx>
          <c:spPr>
            <a:solidFill>
              <a:srgbClr val="B9BED0"/>
            </a:solidFill>
            <a:effectLst/>
          </c:spPr>
          <c:invertIfNegative val="0"/>
          <c:dLbls>
            <c:numFmt formatCode="0.00" sourceLinked="0"/>
            <c:txPr>
              <a:bodyPr/>
              <a:lstStyle/>
              <a:p>
                <a:pPr>
                  <a:defRPr b="0" i="0" strike="noStrike" sz="900" u="none">
                    <a:solidFill>
                      <a:srgbClr val="1F2A44"/>
                    </a:solidFill>
                    <a:latin typeface="+mn-lt"/>
                  </a:defRPr>
                </a:pPr>
              </a:p>
            </c:txPr>
            <c:showLegendKey val="0"/>
            <c:showVal val="1"/>
            <c:showCatName val="0"/>
            <c:showSerName val="0"/>
            <c:showPercent val="0"/>
            <c:showBubbleSize val="0"/>
            <c:showLeaderLines val="0"/>
          </c:dLbls>
          <c:cat>
            <c:multiLvlStrRef>
              <c:f>Sheet1!$A$2:$A$6</c:f>
              <c:multiLvlStrCache>
                <c:ptCount val="5"/>
                <c:lvl>
                  <c:pt idx="0">
                    <c:v>Bitfinex BTC</c:v>
                  </c:pt>
                  <c:pt idx="1">
                    <c:v>Coinbase BTC</c:v>
                  </c:pt>
                  <c:pt idx="2">
                    <c:v>Coinbase ETH</c:v>
                  </c:pt>
                  <c:pt idx="3">
                    <c:v>Bitstamp BTC</c:v>
                  </c:pt>
                  <c:pt idx="4">
                    <c:v>Bitfinex ETH</c:v>
                  </c:pt>
                </c:lvl>
              </c:multiLvlStrCache>
            </c:multiLvlStrRef>
          </c:cat>
          <c:val>
            <c:numRef>
              <c:f>Sheet1!$B$2:$B$6</c:f>
              <c:numCache>
                <c:formatCode>General</c:formatCode>
                <c:ptCount val="5"/>
                <c:pt idx="0">
                  <c:v>0.51</c:v>
                </c:pt>
                <c:pt idx="1">
                  <c:v>0.46</c:v>
                </c:pt>
                <c:pt idx="2">
                  <c:v>0.6</c:v>
                </c:pt>
                <c:pt idx="3">
                  <c:v>-0.3</c:v>
                </c:pt>
                <c:pt idx="4">
                  <c:v>0.24</c:v>
                </c:pt>
              </c:numCache>
            </c:numRef>
          </c:val>
        </c:ser>
        <c:ser>
          <c:idx val="1"/>
          <c:order val="1"/>
          <c:tx>
            <c:strRef>
              <c:f>Sheet1!$C$1</c:f>
              <c:strCache>
                <c:ptCount val="1"/>
                <c:pt idx="0">
                  <c:v>After removing volatility</c:v>
                </c:pt>
              </c:strCache>
            </c:strRef>
          </c:tx>
          <c:spPr>
            <a:solidFill>
              <a:srgbClr val="102D69"/>
            </a:solidFill>
            <a:effectLst/>
          </c:spPr>
          <c:invertIfNegative val="0"/>
          <c:dLbls>
            <c:numFmt formatCode="0.00" sourceLinked="0"/>
            <c:txPr>
              <a:bodyPr/>
              <a:lstStyle/>
              <a:p>
                <a:pPr>
                  <a:defRPr b="0" i="0" strike="noStrike" sz="900" u="none">
                    <a:solidFill>
                      <a:srgbClr val="1F2A44"/>
                    </a:solidFill>
                    <a:latin typeface="+mn-lt"/>
                  </a:defRPr>
                </a:pPr>
              </a:p>
            </c:txPr>
            <c:showLegendKey val="0"/>
            <c:showVal val="1"/>
            <c:showCatName val="0"/>
            <c:showSerName val="0"/>
            <c:showPercent val="0"/>
            <c:showBubbleSize val="0"/>
            <c:showLeaderLines val="0"/>
          </c:dLbls>
          <c:cat>
            <c:multiLvlStrRef>
              <c:f>Sheet1!$A$2:$A$6</c:f>
              <c:multiLvlStrCache>
                <c:ptCount val="5"/>
                <c:lvl>
                  <c:pt idx="0">
                    <c:v>Bitfinex BTC</c:v>
                  </c:pt>
                  <c:pt idx="1">
                    <c:v>Coinbase BTC</c:v>
                  </c:pt>
                  <c:pt idx="2">
                    <c:v>Coinbase ETH</c:v>
                  </c:pt>
                  <c:pt idx="3">
                    <c:v>Bitstamp BTC</c:v>
                  </c:pt>
                  <c:pt idx="4">
                    <c:v>Bitfinex ETH</c:v>
                  </c:pt>
                </c:lvl>
              </c:multiLvlStrCache>
            </c:multiLvlStrRef>
          </c:cat>
          <c:val>
            <c:numRef>
              <c:f>Sheet1!$C$2:$C$6</c:f>
              <c:numCache>
                <c:formatCode>General</c:formatCode>
                <c:ptCount val="5"/>
                <c:pt idx="0">
                  <c:v>-0.05</c:v>
                </c:pt>
                <c:pt idx="1">
                  <c:v>0.16</c:v>
                </c:pt>
                <c:pt idx="2">
                  <c:v>0.09</c:v>
                </c:pt>
                <c:pt idx="3">
                  <c:v>-0.64</c:v>
                </c:pt>
                <c:pt idx="4">
                  <c:v>-0.19</c:v>
                </c:pt>
              </c:numCache>
            </c:numRef>
          </c:val>
        </c:ser>
        <c:dLbls>
          <c:numFmt formatCode="0.00" sourceLinked="0"/>
          <c:txPr>
            <a:bodyPr/>
            <a:lstStyle/>
            <a:p>
              <a:pPr>
                <a:defRPr b="0" i="0" strike="noStrike" sz="900" u="none">
                  <a:solidFill>
                    <a:srgbClr val="1F2A4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mn-lt"/>
              </a:defRPr>
            </a:pPr>
            <a:endParaRPr lang="en-US"/>
          </a:p>
        </c:txPr>
        <c:crossAx val="2094734552"/>
        <c:crosses val="autoZero"/>
        <c:auto val="1"/>
        <c:lblAlgn val="ctr"/>
        <c:noMultiLvlLbl val="1"/>
      </c:catAx>
      <c:valAx>
        <c:axId val="2094734552"/>
        <c:scaling>
          <c:orientation val="minMax"/>
          <c:max val="1"/>
          <c:min val="-0.8"/>
        </c:scaling>
        <c:delete val="0"/>
        <c:axPos val="b"/>
        <c:majorGridlines>
          <c:spPr>
            <a:ln w="9525" cap="flat">
              <a:solidFill>
                <a:srgbClr val="E6E8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A8C"/>
                </a:solidFill>
                <a:latin typeface="+mn-lt"/>
              </a:defRPr>
            </a:pPr>
            <a:endParaRPr lang="en-US"/>
          </a:p>
        </c:txPr>
        <c:crossAx val="2094734554"/>
        <c:crosses val="autoZero"/>
        <c:crossBetween val="between"/>
        <c:majorUnit val="0.4"/>
      </c:valAx>
      <c:spPr>
        <a:noFill/>
        <a:ln>
          <a:noFill/>
        </a:ln>
        <a:effectLst/>
      </c:spPr>
    </c:plotArea>
    <c:legend>
      <c:legendPos val="b"/>
      <c:overlay val="0"/>
      <c:txPr>
        <a:bodyPr/>
        <a:lstStyle/>
        <a:p>
          <a:pPr>
            <a:defRPr sz="1100">
              <a:solidFill>
                <a:srgbClr val="1F2A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D69"/>
                </a:solidFill>
                <a:latin typeface="+mn-lt"/>
              </a:defRPr>
            </a:pPr>
            <a:r>
              <a:rPr sz="1300" b="0" i="0" u="none" strike="noStrike">
                <a:solidFill>
                  <a:srgbClr val="102D69"/>
                </a:solidFill>
                <a:latin typeface="+mn-lt"/>
              </a:rPr>
              <a:t>AR (Abdi–Ranaldo) vs QS</a:t>
            </a:r>
          </a:p>
        </c:rich>
      </c:tx>
      <c:layout/>
      <c:overlay val="0"/>
    </c:title>
    <c:autoTitleDeleted val="0"/>
    <c:plotArea>
      <c:layout/>
      <c:barChart>
        <c:barDir val="bar"/>
        <c:grouping val="clustered"/>
        <c:varyColors val="0"/>
        <c:ser>
          <c:idx val="0"/>
          <c:order val="0"/>
          <c:tx>
            <c:strRef>
              <c:f>Sheet1!$B$1</c:f>
              <c:strCache>
                <c:ptCount val="1"/>
                <c:pt idx="0">
                  <c:v>Before</c:v>
                </c:pt>
              </c:strCache>
            </c:strRef>
          </c:tx>
          <c:spPr>
            <a:solidFill>
              <a:srgbClr val="B9BED0"/>
            </a:solidFill>
            <a:effectLst/>
          </c:spPr>
          <c:invertIfNegative val="0"/>
          <c:dLbls>
            <c:numFmt formatCode="0.00" sourceLinked="0"/>
            <c:txPr>
              <a:bodyPr/>
              <a:lstStyle/>
              <a:p>
                <a:pPr>
                  <a:defRPr b="0" i="0" strike="noStrike" sz="900" u="none">
                    <a:solidFill>
                      <a:srgbClr val="1F2A44"/>
                    </a:solidFill>
                    <a:latin typeface="+mn-lt"/>
                  </a:defRPr>
                </a:pPr>
              </a:p>
            </c:txPr>
            <c:showLegendKey val="0"/>
            <c:showVal val="1"/>
            <c:showCatName val="0"/>
            <c:showSerName val="0"/>
            <c:showPercent val="0"/>
            <c:showBubbleSize val="0"/>
            <c:showLeaderLines val="0"/>
          </c:dLbls>
          <c:cat>
            <c:multiLvlStrRef>
              <c:f>Sheet1!$A$2:$A$6</c:f>
              <c:multiLvlStrCache>
                <c:ptCount val="5"/>
                <c:lvl>
                  <c:pt idx="0">
                    <c:v>Bitfinex BTC</c:v>
                  </c:pt>
                  <c:pt idx="1">
                    <c:v>Coinbase BTC</c:v>
                  </c:pt>
                  <c:pt idx="2">
                    <c:v>Coinbase ETH</c:v>
                  </c:pt>
                  <c:pt idx="3">
                    <c:v>Bitstamp BTC</c:v>
                  </c:pt>
                  <c:pt idx="4">
                    <c:v>Bitfinex ETH</c:v>
                  </c:pt>
                </c:lvl>
              </c:multiLvlStrCache>
            </c:multiLvlStrRef>
          </c:cat>
          <c:val>
            <c:numRef>
              <c:f>Sheet1!$B$2:$B$6</c:f>
              <c:numCache>
                <c:formatCode>General</c:formatCode>
                <c:ptCount val="5"/>
                <c:pt idx="0">
                  <c:v>0.82</c:v>
                </c:pt>
                <c:pt idx="1">
                  <c:v>0.63</c:v>
                </c:pt>
                <c:pt idx="2">
                  <c:v>0.81</c:v>
                </c:pt>
                <c:pt idx="3">
                  <c:v>0.67</c:v>
                </c:pt>
                <c:pt idx="4">
                  <c:v>0.6</c:v>
                </c:pt>
              </c:numCache>
            </c:numRef>
          </c:val>
        </c:ser>
        <c:ser>
          <c:idx val="1"/>
          <c:order val="1"/>
          <c:tx>
            <c:strRef>
              <c:f>Sheet1!$C$1</c:f>
              <c:strCache>
                <c:ptCount val="1"/>
                <c:pt idx="0">
                  <c:v>After removing volatility</c:v>
                </c:pt>
              </c:strCache>
            </c:strRef>
          </c:tx>
          <c:spPr>
            <a:solidFill>
              <a:srgbClr val="102D69"/>
            </a:solidFill>
            <a:effectLst/>
          </c:spPr>
          <c:invertIfNegative val="0"/>
          <c:dLbls>
            <c:numFmt formatCode="0.00" sourceLinked="0"/>
            <c:txPr>
              <a:bodyPr/>
              <a:lstStyle/>
              <a:p>
                <a:pPr>
                  <a:defRPr b="0" i="0" strike="noStrike" sz="900" u="none">
                    <a:solidFill>
                      <a:srgbClr val="1F2A44"/>
                    </a:solidFill>
                    <a:latin typeface="+mn-lt"/>
                  </a:defRPr>
                </a:pPr>
              </a:p>
            </c:txPr>
            <c:showLegendKey val="0"/>
            <c:showVal val="1"/>
            <c:showCatName val="0"/>
            <c:showSerName val="0"/>
            <c:showPercent val="0"/>
            <c:showBubbleSize val="0"/>
            <c:showLeaderLines val="0"/>
          </c:dLbls>
          <c:cat>
            <c:multiLvlStrRef>
              <c:f>Sheet1!$A$2:$A$6</c:f>
              <c:multiLvlStrCache>
                <c:ptCount val="5"/>
                <c:lvl>
                  <c:pt idx="0">
                    <c:v>Bitfinex BTC</c:v>
                  </c:pt>
                  <c:pt idx="1">
                    <c:v>Coinbase BTC</c:v>
                  </c:pt>
                  <c:pt idx="2">
                    <c:v>Coinbase ETH</c:v>
                  </c:pt>
                  <c:pt idx="3">
                    <c:v>Bitstamp BTC</c:v>
                  </c:pt>
                  <c:pt idx="4">
                    <c:v>Bitfinex ETH</c:v>
                  </c:pt>
                </c:lvl>
              </c:multiLvlStrCache>
            </c:multiLvlStrRef>
          </c:cat>
          <c:val>
            <c:numRef>
              <c:f>Sheet1!$C$2:$C$6</c:f>
              <c:numCache>
                <c:formatCode>General</c:formatCode>
                <c:ptCount val="5"/>
                <c:pt idx="0">
                  <c:v>0.6</c:v>
                </c:pt>
                <c:pt idx="1">
                  <c:v>0.49</c:v>
                </c:pt>
                <c:pt idx="2">
                  <c:v>0.47</c:v>
                </c:pt>
                <c:pt idx="3">
                  <c:v>0.61</c:v>
                </c:pt>
                <c:pt idx="4">
                  <c:v>0.41</c:v>
                </c:pt>
              </c:numCache>
            </c:numRef>
          </c:val>
        </c:ser>
        <c:dLbls>
          <c:numFmt formatCode="0.00" sourceLinked="0"/>
          <c:txPr>
            <a:bodyPr/>
            <a:lstStyle/>
            <a:p>
              <a:pPr>
                <a:defRPr b="0" i="0" strike="noStrike" sz="900" u="none">
                  <a:solidFill>
                    <a:srgbClr val="1F2A4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44"/>
                </a:solidFill>
                <a:latin typeface="+mn-lt"/>
              </a:defRPr>
            </a:pPr>
            <a:endParaRPr lang="en-US"/>
          </a:p>
        </c:txPr>
        <c:crossAx val="2094734552"/>
        <c:crosses val="autoZero"/>
        <c:auto val="1"/>
        <c:lblAlgn val="ctr"/>
        <c:noMultiLvlLbl val="1"/>
      </c:catAx>
      <c:valAx>
        <c:axId val="2094734552"/>
        <c:scaling>
          <c:orientation val="minMax"/>
          <c:max val="1"/>
          <c:min val="-0.8"/>
        </c:scaling>
        <c:delete val="0"/>
        <c:axPos val="b"/>
        <c:majorGridlines>
          <c:spPr>
            <a:ln w="9525" cap="flat">
              <a:solidFill>
                <a:srgbClr val="E6E8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A8C"/>
                </a:solidFill>
                <a:latin typeface="+mn-lt"/>
              </a:defRPr>
            </a:pPr>
            <a:endParaRPr lang="en-US"/>
          </a:p>
        </c:txPr>
        <c:crossAx val="2094734554"/>
        <c:crosses val="autoZero"/>
        <c:crossBetween val="between"/>
        <c:majorUnit val="0.4"/>
      </c:valAx>
      <c:spPr>
        <a:noFill/>
        <a:ln>
          <a:noFill/>
        </a:ln>
        <a:effectLst/>
      </c:spPr>
    </c:plotArea>
    <c:legend>
      <c:legendPos val="b"/>
      <c:overlay val="0"/>
      <c:txPr>
        <a:bodyPr/>
        <a:lstStyle/>
        <a:p>
          <a:pPr>
            <a:defRPr sz="1100">
              <a:solidFill>
                <a:srgbClr val="1F2A4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Chistiakova (about 0:15)
Good afternoon, everyone. We are Group 17: Maria Chistiakova, Sofia Rudko, Liya Meyzler and Maria Samoilova. Our topic is a simple question with a difficult answer: how can we measure the liquidity of cryptocurrency markets? We replicated a paper by Brauneis, Mestel, Riordan and Theissen on our own data, and then we tested its results a bit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Chistiakova (about 0:40)
Liquidity means how cheap it is to trade quickly. For crypto, there is no shared history of quotes and order books: every exchange has its own book, and old order-book data are expensive and hard to work with. So people often use cheap proxies that need only prices and volume. But do these cheap measures really see the cost of trading? The paper answers this with a kind of horse race. We ask two more things: does their ranking hold on independent data, and is the agreement real, or is it just volatility?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Chistiakova (about 0:45)
Everything on this slide is the authors' result, not ours: Bitcoin, hourly data, December 2017 to June 2019. The winner is the Abdi–Ranaldo estimator, AR, with correlations from 0.59 to 0.84, the highest of all eight cheap proxies. The Amihud ratio, which is very popular for stocks, is almost zero. A surprising result: the number of trades and dollar volume go up together with costs. And AR orders the three exchanges correctly in two thirds of the hours. So the authors recommend AR for timing and for comparing exchanges, but Kyle or Amihud if you need the level of costs. [Please remember this last point, we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Chistiakova (about 0:45)
First, we needed data. We wrote to all four authors and asked for their dataset, or even a small part of it. Here is our email. Unfortunately, we have not received a reply. So we collected real historical exchange data ourselves, from Tardis.dev, which records the live feeds of the exchanges. We took the same three exchanges and the same two pairs, on the first day of each month from June to December 2019: 126 files, about 2.9 gigabytes. This gives 1,008 market-hours, and 807 of them pass the paper's rule: at least 48 minutes with trades in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Chistiakova (about 0:30)
The markets are the same as in the paper, but the data source, the period and the order-book depth are different, and only the first of June is inside the authors' period. So this is an out-of-sample check, not a copy of their tables. One market is thin: Bitstamp Ether has only 28 valid hours, so we are careful with it. We split the work into four parts, and now Sofia will explain the eight cheap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Sofia Rudko (about 0:45)
Thank you, Maria. My part is the eight cheap measures, the ones you can compute without an order book. They need only minute prices, the number of trades and volume. I split them into four groups. Trades and dollar volume show how busy the market is. Amihud and Kyle ask how far the price moves for each dollar traded. Roll looks at the bounce between the bid and the ask. And Corwin–Schultz and Abdi–Ranaldo read the spread from the high, the low and the close of each minute. Be careful: for the two activity measures a high value means a liquid market, for the other six it means an expensive one. So they are not eight versions of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Sofia Rudko (about 0:40)
We take the minute bars from Part 1 and compute one value per hour. Like the authors, we keep an hour only if at least 48 of its 60 minutes have trades, so 807 of 1,008 hours. When a formula needs two minutes in a row, we use only neighbouring minutes with trades, and we never jump over a gap. To check the code, we computed a small example by hand, and we built a fake market with a flat price and a spread of five basis points: AR and CS give back exactly five. [Trades and volume also add up to the hourly totals, and the final notebook recomputes every proxy and matches the saved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Sofia Rudko (about 0:45)
Now an important detail: AR gets the timing right, but not the level. On Bitfinex Bitcoin the real spread is about half a basis point, but AR says 1.7, more than three times as much. And Roll is zero in 59 percent of the hours there. Why? Within one minute, the high–low range is mostly price movement, not the spread. In our simulation with a known spread, the true spread grows nine times, from 0.5 to 4.5 basis points, but AR only grows from 2.7 to 4.1. So this bias comes from the method, not from bad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Sofia Rudko (about 0:50)
The surprise in the paper is that more trading goes with wider spreads. We think the reason is volatility: in a busy hour, spreads get wider and people trade more, at the same time. So we removed hourly volatility and looked again. On the left are trades: on Bitfinex Bitcoin the correlation falls from 0.51 to about zero, and on Bitstamp Bitcoin, where it was already negative, it falls to minus 0.64. On the right is AR: it keeps between 0.41 and 0.61. So AR really sees the spread, and the surprising sign is mostly volatility. Now Liya will show how we measured the real cost of trading.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Liya Meyzler (about 1:00)
Thank you, Sofia. To judge the cheap measures, we need the real cost of trading. Like the paper, we use four benchmarks. The quoted spread is the gap between the best ask and the best bid. The effective spread compares the price of a real trade with the midpoint. Price impact shows how much the midpoint moves after a trade. And the roundtrip cost is what you pay if you buy and immediately sell a large order, 32 thousand dollars of Bitcoin, through the order book. We had to make some decisions. We matched trades and quotes on the same clock. The paper's formulas and tables do not fully agree, so we kept the effective spread as printed, with a signed version as a check, and we kept the sign in price impact, as the text says. [Our books have 25 levels instead of 50, but 25 levels are enough in 99.85 percent of snapshots.]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Liya Meyzler (about 0:45)
Here are the benchmarks on our seven days. Bitstamp is clearly the most expensive exchange. The quoted spread and the roundtrip cost are close to the paper's levels: for Bitfinex Bitcoin we get 0.725 basis points, and the paper has 0.723. But our effective spread and price impact are 2.4 to 8.5 times higher than in the paper. We think the main reason is our regular 10-second grid: when a trade happens, the quote is already a few seconds old. But this is our hypothesis, we could not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Liya Meyzler (about 0:45)
This is the main replication: the paper's Figure 1 next to ours. Lilac bars are the authors, navy bars are us. AR is again the best proxy for the quoted spread, the effective spread and the roundtrip cost: 0.75, 0.80 and 0.68, against 0.76, 0.84 and 0.71 in the paper. For price impact, dollar volume is just a little above AR. Amihud is again close to zero, and trades and volume are again positive. So the main ranking of the paper holds on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Liya Meyzler (about 0:35)
If we look at the full matrix, the picture is very similar. Our 32 Bitcoin coefficients correlate with the paper's at 0.90. Our values are a bit lower, by 0.065 on average, but the order of the proxies is almost the same: the rank agreement is 0.98 for the quoted spread. So the differences are mostly in size, not in order. And for Ethereum, AR is the best for all four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Liya Meyzler (about 0:50)
The last test from the paper is about exchanges. For every hour, we check if a proxy puts Bitfinex, Bitstamp and Coinbase in the same order as the benchmark. Random guessing gives 16.7 percent. For the quoted spread, AR is right in 76 percent of the hours; the paper has 67. For the effective spread, 73 percent. But for price impact AR fails: it is right in only 15 percent of the hours, even below random. So the main findings of the paper replicate. Now Maria will show what happens when we test them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0:50)
Thank you, Liya. My part is our extension. First, volatility. Sofia showed it for the quoted spread; here it is for all four benchmarks, with uncertainty. We remove ranked hourly volatility and correlate what is left. Because we have only seven days, we use a bootstrap that resamples whole days, 999 times. For the quoted and the effective spread, AR stays clearly positive, from 0.41 to 0.67, and all intervals in the five larger markets are above zero. For the roundtrip cost the link is weaker. But for price impact it disappears: beyond volatility, AR does not see price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0:40)
Second, market conditions. Like the paper, we split the hours into the calmest third and the most volatile third. The paper finds higher correlations in volatile hours. For AR we find the opposite: with the quoted spread, 0.70 in calm hours and 0.60 in volatile hours. Still, AR is the best proxy for both spreads in both groups. [And trades are negatively related to the spread in calm hours, and positively only in volatile hours, which again points to volatility.]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0:40)
Third, levels. The paper says Kyle and Amihud are the most accurate in levels. We added a very simple baseline: always predict zero. Amihud's error is the same as the error of predicting zero, in our data, and almost exactly in the paper's own numbers, because the scaled Amihud ratio is tiny. So a small error does not make a good measure. In our sample, AR has the smallest error for both spreads.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0:50)
Fourth, can a proxy measure cost levels on new dates? We fit a simple linear calibration only on June to October, and test it on November and December against the training median. In four of five markets, calibrated AR reduces the error: by 17 to 36 percent for the quoted spread and by 26 to 50 percent for the effective spread. But on Coinbase Bitcoin it fails. Spreads on the test days were lower than before, and even predicting zero beats every calibrated proxy. So calibration helps only when the cost level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0:35)
Here is the full scorecard. The core of the paper replicates: AR is the best for timing and for ranking exchanges, and Amihud tells us almost nothing. Some results are weaker, like Kyle for the roundtrip cost. And two claims do not replicate in our sample: correlations are not higher in volatile hours, and Amihud is not accurate in levels, it is just close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0:45)
So, what is new in our work? First, an independent check on different data, mostly after the paper's period, built from raw trades, quotes and order books. Second, correlations controlled for volatility. Third, bootstrap intervals for a short sample. Fourth, a zero baseline for level accuracy. Fifth, an out-of-sample calibration test with simple baselines. And sixth, we documented every definition choice and tested the sensitivity to quote age and book depth. All of this is implemented in our final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0:25)
Our study has clear limits. Seven days are not eighteen months. Our data come from a different source, with 25 levels and a 10-second grid. We worked only with hourly data, and we did not do quantile dependence, the PCA composite or the Binance extension from our plan. And some definitions are our interpretation, because the authors have not replied. So our results are indicative, not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(about 0:30)
To conclude: the paper's main result travels well. AR is the best cheap measure for timing spreads and comparing exchanges. But part of its success is volatility, it does not capture price impact, and for cost levels you need calibration and a simple baseline. Thank you for your attention.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Shown only if asked about sources, data or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 Samoilova closes; the whole group answers questions. Backup slide 25 has short answers on the proxies (Sofia).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Sofia's Q&amp;A. Not presented in the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SE University logo">    </p:cNvPr>
          <p:cNvPicPr>
            <a:picLocks noChangeAspect="1"/>
          </p:cNvPicPr>
          <p:nvPr/>
        </p:nvPicPr>
        <p:blipFill>
          <a:blip r:embed="rId1"/>
          <a:stretch>
            <a:fillRect/>
          </a:stretch>
        </p:blipFill>
        <p:spPr>
          <a:xfrm>
            <a:off x="457200" y="274320"/>
            <a:ext cx="384048" cy="384048"/>
          </a:xfrm>
          <a:prstGeom prst="rect">
            <a:avLst/>
          </a:prstGeom>
        </p:spPr>
      </p:pic>
      <p:sp>
        <p:nvSpPr>
          <p:cNvPr id="3" name="Text 0"/>
          <p:cNvSpPr/>
          <p:nvPr/>
        </p:nvSpPr>
        <p:spPr>
          <a:xfrm>
            <a:off x="932688" y="274320"/>
            <a:ext cx="3657600" cy="384048"/>
          </a:xfrm>
          <a:prstGeom prst="rect">
            <a:avLst/>
          </a:prstGeom>
          <a:noFill/>
          <a:ln/>
        </p:spPr>
        <p:txBody>
          <a:bodyPr wrap="square" lIns="0" tIns="0" rIns="0" bIns="0" rtlCol="0" anchor="ctr"/>
          <a:lstStyle/>
          <a:p>
            <a:pPr indent="0" marL="0">
              <a:buNone/>
            </a:pPr>
            <a:r>
              <a:rPr lang="en-US" sz="1000" dirty="0">
                <a:solidFill>
                  <a:schemeClr val="accent4"/>
                </a:solidFill>
              </a:rPr>
              <a:t>Group 17 · Research Seminar</a:t>
            </a:r>
            <a:endParaRPr lang="en-US" sz="1000" dirty="0"/>
          </a:p>
        </p:txBody>
      </p:sp>
      <p:pic>
        <p:nvPicPr>
          <p:cNvPr id="4" name="Image 1" descr="img/arrow.png">    </p:cNvPr>
          <p:cNvPicPr>
            <a:picLocks noChangeAspect="1"/>
          </p:cNvPicPr>
          <p:nvPr/>
        </p:nvPicPr>
        <p:blipFill>
          <a:blip r:embed="rId2"/>
          <a:stretch>
            <a:fillRect/>
          </a:stretch>
        </p:blipFill>
        <p:spPr>
          <a:xfrm>
            <a:off x="11539728" y="6382512"/>
            <a:ext cx="219456" cy="219456"/>
          </a:xfrm>
          <a:prstGeom prst="rect">
            <a:avLst/>
          </a:prstGeom>
        </p:spPr>
      </p:pic>
      <p:sp>
        <p:nvSpPr>
          <p:cNvPr id="5" name="Text 1"/>
          <p:cNvSpPr/>
          <p:nvPr>
            <p:ph idx="103" type="body" hasCustomPrompt="1"/>
          </p:nvPr>
        </p:nvSpPr>
        <p:spPr>
          <a:xfrm>
            <a:off x="548640" y="822960"/>
            <a:ext cx="8229600" cy="256032"/>
          </a:xfrm>
          <a:prstGeom prst="rect">
            <a:avLst/>
          </a:prstGeom>
          <a:noFill/>
          <a:ln/>
        </p:spPr>
        <p:txBody>
          <a:bodyPr wrap="square" rtlCol="0"/>
          <a:lstStyle>
            <a:lvl1pPr indent="0" marL="0">
              <a:buNone/>
              <a:defRPr lang="en-US" sz="1000" b="1" spc="150" kern="0" dirty="0">
                <a:solidFill>
                  <a:schemeClr val="accent4"/>
                </a:solidFill>
              </a:defRPr>
            </a:lvl1pPr>
          </a:lstStyle>
          <a:p>
            <a:pPr indent="0" marL="0">
              <a:buNone/>
            </a:pPr>
            <a:endParaRPr lang="en-US" sz="1000" dirty="0"/>
          </a:p>
        </p:txBody>
      </p:sp>
      <p:sp>
        <p:nvSpPr>
          <p:cNvPr id="6" name="Text 1"/>
          <p:cNvSpPr/>
          <p:nvPr>
            <p:ph idx="104" type="title" hasCustomPrompt="1"/>
          </p:nvPr>
        </p:nvSpPr>
        <p:spPr>
          <a:xfrm>
            <a:off x="548640" y="1060704"/>
            <a:ext cx="11064240" cy="56692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7" name="Text 1"/>
          <p:cNvSpPr/>
          <p:nvPr>
            <p:ph idx="105" type="body" hasCustomPrompt="1"/>
          </p:nvPr>
        </p:nvSpPr>
        <p:spPr>
          <a:xfrm>
            <a:off x="548640" y="1645920"/>
            <a:ext cx="11064240" cy="384048"/>
          </a:xfrm>
          <a:prstGeom prst="rect">
            <a:avLst/>
          </a:prstGeom>
          <a:noFill/>
          <a:ln/>
        </p:spPr>
        <p:txBody>
          <a:bodyPr wrap="square" rtlCol="0"/>
          <a:lstStyle>
            <a:lvl1pPr indent="0" marL="0">
              <a:buNone/>
              <a:defRPr lang="en-US" sz="1500" dirty="0">
                <a:solidFill>
                  <a:schemeClr val="accent4"/>
                </a:solidFill>
              </a:defRPr>
            </a:lvl1pPr>
          </a:lstStyle>
          <a:p>
            <a:pPr indent="0" marL="0">
              <a:buNone/>
            </a:pPr>
            <a:endParaRPr lang="en-US" sz="1500" dirty="0"/>
          </a:p>
        </p:txBody>
      </p:sp>
      <p:sp>
        <p:nvSpPr>
          <p:cNvPr id="8" name="Text 1"/>
          <p:cNvSpPr/>
          <p:nvPr>
            <p:ph idx="106" type="body" hasCustomPrompt="1"/>
          </p:nvPr>
        </p:nvSpPr>
        <p:spPr>
          <a:xfrm>
            <a:off x="548640" y="6309360"/>
            <a:ext cx="10698480" cy="402336"/>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IGHLIGHT">
    <p:bg>
      <p:bgPr>
        <a:solidFill>
          <a:srgbClr val="DFC7F2"/>
        </a:solidFill>
      </p:bgPr>
    </p:bg>
    <p:spTree>
      <p:nvGrpSpPr>
        <p:cNvPr id="1" name=""/>
        <p:cNvGrpSpPr/>
        <p:nvPr/>
      </p:nvGrpSpPr>
      <p:grpSpPr>
        <a:xfrm>
          <a:off x="0" y="0"/>
          <a:ext cx="0" cy="0"/>
          <a:chOff x="0" y="0"/>
          <a:chExt cx="0" cy="0"/>
        </a:xfrm>
      </p:grpSpPr>
      <p:pic>
        <p:nvPicPr>
          <p:cNvPr id="2" name="Image 0" descr="HSE University logo">    </p:cNvPr>
          <p:cNvPicPr>
            <a:picLocks noChangeAspect="1"/>
          </p:cNvPicPr>
          <p:nvPr/>
        </p:nvPicPr>
        <p:blipFill>
          <a:blip r:embed="rId1"/>
          <a:stretch>
            <a:fillRect/>
          </a:stretch>
        </p:blipFill>
        <p:spPr>
          <a:xfrm>
            <a:off x="457200" y="274320"/>
            <a:ext cx="384048" cy="384048"/>
          </a:xfrm>
          <a:prstGeom prst="rect">
            <a:avLst/>
          </a:prstGeom>
        </p:spPr>
      </p:pic>
      <p:sp>
        <p:nvSpPr>
          <p:cNvPr id="3" name="Text 0"/>
          <p:cNvSpPr/>
          <p:nvPr/>
        </p:nvSpPr>
        <p:spPr>
          <a:xfrm>
            <a:off x="932688" y="274320"/>
            <a:ext cx="3657600" cy="384048"/>
          </a:xfrm>
          <a:prstGeom prst="rect">
            <a:avLst/>
          </a:prstGeom>
          <a:noFill/>
          <a:ln/>
        </p:spPr>
        <p:txBody>
          <a:bodyPr wrap="square" lIns="0" tIns="0" rIns="0" bIns="0" rtlCol="0" anchor="ctr"/>
          <a:lstStyle/>
          <a:p>
            <a:pPr indent="0" marL="0">
              <a:buNone/>
            </a:pPr>
            <a:r>
              <a:rPr lang="en-US" sz="1000" dirty="0">
                <a:solidFill>
                  <a:schemeClr val="accent4"/>
                </a:solidFill>
              </a:rPr>
              <a:t>Group 17 · Research Seminar</a:t>
            </a:r>
            <a:endParaRPr lang="en-US" sz="1000" dirty="0"/>
          </a:p>
        </p:txBody>
      </p:sp>
      <p:pic>
        <p:nvPicPr>
          <p:cNvPr id="4" name="Image 1" descr="img/arrow.png">    </p:cNvPr>
          <p:cNvPicPr>
            <a:picLocks noChangeAspect="1"/>
          </p:cNvPicPr>
          <p:nvPr/>
        </p:nvPicPr>
        <p:blipFill>
          <a:blip r:embed="rId2"/>
          <a:stretch>
            <a:fillRect/>
          </a:stretch>
        </p:blipFill>
        <p:spPr>
          <a:xfrm>
            <a:off x="11539728" y="6382512"/>
            <a:ext cx="219456" cy="219456"/>
          </a:xfrm>
          <a:prstGeom prst="rect">
            <a:avLst/>
          </a:prstGeom>
        </p:spPr>
      </p:pic>
      <p:sp>
        <p:nvSpPr>
          <p:cNvPr id="5" name="Text 1"/>
          <p:cNvSpPr/>
          <p:nvPr>
            <p:ph idx="103" type="body" hasCustomPrompt="1"/>
          </p:nvPr>
        </p:nvSpPr>
        <p:spPr>
          <a:xfrm>
            <a:off x="548640" y="822960"/>
            <a:ext cx="8229600" cy="256032"/>
          </a:xfrm>
          <a:prstGeom prst="rect">
            <a:avLst/>
          </a:prstGeom>
          <a:noFill/>
          <a:ln/>
        </p:spPr>
        <p:txBody>
          <a:bodyPr wrap="square" rtlCol="0"/>
          <a:lstStyle>
            <a:lvl1pPr indent="0" marL="0">
              <a:buNone/>
              <a:defRPr lang="en-US" sz="1000" b="1" spc="150" kern="0" dirty="0">
                <a:solidFill>
                  <a:schemeClr val="accent4"/>
                </a:solidFill>
              </a:defRPr>
            </a:lvl1pPr>
          </a:lstStyle>
          <a:p>
            <a:pPr indent="0" marL="0">
              <a:buNone/>
            </a:pPr>
            <a:endParaRPr lang="en-US" sz="1000" dirty="0"/>
          </a:p>
        </p:txBody>
      </p:sp>
      <p:sp>
        <p:nvSpPr>
          <p:cNvPr id="6" name="Text 1"/>
          <p:cNvSpPr/>
          <p:nvPr>
            <p:ph idx="104" type="title" hasCustomPrompt="1"/>
          </p:nvPr>
        </p:nvSpPr>
        <p:spPr>
          <a:xfrm>
            <a:off x="548640" y="1060704"/>
            <a:ext cx="11064240" cy="56692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7" name="Text 1"/>
          <p:cNvSpPr/>
          <p:nvPr>
            <p:ph idx="105" type="body" hasCustomPrompt="1"/>
          </p:nvPr>
        </p:nvSpPr>
        <p:spPr>
          <a:xfrm>
            <a:off x="548640" y="1645920"/>
            <a:ext cx="11064240"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8" name="Text 1"/>
          <p:cNvSpPr/>
          <p:nvPr>
            <p:ph idx="106" type="body" hasCustomPrompt="1"/>
          </p:nvPr>
        </p:nvSpPr>
        <p:spPr>
          <a:xfrm>
            <a:off x="548640" y="6309360"/>
            <a:ext cx="10698480" cy="402336"/>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874520"/>
            <a:ext cx="8046720" cy="16002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64240" cy="822960"/>
          </a:xfrm>
          <a:prstGeom prst="rect">
            <a:avLst/>
          </a:prstGeom>
          <a:noFill/>
          <a:ln/>
        </p:spPr>
        <p:txBody>
          <a:bodyPr wrap="square" rtlCol="0"/>
          <a:lstStyle>
            <a:lvl1pPr algn="ctr" indent="0" marL="0">
              <a:buNone/>
              <a:defRPr lang="en-US" sz="4400" b="1" dirty="0">
                <a:solidFill>
                  <a:schemeClr val="bg1"/>
                </a:solidFill>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SE University logo">    </p:cNvPr>
          <p:cNvPicPr>
            <a:picLocks noChangeAspect="1"/>
          </p:cNvPicPr>
          <p:nvPr/>
        </p:nvPicPr>
        <p:blipFill>
          <a:blip r:embed="rId1"/>
          <a:stretch>
            <a:fillRect/>
          </a:stretch>
        </p:blipFill>
        <p:spPr>
          <a:xfrm>
            <a:off x="685800" y="566928"/>
            <a:ext cx="914400" cy="914400"/>
          </a:xfrm>
          <a:prstGeom prst="rect">
            <a:avLst/>
          </a:prstGeom>
        </p:spPr>
      </p:pic>
      <p:sp>
        <p:nvSpPr>
          <p:cNvPr id="3" name="Text 0"/>
          <p:cNvSpPr txBox="1"/>
          <p:nvPr/>
        </p:nvSpPr>
        <p:spPr>
          <a:xfrm>
            <a:off x="1783080" y="713232"/>
            <a:ext cx="3291840" cy="640080"/>
          </a:xfrm>
          <a:prstGeom prst="rect">
            <a:avLst/>
          </a:prstGeom>
          <a:noFill/>
          <a:ln/>
        </p:spPr>
        <p:txBody>
          <a:bodyPr wrap="square" lIns="0" tIns="0" rIns="0" bIns="0" rtlCol="0" anchor="t"/>
          <a:lstStyle/>
          <a:p>
            <a:pPr indent="0" marL="0">
              <a:buNone/>
            </a:pPr>
            <a:r>
              <a:rPr lang="en-US" sz="1400" dirty="0">
                <a:solidFill>
                  <a:schemeClr val="bg1"/>
                </a:solidFill>
              </a:rPr>
              <a:t>Research Seminar:</a:t>
            </a:r>
            <a:endParaRPr lang="en-US" sz="1400" dirty="0"/>
          </a:p>
          <a:p>
            <a:pPr indent="0" marL="0">
              <a:buNone/>
            </a:pPr>
            <a:r>
              <a:rPr lang="en-US" sz="1400" dirty="0">
                <a:solidFill>
                  <a:schemeClr val="bg1"/>
                </a:solidFill>
              </a:rPr>
              <a:t>Data Analysis in Finance</a:t>
            </a:r>
            <a:endParaRPr lang="en-US" sz="1400" dirty="0"/>
          </a:p>
        </p:txBody>
      </p:sp>
      <p:sp>
        <p:nvSpPr>
          <p:cNvPr id="4" name="Text 1"/>
          <p:cNvSpPr txBox="1"/>
          <p:nvPr/>
        </p:nvSpPr>
        <p:spPr>
          <a:xfrm>
            <a:off x="5486400" y="713232"/>
            <a:ext cx="1828800" cy="320040"/>
          </a:xfrm>
          <a:prstGeom prst="rect">
            <a:avLst/>
          </a:prstGeom>
          <a:noFill/>
          <a:ln/>
        </p:spPr>
        <p:txBody>
          <a:bodyPr wrap="square" lIns="0" tIns="0" rIns="0" bIns="0" rtlCol="0" anchor="t"/>
          <a:lstStyle/>
          <a:p>
            <a:pPr indent="0" marL="0">
              <a:buNone/>
            </a:pPr>
            <a:r>
              <a:rPr lang="en-US" sz="1400" b="1" dirty="0">
                <a:solidFill>
                  <a:schemeClr val="bg1"/>
                </a:solidFill>
              </a:rPr>
              <a:t>Group 17</a:t>
            </a:r>
            <a:endParaRPr lang="en-US" sz="1400" dirty="0"/>
          </a:p>
        </p:txBody>
      </p:sp>
      <p:pic>
        <p:nvPicPr>
          <p:cNvPr id="5" name="Image 1" descr="img/plus_white.png">    </p:cNvPr>
          <p:cNvPicPr>
            <a:picLocks noChangeAspect="1"/>
          </p:cNvPicPr>
          <p:nvPr/>
        </p:nvPicPr>
        <p:blipFill>
          <a:blip r:embed="rId2"/>
          <a:stretch>
            <a:fillRect/>
          </a:stretch>
        </p:blipFill>
        <p:spPr>
          <a:xfrm>
            <a:off x="11201400" y="548640"/>
            <a:ext cx="292608" cy="292608"/>
          </a:xfrm>
          <a:prstGeom prst="rect">
            <a:avLst/>
          </a:prstGeom>
        </p:spPr>
      </p:pic>
      <p:sp>
        <p:nvSpPr>
          <p:cNvPr id="6" name="Text 0"/>
          <p:cNvSpPr/>
          <p:nvPr>
            <p:ph idx="100" type="title" hasCustomPrompt="1"/>
          </p:nvPr>
        </p:nvSpPr>
        <p:spPr>
          <a:xfrm>
            <a:off x="685800" y="1874520"/>
            <a:ext cx="8046720" cy="1600200"/>
          </a:xfrm>
          <a:prstGeom prst="rect">
            <a:avLst/>
          </a:prstGeom>
          <a:noFill/>
          <a:ln/>
        </p:spPr>
        <p:txBody>
          <a:bodyPr wrap="square" lIns="0" tIns="0" rIns="0" bIns="0" rtlCol="0" anchor="t"/>
          <a:lstStyle/>
          <a:p>
            <a:pPr algn="l" indent="0" marL="0">
              <a:buNone/>
            </a:pPr>
            <a:r>
              <a:rPr lang="en-US" sz="4000" b="1" dirty="0">
                <a:solidFill>
                  <a:schemeClr val="bg1"/>
                </a:solidFill>
              </a:rPr>
              <a:t>How to Measure the Liquidity</a:t>
            </a:r>
            <a:endParaRPr lang="en-US" sz="4000" dirty="0"/>
          </a:p>
          <a:p>
            <a:pPr algn="l" indent="0" marL="0">
              <a:buNone/>
            </a:pPr>
            <a:r>
              <a:rPr lang="en-US" sz="4000" b="1" dirty="0">
                <a:solidFill>
                  <a:schemeClr val="bg1"/>
                </a:solidFill>
              </a:rPr>
              <a:t>of Cryptocurrency Markets</a:t>
            </a:r>
            <a:pPr algn="l" indent="0" marL="0">
              <a:buNone/>
            </a:pPr>
            <a:r>
              <a:rPr lang="en-US" sz="4000" b="1" dirty="0">
                <a:solidFill>
                  <a:schemeClr val="accent3"/>
                </a:solidFill>
              </a:rPr>
              <a:t>?</a:t>
            </a:r>
            <a:endParaRPr lang="en-US" sz="4000" dirty="0"/>
          </a:p>
        </p:txBody>
      </p:sp>
      <p:sp>
        <p:nvSpPr>
          <p:cNvPr id="7" name="Text 3"/>
          <p:cNvSpPr txBox="1"/>
          <p:nvPr/>
        </p:nvSpPr>
        <p:spPr>
          <a:xfrm>
            <a:off x="685800" y="3611880"/>
            <a:ext cx="7498080" cy="868680"/>
          </a:xfrm>
          <a:prstGeom prst="rect">
            <a:avLst/>
          </a:prstGeom>
          <a:noFill/>
          <a:ln/>
        </p:spPr>
        <p:txBody>
          <a:bodyPr wrap="square" lIns="0" tIns="0" rIns="0" bIns="0" rtlCol="0" anchor="t"/>
          <a:lstStyle/>
          <a:p>
            <a:pPr indent="0" marL="0">
              <a:buNone/>
            </a:pPr>
            <a:r>
              <a:rPr lang="en-US" sz="1600" dirty="0">
                <a:solidFill>
                  <a:schemeClr val="accent2"/>
                </a:solidFill>
              </a:rPr>
              <a:t>A replication of Brauneis, Mestel, Riordan &amp; Theissen (2021) on independently collected Tardis.dev exchange data, with our own robustness extension</a:t>
            </a:r>
            <a:endParaRPr lang="en-US" sz="1600" dirty="0"/>
          </a:p>
        </p:txBody>
      </p:sp>
      <p:sp>
        <p:nvSpPr>
          <p:cNvPr id="8" name="Text 4"/>
          <p:cNvSpPr txBox="1"/>
          <p:nvPr/>
        </p:nvSpPr>
        <p:spPr>
          <a:xfrm>
            <a:off x="685800" y="4800600"/>
            <a:ext cx="8229600" cy="365760"/>
          </a:xfrm>
          <a:prstGeom prst="rect">
            <a:avLst/>
          </a:prstGeom>
          <a:noFill/>
          <a:ln/>
        </p:spPr>
        <p:txBody>
          <a:bodyPr wrap="square" lIns="0" tIns="0" rIns="0" bIns="0" rtlCol="0" anchor="t"/>
          <a:lstStyle/>
          <a:p>
            <a:pPr indent="0" marL="0">
              <a:buNone/>
            </a:pPr>
            <a:r>
              <a:rPr lang="en-US" sz="1500" dirty="0">
                <a:solidFill>
                  <a:schemeClr val="bg1"/>
                </a:solidFill>
              </a:rPr>
              <a:t>Chistiakova Maria  ·  Rudko Sofia  ·  Meyzler Liya  ·  Samoilova Maria</a:t>
            </a:r>
            <a:endParaRPr lang="en-US" sz="1500" dirty="0"/>
          </a:p>
        </p:txBody>
      </p:sp>
      <p:sp>
        <p:nvSpPr>
          <p:cNvPr id="9" name="Text 5"/>
          <p:cNvSpPr txBox="1"/>
          <p:nvPr/>
        </p:nvSpPr>
        <p:spPr>
          <a:xfrm>
            <a:off x="685800" y="5943600"/>
            <a:ext cx="2743200" cy="320040"/>
          </a:xfrm>
          <a:prstGeom prst="rect">
            <a:avLst/>
          </a:prstGeom>
          <a:noFill/>
          <a:ln/>
        </p:spPr>
        <p:txBody>
          <a:bodyPr wrap="square" lIns="0" tIns="0" rIns="0" bIns="0" rtlCol="0" anchor="t"/>
          <a:lstStyle/>
          <a:p>
            <a:pPr indent="0" marL="0">
              <a:buNone/>
            </a:pPr>
            <a:r>
              <a:rPr lang="en-US" sz="1300" dirty="0">
                <a:solidFill>
                  <a:schemeClr val="accent2"/>
                </a:solidFill>
              </a:rPr>
              <a:t>Moscow, 2026</a:t>
            </a:r>
            <a:endParaRPr lang="en-US" sz="1300" dirty="0"/>
          </a:p>
        </p:txBody>
      </p:sp>
      <p:pic>
        <p:nvPicPr>
          <p:cNvPr id="10" name="Image 2" descr="Faculty of Computer Science logo">    </p:cNvPr>
          <p:cNvPicPr>
            <a:picLocks noChangeAspect="1"/>
          </p:cNvPicPr>
          <p:nvPr/>
        </p:nvPicPr>
        <p:blipFill>
          <a:blip r:embed="rId3"/>
          <a:stretch>
            <a:fillRect/>
          </a:stretch>
        </p:blipFill>
        <p:spPr>
          <a:xfrm>
            <a:off x="10012680" y="5961888"/>
            <a:ext cx="1499616" cy="2926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PROBLEM</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The question we ask</a:t>
            </a:r>
            <a:endParaRPr lang="en-US" sz="2800" dirty="0"/>
          </a:p>
        </p:txBody>
      </p:sp>
      <p:sp>
        <p:nvSpPr>
          <p:cNvPr id="4"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Brauneis, A., Mestel, R., Riordan, R., Theissen, E. (2021). How to measure the liquidity of cryptocurrency markets? Journal of Banking &amp; Finance 124, 106041 (SSRN version, March 2020).</a:t>
            </a:r>
            <a:endParaRPr lang="en-US" sz="1000" dirty="0"/>
          </a:p>
        </p:txBody>
      </p:sp>
      <p:sp>
        <p:nvSpPr>
          <p:cNvPr id="6" name="Text 3"/>
          <p:cNvSpPr txBox="1"/>
          <p:nvPr/>
        </p:nvSpPr>
        <p:spPr>
          <a:xfrm>
            <a:off x="548640" y="1828800"/>
            <a:ext cx="6675120" cy="1188720"/>
          </a:xfrm>
          <a:prstGeom prst="rect">
            <a:avLst/>
          </a:prstGeom>
          <a:noFill/>
          <a:ln/>
        </p:spPr>
        <p:txBody>
          <a:bodyPr wrap="square" lIns="0" tIns="0" rIns="0" bIns="0" rtlCol="0" anchor="t"/>
          <a:lstStyle/>
          <a:p>
            <a:pPr indent="0" marL="0">
              <a:buNone/>
            </a:pPr>
            <a:r>
              <a:rPr lang="en-US" sz="2000" b="1" dirty="0">
                <a:solidFill>
                  <a:schemeClr val="tx2"/>
                </a:solidFill>
              </a:rPr>
              <a:t>Crypto exchanges publish no shared order-book history. Can cheap measures from prices and volume tell us what trading really costs?</a:t>
            </a:r>
            <a:endParaRPr lang="en-US" sz="2000" dirty="0"/>
          </a:p>
        </p:txBody>
      </p:sp>
      <p:sp>
        <p:nvSpPr>
          <p:cNvPr id="7" name="marker Paper"/>
          <p:cNvSpPr/>
          <p:nvPr/>
        </p:nvSpPr>
        <p:spPr>
          <a:xfrm>
            <a:off x="548640" y="3374136"/>
            <a:ext cx="256032" cy="256032"/>
          </a:xfrm>
          <a:prstGeom prst="ellipse">
            <a:avLst/>
          </a:prstGeom>
          <a:solidFill>
            <a:schemeClr val="tx2"/>
          </a:solidFill>
          <a:ln/>
        </p:spPr>
      </p:sp>
      <p:sp>
        <p:nvSpPr>
          <p:cNvPr id="8" name="Text 5"/>
          <p:cNvSpPr txBox="1"/>
          <p:nvPr/>
        </p:nvSpPr>
        <p:spPr>
          <a:xfrm>
            <a:off x="960120" y="3337560"/>
            <a:ext cx="6263640" cy="822960"/>
          </a:xfrm>
          <a:prstGeom prst="rect">
            <a:avLst/>
          </a:prstGeom>
          <a:noFill/>
          <a:ln/>
        </p:spPr>
        <p:txBody>
          <a:bodyPr wrap="square" lIns="0" tIns="0" rIns="0" bIns="0" rtlCol="0" anchor="t"/>
          <a:lstStyle/>
          <a:p>
            <a:pPr indent="0" marL="0">
              <a:buNone/>
            </a:pPr>
            <a:r>
              <a:rPr lang="en-US" sz="1500" b="1" dirty="0">
                <a:solidFill>
                  <a:schemeClr val="tx2"/>
                </a:solidFill>
              </a:rPr>
              <a:t>Paper   </a:t>
            </a:r>
            <a:pPr indent="0" marL="0">
              <a:buNone/>
            </a:pPr>
            <a:r>
              <a:rPr lang="en-US" sz="1500" dirty="0">
                <a:solidFill>
                  <a:schemeClr val="tx1"/>
                </a:solidFill>
              </a:rPr>
              <a:t>Brauneis et al. race 8 low-frequency proxies against 4 order-book benchmarks (BTC, ETH; 2017–2019).</a:t>
            </a:r>
            <a:endParaRPr lang="en-US" sz="1500" dirty="0"/>
          </a:p>
        </p:txBody>
      </p:sp>
      <p:sp>
        <p:nvSpPr>
          <p:cNvPr id="9" name="marker Our replication"/>
          <p:cNvSpPr/>
          <p:nvPr/>
        </p:nvSpPr>
        <p:spPr>
          <a:xfrm>
            <a:off x="548640" y="4306824"/>
            <a:ext cx="256032" cy="256032"/>
          </a:xfrm>
          <a:prstGeom prst="ellipse">
            <a:avLst/>
          </a:prstGeom>
          <a:solidFill>
            <a:schemeClr val="tx2"/>
          </a:solidFill>
          <a:ln/>
        </p:spPr>
      </p:sp>
      <p:sp>
        <p:nvSpPr>
          <p:cNvPr id="10" name="Text 7"/>
          <p:cNvSpPr txBox="1"/>
          <p:nvPr/>
        </p:nvSpPr>
        <p:spPr>
          <a:xfrm>
            <a:off x="960120" y="4270248"/>
            <a:ext cx="6263640" cy="822960"/>
          </a:xfrm>
          <a:prstGeom prst="rect">
            <a:avLst/>
          </a:prstGeom>
          <a:noFill/>
          <a:ln/>
        </p:spPr>
        <p:txBody>
          <a:bodyPr wrap="square" lIns="0" tIns="0" rIns="0" bIns="0" rtlCol="0" anchor="t"/>
          <a:lstStyle/>
          <a:p>
            <a:pPr indent="0" marL="0">
              <a:buNone/>
            </a:pPr>
            <a:r>
              <a:rPr lang="en-US" sz="1500" b="1" dirty="0">
                <a:solidFill>
                  <a:schemeClr val="tx2"/>
                </a:solidFill>
              </a:rPr>
              <a:t>Our replication   </a:t>
            </a:r>
            <a:pPr indent="0" marL="0">
              <a:buNone/>
            </a:pPr>
            <a:r>
              <a:rPr lang="en-US" sz="1500" dirty="0">
                <a:solidFill>
                  <a:schemeClr val="tx1"/>
                </a:solidFill>
              </a:rPr>
              <a:t>Does their ranking hold on independently recorded exchange data from 2019?</a:t>
            </a:r>
            <a:endParaRPr lang="en-US" sz="1500" dirty="0"/>
          </a:p>
        </p:txBody>
      </p:sp>
      <p:sp>
        <p:nvSpPr>
          <p:cNvPr id="11" name="marker Our extension"/>
          <p:cNvSpPr/>
          <p:nvPr/>
        </p:nvSpPr>
        <p:spPr>
          <a:xfrm>
            <a:off x="548640" y="5239512"/>
            <a:ext cx="256032" cy="256032"/>
          </a:xfrm>
          <a:prstGeom prst="ellipse">
            <a:avLst/>
          </a:prstGeom>
          <a:solidFill>
            <a:schemeClr val="accent3"/>
          </a:solidFill>
          <a:ln/>
        </p:spPr>
      </p:sp>
      <p:sp>
        <p:nvSpPr>
          <p:cNvPr id="12" name="Text 9"/>
          <p:cNvSpPr txBox="1"/>
          <p:nvPr/>
        </p:nvSpPr>
        <p:spPr>
          <a:xfrm>
            <a:off x="960120" y="5202936"/>
            <a:ext cx="6263640" cy="822960"/>
          </a:xfrm>
          <a:prstGeom prst="rect">
            <a:avLst/>
          </a:prstGeom>
          <a:noFill/>
          <a:ln/>
        </p:spPr>
        <p:txBody>
          <a:bodyPr wrap="square" lIns="0" tIns="0" rIns="0" bIns="0" rtlCol="0" anchor="t"/>
          <a:lstStyle/>
          <a:p>
            <a:pPr indent="0" marL="0">
              <a:buNone/>
            </a:pPr>
            <a:r>
              <a:rPr lang="en-US" sz="1500" b="1" dirty="0">
                <a:solidFill>
                  <a:schemeClr val="tx2"/>
                </a:solidFill>
              </a:rPr>
              <a:t>Our extension   </a:t>
            </a:r>
            <a:pPr indent="0" marL="0">
              <a:buNone/>
            </a:pPr>
            <a:r>
              <a:rPr lang="en-US" sz="1500" dirty="0">
                <a:solidFill>
                  <a:schemeClr val="tx1"/>
                </a:solidFill>
              </a:rPr>
              <a:t>Is the agreement more than shared volatility? Does a calibrated proxy measure cost levels on later dates?</a:t>
            </a:r>
            <a:endParaRPr lang="en-US" sz="1500" dirty="0"/>
          </a:p>
        </p:txBody>
      </p:sp>
      <p:sp>
        <p:nvSpPr>
          <p:cNvPr id="13" name="question card"/>
          <p:cNvSpPr/>
          <p:nvPr/>
        </p:nvSpPr>
        <p:spPr>
          <a:xfrm>
            <a:off x="7680960" y="1828800"/>
            <a:ext cx="3931920" cy="4343400"/>
          </a:xfrm>
          <a:prstGeom prst="roundRect">
            <a:avLst>
              <a:gd name="adj" fmla="val 2326"/>
            </a:avLst>
          </a:prstGeom>
          <a:solidFill>
            <a:schemeClr val="tx2"/>
          </a:solidFill>
          <a:ln/>
        </p:spPr>
      </p:sp>
      <p:sp>
        <p:nvSpPr>
          <p:cNvPr id="14" name="Text 11"/>
          <p:cNvSpPr txBox="1"/>
          <p:nvPr/>
        </p:nvSpPr>
        <p:spPr>
          <a:xfrm>
            <a:off x="7955280" y="2011680"/>
            <a:ext cx="3383280" cy="868680"/>
          </a:xfrm>
          <a:prstGeom prst="rect">
            <a:avLst/>
          </a:prstGeom>
          <a:noFill/>
          <a:ln/>
        </p:spPr>
        <p:txBody>
          <a:bodyPr wrap="square" lIns="0" tIns="0" rIns="0" bIns="0" rtlCol="0" anchor="t"/>
          <a:lstStyle/>
          <a:p>
            <a:pPr algn="ctr" indent="0" marL="0">
              <a:buNone/>
            </a:pPr>
            <a:r>
              <a:rPr lang="en-US" sz="1800" b="1" dirty="0">
                <a:solidFill>
                  <a:schemeClr val="bg1"/>
                </a:solidFill>
              </a:rPr>
              <a:t>“Does the cheap proxy see the real cost of trading?”</a:t>
            </a:r>
            <a:endParaRPr lang="en-US" sz="1800" dirty="0"/>
          </a:p>
        </p:txBody>
      </p:sp>
      <p:sp>
        <p:nvSpPr>
          <p:cNvPr id="15" name="picture frame"/>
          <p:cNvSpPr/>
          <p:nvPr/>
        </p:nvSpPr>
        <p:spPr>
          <a:xfrm>
            <a:off x="8412480" y="2971800"/>
            <a:ext cx="2468880" cy="2423160"/>
          </a:xfrm>
          <a:prstGeom prst="roundRect">
            <a:avLst>
              <a:gd name="adj" fmla="val 3774"/>
            </a:avLst>
          </a:prstGeom>
          <a:solidFill>
            <a:schemeClr val="bg1"/>
          </a:solidFill>
          <a:ln/>
        </p:spPr>
      </p:sp>
      <p:pic>
        <p:nvPicPr>
          <p:cNvPr id="16" name="Confused figure next to a big question mark" descr="Confused figure next to a big question mark">    </p:cNvPr>
          <p:cNvPicPr>
            <a:picLocks noChangeAspect="1"/>
          </p:cNvPicPr>
          <p:nvPr/>
        </p:nvPicPr>
        <p:blipFill>
          <a:blip r:embed="rId1"/>
          <a:stretch>
            <a:fillRect/>
          </a:stretch>
        </p:blipFill>
        <p:spPr>
          <a:xfrm>
            <a:off x="8549640" y="3044952"/>
            <a:ext cx="2194560" cy="2286000"/>
          </a:xfrm>
          <a:prstGeom prst="rect">
            <a:avLst/>
          </a:prstGeom>
        </p:spPr>
      </p:pic>
      <p:sp>
        <p:nvSpPr>
          <p:cNvPr id="17" name="Text 13"/>
          <p:cNvSpPr txBox="1"/>
          <p:nvPr/>
        </p:nvSpPr>
        <p:spPr>
          <a:xfrm>
            <a:off x="7955280" y="5532120"/>
            <a:ext cx="3383280" cy="502920"/>
          </a:xfrm>
          <a:prstGeom prst="rect">
            <a:avLst/>
          </a:prstGeom>
          <a:noFill/>
          <a:ln/>
        </p:spPr>
        <p:txBody>
          <a:bodyPr wrap="square" lIns="0" tIns="0" rIns="0" bIns="0" rtlCol="0" anchor="t"/>
          <a:lstStyle/>
          <a:p>
            <a:pPr algn="ctr" indent="0" marL="0">
              <a:buNone/>
            </a:pPr>
            <a:r>
              <a:rPr lang="en-US" sz="1200" dirty="0">
                <a:solidFill>
                  <a:schemeClr val="accent2"/>
                </a:solidFill>
              </a:rPr>
              <a:t>A high correlation is not the same as the right cost level.</a:t>
            </a:r>
            <a:endParaRPr lang="en-US" sz="1200" dirty="0"/>
          </a:p>
        </p:txBody>
      </p:sp>
      <p:sp>
        <p:nvSpPr>
          <p:cNvPr id="18"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endParaRPr lang="en-US" sz="15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THE PAPER · AUTHORS' RESULTS</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What the paper finds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Brauneis et al. (2020): Bitcoin, hourly, 16 Dec 2017 – 16 Jun 2019. All numbers on this slide are the authors'.</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Source: Brauneis et al. (SSRN 2020), Figure 1, Tables 5–6 and Section 4; published 2021 in the Journal of Banking &amp; Finance.</a:t>
            </a:r>
            <a:endParaRPr lang="en-US" sz="1000" dirty="0"/>
          </a:p>
        </p:txBody>
      </p:sp>
      <p:sp>
        <p:nvSpPr>
          <p:cNvPr id="7" name="paper stat 1"/>
          <p:cNvSpPr/>
          <p:nvPr/>
        </p:nvSpPr>
        <p:spPr>
          <a:xfrm>
            <a:off x="548640" y="2194560"/>
            <a:ext cx="2615184" cy="2011680"/>
          </a:xfrm>
          <a:prstGeom prst="roundRect">
            <a:avLst>
              <a:gd name="adj" fmla="val 4545"/>
            </a:avLst>
          </a:prstGeom>
          <a:solidFill>
            <a:schemeClr val="accent2"/>
          </a:solidFill>
          <a:ln/>
        </p:spPr>
      </p:sp>
      <p:sp>
        <p:nvSpPr>
          <p:cNvPr id="8" name="Text 5"/>
          <p:cNvSpPr txBox="1"/>
          <p:nvPr/>
        </p:nvSpPr>
        <p:spPr>
          <a:xfrm>
            <a:off x="749808" y="2331720"/>
            <a:ext cx="2240280" cy="502920"/>
          </a:xfrm>
          <a:prstGeom prst="rect">
            <a:avLst/>
          </a:prstGeom>
          <a:noFill/>
          <a:ln/>
        </p:spPr>
        <p:txBody>
          <a:bodyPr wrap="square" lIns="0" tIns="0" rIns="0" bIns="0" rtlCol="0" anchor="t"/>
          <a:lstStyle/>
          <a:p>
            <a:pPr indent="0" marL="0">
              <a:buNone/>
            </a:pPr>
            <a:r>
              <a:rPr lang="en-US" sz="2600" b="1" dirty="0">
                <a:solidFill>
                  <a:schemeClr val="tx2"/>
                </a:solidFill>
              </a:rPr>
              <a:t>0.59–0.84</a:t>
            </a:r>
            <a:endParaRPr lang="en-US" sz="2600" dirty="0"/>
          </a:p>
        </p:txBody>
      </p:sp>
      <p:sp>
        <p:nvSpPr>
          <p:cNvPr id="9" name="Text 6"/>
          <p:cNvSpPr txBox="1"/>
          <p:nvPr/>
        </p:nvSpPr>
        <p:spPr>
          <a:xfrm>
            <a:off x="749808" y="2926080"/>
            <a:ext cx="2240280" cy="1143000"/>
          </a:xfrm>
          <a:prstGeom prst="rect">
            <a:avLst/>
          </a:prstGeom>
          <a:noFill/>
          <a:ln/>
        </p:spPr>
        <p:txBody>
          <a:bodyPr wrap="square" lIns="0" tIns="0" rIns="0" bIns="0" rtlCol="0" anchor="t"/>
          <a:lstStyle/>
          <a:p>
            <a:pPr indent="0" marL="0">
              <a:buNone/>
            </a:pPr>
            <a:r>
              <a:rPr lang="en-US" sz="1400" dirty="0">
                <a:solidFill>
                  <a:schemeClr val="tx1"/>
                </a:solidFill>
              </a:rPr>
              <a:t>AR's correlation with the four benchmarks: the highest of all eight proxies</a:t>
            </a:r>
            <a:endParaRPr lang="en-US" sz="1400" dirty="0"/>
          </a:p>
        </p:txBody>
      </p:sp>
      <p:sp>
        <p:nvSpPr>
          <p:cNvPr id="10" name="paper stat 2"/>
          <p:cNvSpPr/>
          <p:nvPr/>
        </p:nvSpPr>
        <p:spPr>
          <a:xfrm>
            <a:off x="3364992" y="2194560"/>
            <a:ext cx="2615184" cy="2011680"/>
          </a:xfrm>
          <a:prstGeom prst="roundRect">
            <a:avLst>
              <a:gd name="adj" fmla="val 4545"/>
            </a:avLst>
          </a:prstGeom>
          <a:solidFill>
            <a:schemeClr val="accent2"/>
          </a:solidFill>
          <a:ln/>
        </p:spPr>
      </p:sp>
      <p:sp>
        <p:nvSpPr>
          <p:cNvPr id="11" name="Text 8"/>
          <p:cNvSpPr txBox="1"/>
          <p:nvPr/>
        </p:nvSpPr>
        <p:spPr>
          <a:xfrm>
            <a:off x="3566160" y="2331720"/>
            <a:ext cx="2240280" cy="502920"/>
          </a:xfrm>
          <a:prstGeom prst="rect">
            <a:avLst/>
          </a:prstGeom>
          <a:noFill/>
          <a:ln/>
        </p:spPr>
        <p:txBody>
          <a:bodyPr wrap="square" lIns="0" tIns="0" rIns="0" bIns="0" rtlCol="0" anchor="t"/>
          <a:lstStyle/>
          <a:p>
            <a:pPr indent="0" marL="0">
              <a:buNone/>
            </a:pPr>
            <a:r>
              <a:rPr lang="en-US" sz="2600" b="1" dirty="0">
                <a:solidFill>
                  <a:schemeClr val="tx2"/>
                </a:solidFill>
              </a:rPr>
              <a:t>≈ 0</a:t>
            </a:r>
            <a:endParaRPr lang="en-US" sz="2600" dirty="0"/>
          </a:p>
        </p:txBody>
      </p:sp>
      <p:sp>
        <p:nvSpPr>
          <p:cNvPr id="12" name="Text 9"/>
          <p:cNvSpPr txBox="1"/>
          <p:nvPr/>
        </p:nvSpPr>
        <p:spPr>
          <a:xfrm>
            <a:off x="3566160" y="2926080"/>
            <a:ext cx="2240280" cy="1143000"/>
          </a:xfrm>
          <a:prstGeom prst="rect">
            <a:avLst/>
          </a:prstGeom>
          <a:noFill/>
          <a:ln/>
        </p:spPr>
        <p:txBody>
          <a:bodyPr wrap="square" lIns="0" tIns="0" rIns="0" bIns="0" rtlCol="0" anchor="t"/>
          <a:lstStyle/>
          <a:p>
            <a:pPr indent="0" marL="0">
              <a:buNone/>
            </a:pPr>
            <a:r>
              <a:rPr lang="en-US" sz="1400" dirty="0">
                <a:solidFill>
                  <a:schemeClr val="tx1"/>
                </a:solidFill>
              </a:rPr>
              <a:t>Amihud ratio: virtually uncorrelated with every benchmark</a:t>
            </a:r>
            <a:endParaRPr lang="en-US" sz="1400" dirty="0"/>
          </a:p>
        </p:txBody>
      </p:sp>
      <p:sp>
        <p:nvSpPr>
          <p:cNvPr id="13" name="paper stat 3"/>
          <p:cNvSpPr/>
          <p:nvPr/>
        </p:nvSpPr>
        <p:spPr>
          <a:xfrm>
            <a:off x="6181344" y="2194560"/>
            <a:ext cx="2615184" cy="2011680"/>
          </a:xfrm>
          <a:prstGeom prst="roundRect">
            <a:avLst>
              <a:gd name="adj" fmla="val 4545"/>
            </a:avLst>
          </a:prstGeom>
          <a:solidFill>
            <a:schemeClr val="accent2"/>
          </a:solidFill>
          <a:ln/>
        </p:spPr>
      </p:sp>
      <p:sp>
        <p:nvSpPr>
          <p:cNvPr id="14" name="Text 11"/>
          <p:cNvSpPr txBox="1"/>
          <p:nvPr/>
        </p:nvSpPr>
        <p:spPr>
          <a:xfrm>
            <a:off x="6382512" y="2331720"/>
            <a:ext cx="2240280" cy="502920"/>
          </a:xfrm>
          <a:prstGeom prst="rect">
            <a:avLst/>
          </a:prstGeom>
          <a:noFill/>
          <a:ln/>
        </p:spPr>
        <p:txBody>
          <a:bodyPr wrap="square" lIns="0" tIns="0" rIns="0" bIns="0" rtlCol="0" anchor="t"/>
          <a:lstStyle/>
          <a:p>
            <a:pPr indent="0" marL="0">
              <a:buNone/>
            </a:pPr>
            <a:r>
              <a:rPr lang="en-US" sz="2600" b="1" dirty="0">
                <a:solidFill>
                  <a:schemeClr val="tx2"/>
                </a:solidFill>
              </a:rPr>
              <a:t>0.35–0.72</a:t>
            </a:r>
            <a:endParaRPr lang="en-US" sz="2600" dirty="0"/>
          </a:p>
        </p:txBody>
      </p:sp>
      <p:sp>
        <p:nvSpPr>
          <p:cNvPr id="15" name="Text 12"/>
          <p:cNvSpPr txBox="1"/>
          <p:nvPr/>
        </p:nvSpPr>
        <p:spPr>
          <a:xfrm>
            <a:off x="6382512" y="2926080"/>
            <a:ext cx="2240280" cy="1143000"/>
          </a:xfrm>
          <a:prstGeom prst="rect">
            <a:avLst/>
          </a:prstGeom>
          <a:noFill/>
          <a:ln/>
        </p:spPr>
        <p:txBody>
          <a:bodyPr wrap="square" lIns="0" tIns="0" rIns="0" bIns="0" rtlCol="0" anchor="t"/>
          <a:lstStyle/>
          <a:p>
            <a:pPr indent="0" marL="0">
              <a:buNone/>
            </a:pPr>
            <a:r>
              <a:rPr lang="en-US" sz="1400" dirty="0">
                <a:solidFill>
                  <a:schemeClr val="tx1"/>
                </a:solidFill>
              </a:rPr>
              <a:t>TX and $Vol correlate positively with costs: more trading, higher costs</a:t>
            </a:r>
            <a:endParaRPr lang="en-US" sz="1400" dirty="0"/>
          </a:p>
        </p:txBody>
      </p:sp>
      <p:sp>
        <p:nvSpPr>
          <p:cNvPr id="16" name="paper stat 4"/>
          <p:cNvSpPr/>
          <p:nvPr/>
        </p:nvSpPr>
        <p:spPr>
          <a:xfrm>
            <a:off x="8997696" y="2194560"/>
            <a:ext cx="2615184" cy="2011680"/>
          </a:xfrm>
          <a:prstGeom prst="roundRect">
            <a:avLst>
              <a:gd name="adj" fmla="val 4545"/>
            </a:avLst>
          </a:prstGeom>
          <a:solidFill>
            <a:schemeClr val="accent2"/>
          </a:solidFill>
          <a:ln/>
        </p:spPr>
      </p:sp>
      <p:sp>
        <p:nvSpPr>
          <p:cNvPr id="17" name="Text 14"/>
          <p:cNvSpPr txBox="1"/>
          <p:nvPr/>
        </p:nvSpPr>
        <p:spPr>
          <a:xfrm>
            <a:off x="9198864" y="2331720"/>
            <a:ext cx="2240280" cy="502920"/>
          </a:xfrm>
          <a:prstGeom prst="rect">
            <a:avLst/>
          </a:prstGeom>
          <a:noFill/>
          <a:ln/>
        </p:spPr>
        <p:txBody>
          <a:bodyPr wrap="square" lIns="0" tIns="0" rIns="0" bIns="0" rtlCol="0" anchor="t"/>
          <a:lstStyle/>
          <a:p>
            <a:pPr indent="0" marL="0">
              <a:buNone/>
            </a:pPr>
            <a:r>
              <a:rPr lang="en-US" sz="2600" b="1" dirty="0">
                <a:solidFill>
                  <a:schemeClr val="tx2"/>
                </a:solidFill>
              </a:rPr>
              <a:t>66.67%</a:t>
            </a:r>
            <a:endParaRPr lang="en-US" sz="2600" dirty="0"/>
          </a:p>
        </p:txBody>
      </p:sp>
      <p:sp>
        <p:nvSpPr>
          <p:cNvPr id="18" name="Text 15"/>
          <p:cNvSpPr txBox="1"/>
          <p:nvPr/>
        </p:nvSpPr>
        <p:spPr>
          <a:xfrm>
            <a:off x="9198864" y="2926080"/>
            <a:ext cx="2240280" cy="1143000"/>
          </a:xfrm>
          <a:prstGeom prst="rect">
            <a:avLst/>
          </a:prstGeom>
          <a:noFill/>
          <a:ln/>
        </p:spPr>
        <p:txBody>
          <a:bodyPr wrap="square" lIns="0" tIns="0" rIns="0" bIns="0" rtlCol="0" anchor="t"/>
          <a:lstStyle/>
          <a:p>
            <a:pPr indent="0" marL="0">
              <a:buNone/>
            </a:pPr>
            <a:r>
              <a:rPr lang="en-US" sz="1400" dirty="0">
                <a:solidFill>
                  <a:schemeClr val="tx1"/>
                </a:solidFill>
              </a:rPr>
              <a:t>of hours in which AR orders the three venues exactly like the quoted spread</a:t>
            </a:r>
            <a:endParaRPr lang="en-US" sz="1400" dirty="0"/>
          </a:p>
        </p:txBody>
      </p:sp>
      <p:sp>
        <p:nvSpPr>
          <p:cNvPr id="19" name="recommendation callout"/>
          <p:cNvSpPr/>
          <p:nvPr/>
        </p:nvSpPr>
        <p:spPr>
          <a:xfrm>
            <a:off x="548640" y="4434840"/>
            <a:ext cx="11064240" cy="1737360"/>
          </a:xfrm>
          <a:prstGeom prst="roundRect">
            <a:avLst>
              <a:gd name="adj" fmla="val 5263"/>
            </a:avLst>
          </a:prstGeom>
          <a:solidFill>
            <a:schemeClr val="tx2"/>
          </a:solidFill>
          <a:ln/>
        </p:spPr>
      </p:sp>
      <p:sp>
        <p:nvSpPr>
          <p:cNvPr id="20" name="Text 17"/>
          <p:cNvSpPr txBox="1"/>
          <p:nvPr/>
        </p:nvSpPr>
        <p:spPr>
          <a:xfrm>
            <a:off x="868680" y="4572000"/>
            <a:ext cx="5486400" cy="365760"/>
          </a:xfrm>
          <a:prstGeom prst="rect">
            <a:avLst/>
          </a:prstGeom>
          <a:noFill/>
          <a:ln/>
        </p:spPr>
        <p:txBody>
          <a:bodyPr wrap="square" lIns="0" tIns="0" rIns="0" bIns="0" rtlCol="0" anchor="t"/>
          <a:lstStyle/>
          <a:p>
            <a:pPr indent="0" marL="0">
              <a:buNone/>
            </a:pPr>
            <a:r>
              <a:rPr lang="en-US" sz="1600" b="1" dirty="0">
                <a:solidFill>
                  <a:schemeClr val="accent3"/>
                </a:solidFill>
              </a:rPr>
              <a:t>The authors' recommendation</a:t>
            </a:r>
            <a:endParaRPr lang="en-US" sz="1600" dirty="0"/>
          </a:p>
        </p:txBody>
      </p:sp>
      <p:sp>
        <p:nvSpPr>
          <p:cNvPr id="21" name="Text 18"/>
          <p:cNvSpPr txBox="1"/>
          <p:nvPr/>
        </p:nvSpPr>
        <p:spPr>
          <a:xfrm>
            <a:off x="868680" y="5029200"/>
            <a:ext cx="4937760" cy="1097280"/>
          </a:xfrm>
          <a:prstGeom prst="rect">
            <a:avLst/>
          </a:prstGeom>
          <a:noFill/>
          <a:ln/>
        </p:spPr>
        <p:txBody>
          <a:bodyPr wrap="square" lIns="0" tIns="0" rIns="0" bIns="0" rtlCol="0" anchor="t"/>
          <a:lstStyle/>
          <a:p>
            <a:pPr indent="0" marL="0">
              <a:buNone/>
            </a:pPr>
            <a:r>
              <a:rPr lang="en-US" sz="1800" b="1" dirty="0">
                <a:solidFill>
                  <a:schemeClr val="bg1"/>
                </a:solidFill>
              </a:rPr>
              <a:t>Timing and comparing venues → AR</a:t>
            </a:r>
            <a:endParaRPr lang="en-US" sz="1400" dirty="0"/>
          </a:p>
          <a:p>
            <a:pPr indent="0" marL="0">
              <a:buNone/>
            </a:pPr>
            <a:r>
              <a:rPr lang="en-US" sz="1500" dirty="0">
                <a:solidFill>
                  <a:schemeClr val="accent2"/>
                </a:solidFill>
              </a:rPr>
              <a:t>CS is second for QS, ES and PI. A principal-component mix of all proxies does not beat AR.</a:t>
            </a:r>
            <a:endParaRPr lang="en-US" sz="1400" dirty="0"/>
          </a:p>
        </p:txBody>
      </p:sp>
      <p:sp>
        <p:nvSpPr>
          <p:cNvPr id="22" name="Text 19"/>
          <p:cNvSpPr txBox="1"/>
          <p:nvPr/>
        </p:nvSpPr>
        <p:spPr>
          <a:xfrm>
            <a:off x="6263640" y="5029200"/>
            <a:ext cx="5074920" cy="1097280"/>
          </a:xfrm>
          <a:prstGeom prst="rect">
            <a:avLst/>
          </a:prstGeom>
          <a:noFill/>
          <a:ln/>
        </p:spPr>
        <p:txBody>
          <a:bodyPr wrap="square" lIns="0" tIns="0" rIns="0" bIns="0" rtlCol="0" anchor="t"/>
          <a:lstStyle/>
          <a:p>
            <a:pPr indent="0" marL="0">
              <a:buNone/>
            </a:pPr>
            <a:r>
              <a:rPr lang="en-US" sz="1800" b="1" dirty="0">
                <a:solidFill>
                  <a:schemeClr val="bg1"/>
                </a:solidFill>
              </a:rPr>
              <a:t>Cost levels → Kyle and Amihud</a:t>
            </a:r>
            <a:endParaRPr lang="en-US" sz="1400" dirty="0"/>
          </a:p>
          <a:p>
            <a:pPr indent="0" marL="0">
              <a:buNone/>
            </a:pPr>
            <a:r>
              <a:rPr lang="en-US" sz="1500" dirty="0">
                <a:solidFill>
                  <a:schemeClr val="accent2"/>
                </a:solidFill>
              </a:rPr>
              <a:t>Smallest level errors (Table 5); AR overstates the level. Kyle tracks the roundtrip cost (0.69) but not the spreads.</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DATA</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Our data: collected independently from Tardis.dev</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We asked the authors for their dataset and have had no reply, so we built our own sample from recorded exchange feeds.</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Tardis.dev historical CSV datasets: trades, quotes and book_snapshot_25. Raw and minute-level files stay local (Tardis.dev terms of service).</a:t>
            </a:r>
            <a:endParaRPr lang="en-US" sz="1000" dirty="0"/>
          </a:p>
        </p:txBody>
      </p:sp>
      <p:sp>
        <p:nvSpPr>
          <p:cNvPr id="7" name="email card"/>
          <p:cNvSpPr/>
          <p:nvPr/>
        </p:nvSpPr>
        <p:spPr>
          <a:xfrm>
            <a:off x="548640" y="2194560"/>
            <a:ext cx="5669280" cy="2788920"/>
          </a:xfrm>
          <a:prstGeom prst="roundRect">
            <a:avLst>
              <a:gd name="adj" fmla="val 3279"/>
            </a:avLst>
          </a:prstGeom>
          <a:solidFill>
            <a:schemeClr val="bg2"/>
          </a:solidFill>
          <a:ln/>
        </p:spPr>
      </p:sp>
      <p:sp>
        <p:nvSpPr>
          <p:cNvPr id="8" name="Text 5"/>
          <p:cNvSpPr txBox="1"/>
          <p:nvPr/>
        </p:nvSpPr>
        <p:spPr>
          <a:xfrm>
            <a:off x="777240" y="2331720"/>
            <a:ext cx="5212080" cy="320040"/>
          </a:xfrm>
          <a:prstGeom prst="rect">
            <a:avLst/>
          </a:prstGeom>
          <a:noFill/>
          <a:ln/>
        </p:spPr>
        <p:txBody>
          <a:bodyPr wrap="square" lIns="0" tIns="0" rIns="0" bIns="0" rtlCol="0" anchor="t"/>
          <a:lstStyle/>
          <a:p>
            <a:pPr indent="0" marL="0">
              <a:buNone/>
            </a:pPr>
            <a:r>
              <a:rPr lang="en-US" sz="1500" b="1" dirty="0">
                <a:solidFill>
                  <a:schemeClr val="accent6"/>
                </a:solidFill>
              </a:rPr>
              <a:t>1  </a:t>
            </a:r>
            <a:pPr indent="0" marL="0">
              <a:buNone/>
            </a:pPr>
            <a:r>
              <a:rPr lang="en-US" sz="1500" b="1" dirty="0">
                <a:solidFill>
                  <a:schemeClr val="tx2"/>
                </a:solidFill>
              </a:rPr>
              <a:t>We asked the authors</a:t>
            </a:r>
            <a:endParaRPr lang="en-US" sz="1500" dirty="0"/>
          </a:p>
        </p:txBody>
      </p:sp>
      <p:sp>
        <p:nvSpPr>
          <p:cNvPr id="9" name="email frame"/>
          <p:cNvSpPr/>
          <p:nvPr/>
        </p:nvSpPr>
        <p:spPr>
          <a:xfrm>
            <a:off x="758952" y="2724912"/>
            <a:ext cx="5248656" cy="1801368"/>
          </a:xfrm>
          <a:prstGeom prst="rect">
            <a:avLst/>
          </a:prstGeom>
          <a:solidFill>
            <a:schemeClr val="bg1"/>
          </a:solidFill>
          <a:ln w="9525">
            <a:solidFill>
              <a:schemeClr val="accent5"/>
            </a:solidFill>
            <a:prstDash val="solid"/>
          </a:ln>
        </p:spPr>
      </p:sp>
      <p:pic>
        <p:nvPicPr>
          <p:cNvPr id="10" name="Screenshot of our email to the four authors asking for their dataset" descr="Screenshot of our email to the four authors asking for their dataset">    </p:cNvPr>
          <p:cNvPicPr>
            <a:picLocks noChangeAspect="1"/>
          </p:cNvPicPr>
          <p:nvPr/>
        </p:nvPicPr>
        <p:blipFill>
          <a:blip r:embed="rId1"/>
          <a:stretch>
            <a:fillRect/>
          </a:stretch>
        </p:blipFill>
        <p:spPr>
          <a:xfrm>
            <a:off x="777240" y="2743200"/>
            <a:ext cx="5212080" cy="1783080"/>
          </a:xfrm>
          <a:prstGeom prst="rect">
            <a:avLst/>
          </a:prstGeom>
        </p:spPr>
      </p:pic>
      <p:sp>
        <p:nvSpPr>
          <p:cNvPr id="11" name="Text 7"/>
          <p:cNvSpPr txBox="1"/>
          <p:nvPr/>
        </p:nvSpPr>
        <p:spPr>
          <a:xfrm>
            <a:off x="777240" y="4599432"/>
            <a:ext cx="5212080" cy="292608"/>
          </a:xfrm>
          <a:prstGeom prst="rect">
            <a:avLst/>
          </a:prstGeom>
          <a:noFill/>
          <a:ln/>
        </p:spPr>
        <p:txBody>
          <a:bodyPr wrap="square" lIns="0" tIns="0" rIns="0" bIns="0" rtlCol="0" anchor="t"/>
          <a:lstStyle/>
          <a:p>
            <a:pPr indent="0" marL="0">
              <a:buNone/>
            </a:pPr>
            <a:r>
              <a:rPr lang="en-US" sz="1200" dirty="0">
                <a:solidFill>
                  <a:schemeClr val="accent4"/>
                </a:solidFill>
              </a:rPr>
              <a:t>Email to all four authors, sent on behalf of the group. No reply so far.</a:t>
            </a:r>
            <a:endParaRPr lang="en-US" sz="1200" dirty="0"/>
          </a:p>
        </p:txBody>
      </p:sp>
      <p:sp>
        <p:nvSpPr>
          <p:cNvPr id="12" name="Text 8"/>
          <p:cNvSpPr txBox="1"/>
          <p:nvPr/>
        </p:nvSpPr>
        <p:spPr>
          <a:xfrm>
            <a:off x="6537960" y="2194560"/>
            <a:ext cx="5029200" cy="320040"/>
          </a:xfrm>
          <a:prstGeom prst="rect">
            <a:avLst/>
          </a:prstGeom>
          <a:noFill/>
          <a:ln/>
        </p:spPr>
        <p:txBody>
          <a:bodyPr wrap="square" lIns="0" tIns="0" rIns="0" bIns="0" rtlCol="0" anchor="t"/>
          <a:lstStyle/>
          <a:p>
            <a:pPr indent="0" marL="0">
              <a:buNone/>
            </a:pPr>
            <a:r>
              <a:rPr lang="en-US" sz="1500" b="1" dirty="0">
                <a:solidFill>
                  <a:schemeClr val="accent6"/>
                </a:solidFill>
              </a:rPr>
              <a:t>2  </a:t>
            </a:r>
            <a:pPr indent="0" marL="0">
              <a:buNone/>
            </a:pPr>
            <a:r>
              <a:rPr lang="en-US" sz="1500" b="1" dirty="0">
                <a:solidFill>
                  <a:schemeClr val="tx2"/>
                </a:solidFill>
              </a:rPr>
              <a:t>So we collected the data ourselves</a:t>
            </a:r>
            <a:endParaRPr lang="en-US" sz="1500" dirty="0"/>
          </a:p>
        </p:txBody>
      </p:sp>
      <p:sp>
        <p:nvSpPr>
          <p:cNvPr id="13" name="data stat 1"/>
          <p:cNvSpPr/>
          <p:nvPr/>
        </p:nvSpPr>
        <p:spPr>
          <a:xfrm>
            <a:off x="6537960" y="2633472"/>
            <a:ext cx="2468880" cy="1097280"/>
          </a:xfrm>
          <a:prstGeom prst="roundRect">
            <a:avLst>
              <a:gd name="adj" fmla="val 8333"/>
            </a:avLst>
          </a:prstGeom>
          <a:solidFill>
            <a:schemeClr val="bg2"/>
          </a:solidFill>
          <a:ln/>
        </p:spPr>
      </p:sp>
      <p:sp>
        <p:nvSpPr>
          <p:cNvPr id="14" name="Text 10"/>
          <p:cNvSpPr txBox="1"/>
          <p:nvPr/>
        </p:nvSpPr>
        <p:spPr>
          <a:xfrm>
            <a:off x="6702552" y="2743200"/>
            <a:ext cx="2194560" cy="411480"/>
          </a:xfrm>
          <a:prstGeom prst="rect">
            <a:avLst/>
          </a:prstGeom>
          <a:noFill/>
          <a:ln/>
        </p:spPr>
        <p:txBody>
          <a:bodyPr wrap="square" lIns="0" tIns="0" rIns="0" bIns="0" rtlCol="0" anchor="t"/>
          <a:lstStyle/>
          <a:p>
            <a:pPr indent="0" marL="0">
              <a:buNone/>
            </a:pPr>
            <a:r>
              <a:rPr lang="en-US" sz="2200" b="1" dirty="0">
                <a:solidFill>
                  <a:schemeClr val="tx2"/>
                </a:solidFill>
              </a:rPr>
              <a:t>7 days</a:t>
            </a:r>
            <a:endParaRPr lang="en-US" sz="2200" dirty="0"/>
          </a:p>
        </p:txBody>
      </p:sp>
      <p:sp>
        <p:nvSpPr>
          <p:cNvPr id="15" name="Text 11"/>
          <p:cNvSpPr txBox="1"/>
          <p:nvPr/>
        </p:nvSpPr>
        <p:spPr>
          <a:xfrm>
            <a:off x="6702552" y="3182112"/>
            <a:ext cx="2194560" cy="502920"/>
          </a:xfrm>
          <a:prstGeom prst="rect">
            <a:avLst/>
          </a:prstGeom>
          <a:noFill/>
          <a:ln/>
        </p:spPr>
        <p:txBody>
          <a:bodyPr wrap="square" lIns="0" tIns="0" rIns="0" bIns="0" rtlCol="0" anchor="t"/>
          <a:lstStyle/>
          <a:p>
            <a:pPr indent="0" marL="0">
              <a:buNone/>
            </a:pPr>
            <a:r>
              <a:rPr lang="en-US" sz="1200" dirty="0">
                <a:solidFill>
                  <a:schemeClr val="tx1"/>
                </a:solidFill>
              </a:rPr>
              <a:t>1st UTC day of each month, June–December 2019</a:t>
            </a:r>
            <a:endParaRPr lang="en-US" sz="1200" dirty="0"/>
          </a:p>
        </p:txBody>
      </p:sp>
      <p:sp>
        <p:nvSpPr>
          <p:cNvPr id="16" name="data stat 2"/>
          <p:cNvSpPr/>
          <p:nvPr/>
        </p:nvSpPr>
        <p:spPr>
          <a:xfrm>
            <a:off x="9144000" y="2633472"/>
            <a:ext cx="2468880" cy="1097280"/>
          </a:xfrm>
          <a:prstGeom prst="roundRect">
            <a:avLst>
              <a:gd name="adj" fmla="val 8333"/>
            </a:avLst>
          </a:prstGeom>
          <a:solidFill>
            <a:schemeClr val="bg2"/>
          </a:solidFill>
          <a:ln/>
        </p:spPr>
      </p:sp>
      <p:sp>
        <p:nvSpPr>
          <p:cNvPr id="17" name="Text 13"/>
          <p:cNvSpPr txBox="1"/>
          <p:nvPr/>
        </p:nvSpPr>
        <p:spPr>
          <a:xfrm>
            <a:off x="9308592" y="2743200"/>
            <a:ext cx="2194560" cy="411480"/>
          </a:xfrm>
          <a:prstGeom prst="rect">
            <a:avLst/>
          </a:prstGeom>
          <a:noFill/>
          <a:ln/>
        </p:spPr>
        <p:txBody>
          <a:bodyPr wrap="square" lIns="0" tIns="0" rIns="0" bIns="0" rtlCol="0" anchor="t"/>
          <a:lstStyle/>
          <a:p>
            <a:pPr indent="0" marL="0">
              <a:buNone/>
            </a:pPr>
            <a:r>
              <a:rPr lang="en-US" sz="2200" b="1" dirty="0">
                <a:solidFill>
                  <a:schemeClr val="tx2"/>
                </a:solidFill>
              </a:rPr>
              <a:t>6 markets</a:t>
            </a:r>
            <a:endParaRPr lang="en-US" sz="2200" dirty="0"/>
          </a:p>
        </p:txBody>
      </p:sp>
      <p:sp>
        <p:nvSpPr>
          <p:cNvPr id="18" name="Text 14"/>
          <p:cNvSpPr txBox="1"/>
          <p:nvPr/>
        </p:nvSpPr>
        <p:spPr>
          <a:xfrm>
            <a:off x="9308592" y="3182112"/>
            <a:ext cx="2194560" cy="502920"/>
          </a:xfrm>
          <a:prstGeom prst="rect">
            <a:avLst/>
          </a:prstGeom>
          <a:noFill/>
          <a:ln/>
        </p:spPr>
        <p:txBody>
          <a:bodyPr wrap="square" lIns="0" tIns="0" rIns="0" bIns="0" rtlCol="0" anchor="t"/>
          <a:lstStyle/>
          <a:p>
            <a:pPr indent="0" marL="0">
              <a:buNone/>
            </a:pPr>
            <a:r>
              <a:rPr lang="en-US" sz="1200" dirty="0">
                <a:solidFill>
                  <a:schemeClr val="tx1"/>
                </a:solidFill>
              </a:rPr>
              <a:t>Bitfinex, Bitstamp, Coinbase × BTC/USD, ETH/USD</a:t>
            </a:r>
            <a:endParaRPr lang="en-US" sz="1200" dirty="0"/>
          </a:p>
        </p:txBody>
      </p:sp>
      <p:sp>
        <p:nvSpPr>
          <p:cNvPr id="19" name="data stat 3"/>
          <p:cNvSpPr/>
          <p:nvPr/>
        </p:nvSpPr>
        <p:spPr>
          <a:xfrm>
            <a:off x="6537960" y="3840480"/>
            <a:ext cx="2468880" cy="1097280"/>
          </a:xfrm>
          <a:prstGeom prst="roundRect">
            <a:avLst>
              <a:gd name="adj" fmla="val 8333"/>
            </a:avLst>
          </a:prstGeom>
          <a:solidFill>
            <a:schemeClr val="bg2"/>
          </a:solidFill>
          <a:ln/>
        </p:spPr>
      </p:sp>
      <p:sp>
        <p:nvSpPr>
          <p:cNvPr id="20" name="Text 16"/>
          <p:cNvSpPr txBox="1"/>
          <p:nvPr/>
        </p:nvSpPr>
        <p:spPr>
          <a:xfrm>
            <a:off x="6702552" y="3950208"/>
            <a:ext cx="2194560" cy="411480"/>
          </a:xfrm>
          <a:prstGeom prst="rect">
            <a:avLst/>
          </a:prstGeom>
          <a:noFill/>
          <a:ln/>
        </p:spPr>
        <p:txBody>
          <a:bodyPr wrap="square" lIns="0" tIns="0" rIns="0" bIns="0" rtlCol="0" anchor="t"/>
          <a:lstStyle/>
          <a:p>
            <a:pPr indent="0" marL="0">
              <a:buNone/>
            </a:pPr>
            <a:r>
              <a:rPr lang="en-US" sz="2200" b="1" dirty="0">
                <a:solidFill>
                  <a:schemeClr val="tx2"/>
                </a:solidFill>
              </a:rPr>
              <a:t>126 files</a:t>
            </a:r>
            <a:endParaRPr lang="en-US" sz="2200" dirty="0"/>
          </a:p>
        </p:txBody>
      </p:sp>
      <p:sp>
        <p:nvSpPr>
          <p:cNvPr id="21" name="Text 17"/>
          <p:cNvSpPr txBox="1"/>
          <p:nvPr/>
        </p:nvSpPr>
        <p:spPr>
          <a:xfrm>
            <a:off x="6702552" y="4389120"/>
            <a:ext cx="2194560" cy="502920"/>
          </a:xfrm>
          <a:prstGeom prst="rect">
            <a:avLst/>
          </a:prstGeom>
          <a:noFill/>
          <a:ln/>
        </p:spPr>
        <p:txBody>
          <a:bodyPr wrap="square" lIns="0" tIns="0" rIns="0" bIns="0" rtlCol="0" anchor="t"/>
          <a:lstStyle/>
          <a:p>
            <a:pPr indent="0" marL="0">
              <a:buNone/>
            </a:pPr>
            <a:r>
              <a:rPr lang="en-US" sz="1200" dirty="0">
                <a:solidFill>
                  <a:schemeClr val="tx1"/>
                </a:solidFill>
              </a:rPr>
              <a:t>trades, best quotes, 25-level books · 2.9 GiB</a:t>
            </a:r>
            <a:endParaRPr lang="en-US" sz="1200" dirty="0"/>
          </a:p>
        </p:txBody>
      </p:sp>
      <p:sp>
        <p:nvSpPr>
          <p:cNvPr id="22" name="data stat 4"/>
          <p:cNvSpPr/>
          <p:nvPr/>
        </p:nvSpPr>
        <p:spPr>
          <a:xfrm>
            <a:off x="9144000" y="3840480"/>
            <a:ext cx="2468880" cy="1097280"/>
          </a:xfrm>
          <a:prstGeom prst="roundRect">
            <a:avLst>
              <a:gd name="adj" fmla="val 8333"/>
            </a:avLst>
          </a:prstGeom>
          <a:solidFill>
            <a:schemeClr val="bg2"/>
          </a:solidFill>
          <a:ln/>
        </p:spPr>
      </p:sp>
      <p:sp>
        <p:nvSpPr>
          <p:cNvPr id="23" name="Text 19"/>
          <p:cNvSpPr txBox="1"/>
          <p:nvPr/>
        </p:nvSpPr>
        <p:spPr>
          <a:xfrm>
            <a:off x="9308592" y="3950208"/>
            <a:ext cx="2194560" cy="411480"/>
          </a:xfrm>
          <a:prstGeom prst="rect">
            <a:avLst/>
          </a:prstGeom>
          <a:noFill/>
          <a:ln/>
        </p:spPr>
        <p:txBody>
          <a:bodyPr wrap="square" lIns="0" tIns="0" rIns="0" bIns="0" rtlCol="0" anchor="t"/>
          <a:lstStyle/>
          <a:p>
            <a:pPr indent="0" marL="0">
              <a:buNone/>
            </a:pPr>
            <a:r>
              <a:rPr lang="en-US" sz="2200" b="1" dirty="0">
                <a:solidFill>
                  <a:schemeClr val="tx2"/>
                </a:solidFill>
              </a:rPr>
              <a:t>807 / 1,008</a:t>
            </a:r>
            <a:endParaRPr lang="en-US" sz="2200" dirty="0"/>
          </a:p>
        </p:txBody>
      </p:sp>
      <p:sp>
        <p:nvSpPr>
          <p:cNvPr id="24" name="Text 20"/>
          <p:cNvSpPr txBox="1"/>
          <p:nvPr/>
        </p:nvSpPr>
        <p:spPr>
          <a:xfrm>
            <a:off x="9308592" y="4389120"/>
            <a:ext cx="2194560" cy="502920"/>
          </a:xfrm>
          <a:prstGeom prst="rect">
            <a:avLst/>
          </a:prstGeom>
          <a:noFill/>
          <a:ln/>
        </p:spPr>
        <p:txBody>
          <a:bodyPr wrap="square" lIns="0" tIns="0" rIns="0" bIns="0" rtlCol="0" anchor="t"/>
          <a:lstStyle/>
          <a:p>
            <a:pPr indent="0" marL="0">
              <a:buNone/>
            </a:pPr>
            <a:r>
              <a:rPr lang="en-US" sz="1200" dirty="0">
                <a:solidFill>
                  <a:schemeClr val="tx1"/>
                </a:solidFill>
              </a:rPr>
              <a:t>market-hours pass the paper's 48-of-60 rule</a:t>
            </a:r>
            <a:endParaRPr lang="en-US" sz="1200" dirty="0"/>
          </a:p>
        </p:txBody>
      </p:sp>
      <p:sp>
        <p:nvSpPr>
          <p:cNvPr id="25" name="not the authors' data callout"/>
          <p:cNvSpPr/>
          <p:nvPr/>
        </p:nvSpPr>
        <p:spPr>
          <a:xfrm>
            <a:off x="548640" y="5193792"/>
            <a:ext cx="11064240" cy="978408"/>
          </a:xfrm>
          <a:prstGeom prst="roundRect">
            <a:avLst>
              <a:gd name="adj" fmla="val 9346"/>
            </a:avLst>
          </a:prstGeom>
          <a:solidFill>
            <a:schemeClr val="tx2"/>
          </a:solidFill>
          <a:ln/>
        </p:spPr>
      </p:sp>
      <p:sp>
        <p:nvSpPr>
          <p:cNvPr id="26" name="Text 22"/>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400" b="1" dirty="0">
                <a:solidFill>
                  <a:schemeClr val="accent3"/>
                </a:solidFill>
              </a:rPr>
              <a:t>Not the authors' dataset: </a:t>
            </a:r>
            <a:pPr indent="0" marL="0">
              <a:buNone/>
            </a:pPr>
            <a:r>
              <a:rPr lang="en-US" sz="1400" dirty="0">
                <a:solidFill>
                  <a:schemeClr val="bg1"/>
                </a:solidFill>
              </a:rPr>
              <a:t>independent recordings of the exchanges' live WebSocket feeds, not their REST-API snapshots. Only 1 June 2019 lies inside the paper's period, so this is an out-of-sample check.</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DATA</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Same markets, different data and design</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Our results are an independent check of the paper's findings, not a copy of its tables.</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Paper: about 9,500 hourly intervals after the same 80% (48-of-60 minutes) coverage rule. Notebook Sections 2.7 and 3.6.</a:t>
            </a:r>
            <a:endParaRPr lang="en-US" sz="1000" dirty="0"/>
          </a:p>
        </p:txBody>
      </p:sp>
      <p:graphicFrame>
        <p:nvGraphicFramePr>
          <p:cNvPr id="6" name="design comparison table"/>
          <p:cNvGraphicFramePr>
            <a:graphicFrameLocks noGrp="1"/>
          </p:cNvGraphicFramePr>
          <p:nvPr>
            <p:extLst>
              <p:ext uri="{D42A27DB-BD31-4B8C-83A1-F6EECF244321}">
                <p14:modId xmlns:p14="http://schemas.microsoft.com/office/powerpoint/2010/main" val="1579011935"/>
              </p:ext>
            </p:extLst>
          </p:nvPr>
        </p:nvGraphicFramePr>
        <p:xfrm>
          <a:off x="548640" y="2194560"/>
          <a:ext cx="6995160" cy="914400"/>
        </p:xfrm>
        <a:graphic>
          <a:graphicData uri="http://schemas.openxmlformats.org/drawingml/2006/table">
            <a:tbl>
              <a:tblPr/>
              <a:tblGrid>
                <a:gridCol w="1600200"/>
                <a:gridCol w="2697480"/>
                <a:gridCol w="2697480"/>
              </a:tblGrid>
              <a:tr h="365760">
                <a:tc>
                  <a:txBody>
                    <a:bodyPr/>
                    <a:lstStyle/>
                    <a:p>
                      <a:pPr indent="0" marL="0">
                        <a:buNone/>
                      </a:pP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rPr>
                        <a:t>Brauneis et al. (paper)</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Our study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1"/>
                          </a:solidFill>
                        </a:rPr>
                        <a:t>Period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16 Dec 2017 – 16 Jun 2019</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7 days, Jun–Dec 2019</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65760">
                <a:tc>
                  <a:txBody>
                    <a:bodyPr/>
                    <a:lstStyle/>
                    <a:p>
                      <a:pPr indent="0" marL="0">
                        <a:buNone/>
                      </a:pPr>
                      <a:r>
                        <a:rPr lang="en-US" sz="1200" b="1" dirty="0">
                          <a:solidFill>
                            <a:schemeClr val="tx1"/>
                          </a:solidFill>
                        </a:rPr>
                        <a:t>Data source</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authors' REST-API polling</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Tardis.dev feed recordings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65760">
                <a:tc>
                  <a:txBody>
                    <a:bodyPr/>
                    <a:lstStyle/>
                    <a:p>
                      <a:pPr indent="0" marL="0">
                        <a:buNone/>
                      </a:pPr>
                      <a:r>
                        <a:rPr lang="en-US" sz="1200" b="1" dirty="0">
                          <a:solidFill>
                            <a:schemeClr val="tx1"/>
                          </a:solidFill>
                        </a:rPr>
                        <a:t>Order book</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 50 levels, irregular snapshots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25 levels, 10-second grid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65760">
                <a:tc>
                  <a:txBody>
                    <a:bodyPr/>
                    <a:lstStyle/>
                    <a:p>
                      <a:pPr indent="0" marL="0">
                        <a:buNone/>
                      </a:pPr>
                      <a:r>
                        <a:rPr lang="en-US" sz="1200" b="1" dirty="0">
                          <a:solidFill>
                            <a:schemeClr val="tx1"/>
                          </a:solidFill>
                        </a:rPr>
                        <a:t>Frequency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hourly, daily, 15-day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hourly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65760">
                <a:tc>
                  <a:txBody>
                    <a:bodyPr/>
                    <a:lstStyle/>
                    <a:p>
                      <a:pPr indent="0" marL="0">
                        <a:buNone/>
                      </a:pPr>
                      <a:r>
                        <a:rPr lang="en-US" sz="1200" b="1" dirty="0">
                          <a:solidFill>
                            <a:schemeClr val="tx1"/>
                          </a:solidFill>
                        </a:rPr>
                        <a:t>Hourly intervals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 9,500</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807 valid of 1,008</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566928">
                <a:tc>
                  <a:txBody>
                    <a:bodyPr/>
                    <a:lstStyle/>
                    <a:p>
                      <a:pPr indent="0" marL="0">
                        <a:buNone/>
                      </a:pPr>
                      <a:r>
                        <a:rPr lang="en-US" sz="1200" b="1" dirty="0">
                          <a:solidFill>
                            <a:schemeClr val="tx1"/>
                          </a:solidFill>
                        </a:rPr>
                        <a:t>Evaluation</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correlations, quantiles, PCA, regimes, errors, rankings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correlations, regimes, errors, rankings + our extension</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bl>
          </a:graphicData>
        </a:graphic>
      </p:graphicFrame>
      <p:sp>
        <p:nvSpPr>
          <p:cNvPr id="8" name="valid hours card"/>
          <p:cNvSpPr/>
          <p:nvPr/>
        </p:nvSpPr>
        <p:spPr>
          <a:xfrm>
            <a:off x="7863840" y="2194560"/>
            <a:ext cx="3749040" cy="2743200"/>
          </a:xfrm>
          <a:prstGeom prst="roundRect">
            <a:avLst>
              <a:gd name="adj" fmla="val 3333"/>
            </a:avLst>
          </a:prstGeom>
          <a:solidFill>
            <a:schemeClr val="bg2"/>
          </a:solidFill>
          <a:ln/>
        </p:spPr>
      </p:sp>
      <p:sp>
        <p:nvSpPr>
          <p:cNvPr id="9" name="Text 5"/>
          <p:cNvSpPr txBox="1"/>
          <p:nvPr/>
        </p:nvSpPr>
        <p:spPr>
          <a:xfrm>
            <a:off x="8092440" y="2304288"/>
            <a:ext cx="3291840" cy="320040"/>
          </a:xfrm>
          <a:prstGeom prst="rect">
            <a:avLst/>
          </a:prstGeom>
          <a:noFill/>
          <a:ln/>
        </p:spPr>
        <p:txBody>
          <a:bodyPr wrap="square" lIns="0" tIns="0" rIns="0" bIns="0" rtlCol="0" anchor="t"/>
          <a:lstStyle/>
          <a:p>
            <a:pPr indent="0" marL="0">
              <a:buNone/>
            </a:pPr>
            <a:r>
              <a:rPr lang="en-US" sz="1500" b="1" dirty="0">
                <a:solidFill>
                  <a:schemeClr val="tx2"/>
                </a:solidFill>
              </a:rPr>
              <a:t>Valid hours per market</a:t>
            </a:r>
            <a:endParaRPr lang="en-US" sz="1500" dirty="0"/>
          </a:p>
        </p:txBody>
      </p:sp>
      <p:graphicFrame>
        <p:nvGraphicFramePr>
          <p:cNvPr id="11" name="valid hours table"/>
          <p:cNvGraphicFramePr>
            <a:graphicFrameLocks noGrp="1"/>
          </p:cNvGraphicFramePr>
          <p:nvPr>
            <p:extLst>
              <p:ext uri="{D42A27DB-BD31-4B8C-83A1-F6EECF244321}">
                <p14:modId xmlns:p14="http://schemas.microsoft.com/office/powerpoint/2010/main" val="1579011935"/>
              </p:ext>
            </p:extLst>
          </p:nvPr>
        </p:nvGraphicFramePr>
        <p:xfrm>
          <a:off x="8092440" y="2697480"/>
          <a:ext cx="3291840" cy="914400"/>
        </p:xfrm>
        <a:graphic>
          <a:graphicData uri="http://schemas.openxmlformats.org/drawingml/2006/table">
            <a:tbl>
              <a:tblPr/>
              <a:tblGrid>
                <a:gridCol w="1280160"/>
                <a:gridCol w="1005840"/>
                <a:gridCol w="1005840"/>
              </a:tblGrid>
              <a:tr h="310896">
                <a:tc>
                  <a:txBody>
                    <a:bodyPr/>
                    <a:lstStyle/>
                    <a:p>
                      <a:pPr indent="0" marL="0">
                        <a:buNone/>
                      </a:pP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BTC</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ETH</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r>
              <a:tr h="310896">
                <a:tc>
                  <a:txBody>
                    <a:bodyPr/>
                    <a:lstStyle/>
                    <a:p>
                      <a:pPr indent="0" marL="0">
                        <a:buNone/>
                      </a:pPr>
                      <a:r>
                        <a:rPr lang="en-US" sz="1200" b="1" dirty="0">
                          <a:solidFill>
                            <a:schemeClr val="tx1"/>
                          </a:solidFill>
                        </a:rPr>
                        <a:t>Bitfinex</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dirty="0">
                          <a:solidFill>
                            <a:schemeClr val="tx1"/>
                          </a:solidFill>
                        </a:rPr>
                        <a:t>164</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dirty="0">
                          <a:solidFill>
                            <a:schemeClr val="tx1"/>
                          </a:solidFill>
                        </a:rPr>
                        <a:t>122</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10896">
                <a:tc>
                  <a:txBody>
                    <a:bodyPr/>
                    <a:lstStyle/>
                    <a:p>
                      <a:pPr indent="0" marL="0">
                        <a:buNone/>
                      </a:pPr>
                      <a:r>
                        <a:rPr lang="en-US" sz="1200" b="1" dirty="0">
                          <a:solidFill>
                            <a:schemeClr val="tx1"/>
                          </a:solidFill>
                        </a:rPr>
                        <a:t>Bitstamp</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dirty="0">
                          <a:solidFill>
                            <a:schemeClr val="tx1"/>
                          </a:solidFill>
                        </a:rPr>
                        <a:t>167</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1"/>
                          </a:solidFill>
                        </a:rPr>
                        <a:t>28</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3"/>
                    </a:solidFill>
                  </a:tcPr>
                </a:tc>
              </a:tr>
              <a:tr h="310896">
                <a:tc>
                  <a:txBody>
                    <a:bodyPr/>
                    <a:lstStyle/>
                    <a:p>
                      <a:pPr indent="0" marL="0">
                        <a:buNone/>
                      </a:pPr>
                      <a:r>
                        <a:rPr lang="en-US" sz="1200" b="1" dirty="0">
                          <a:solidFill>
                            <a:schemeClr val="tx1"/>
                          </a:solidFill>
                        </a:rPr>
                        <a:t>Coinbase</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dirty="0">
                          <a:solidFill>
                            <a:schemeClr val="tx1"/>
                          </a:solidFill>
                        </a:rPr>
                        <a:t>163</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dirty="0">
                          <a:solidFill>
                            <a:schemeClr val="tx1"/>
                          </a:solidFill>
                        </a:rPr>
                        <a:t>163</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bl>
          </a:graphicData>
        </a:graphic>
      </p:graphicFrame>
      <p:sp>
        <p:nvSpPr>
          <p:cNvPr id="11" name="Text 6"/>
          <p:cNvSpPr txBox="1"/>
          <p:nvPr/>
        </p:nvSpPr>
        <p:spPr>
          <a:xfrm>
            <a:off x="8092440" y="4069080"/>
            <a:ext cx="3337560" cy="777240"/>
          </a:xfrm>
          <a:prstGeom prst="rect">
            <a:avLst/>
          </a:prstGeom>
          <a:noFill/>
          <a:ln/>
        </p:spPr>
        <p:txBody>
          <a:bodyPr wrap="square" lIns="0" tIns="0" rIns="0" bIns="0" rtlCol="0" anchor="t"/>
          <a:lstStyle/>
          <a:p>
            <a:pPr indent="0" marL="0">
              <a:buNone/>
            </a:pPr>
            <a:r>
              <a:rPr lang="en-US" sz="1200" dirty="0">
                <a:solidFill>
                  <a:schemeClr val="tx1"/>
                </a:solidFill>
              </a:rPr>
              <a:t>Bitstamp ETH is thin: read with care. 1 Aug 2019 has recording gaps on Bitfinex and in Coinbase trades.</a:t>
            </a:r>
            <a:endParaRPr lang="en-US" sz="1200" dirty="0"/>
          </a:p>
        </p:txBody>
      </p:sp>
      <p:sp>
        <p:nvSpPr>
          <p:cNvPr id="12" name="part 1"/>
          <p:cNvSpPr/>
          <p:nvPr/>
        </p:nvSpPr>
        <p:spPr>
          <a:xfrm>
            <a:off x="548640" y="5193792"/>
            <a:ext cx="2651760" cy="978408"/>
          </a:xfrm>
          <a:prstGeom prst="roundRect">
            <a:avLst>
              <a:gd name="adj" fmla="val 9346"/>
            </a:avLst>
          </a:prstGeom>
          <a:solidFill>
            <a:schemeClr val="tx2"/>
          </a:solidFill>
          <a:ln/>
        </p:spPr>
      </p:sp>
      <p:sp>
        <p:nvSpPr>
          <p:cNvPr id="13" name="Text 8"/>
          <p:cNvSpPr txBox="1"/>
          <p:nvPr/>
        </p:nvSpPr>
        <p:spPr>
          <a:xfrm>
            <a:off x="731520" y="5303520"/>
            <a:ext cx="365760" cy="731520"/>
          </a:xfrm>
          <a:prstGeom prst="rect">
            <a:avLst/>
          </a:prstGeom>
          <a:noFill/>
          <a:ln/>
        </p:spPr>
        <p:txBody>
          <a:bodyPr wrap="square" lIns="0" tIns="0" rIns="0" bIns="0" rtlCol="0" anchor="ctr"/>
          <a:lstStyle/>
          <a:p>
            <a:pPr indent="0" marL="0">
              <a:buNone/>
            </a:pPr>
            <a:r>
              <a:rPr lang="en-US" sz="2600" b="1" dirty="0">
                <a:solidFill>
                  <a:schemeClr val="accent3"/>
                </a:solidFill>
              </a:rPr>
              <a:t>1</a:t>
            </a:r>
            <a:endParaRPr lang="en-US" sz="2600" dirty="0"/>
          </a:p>
        </p:txBody>
      </p:sp>
      <p:sp>
        <p:nvSpPr>
          <p:cNvPr id="14" name="Text 9"/>
          <p:cNvSpPr txBox="1"/>
          <p:nvPr/>
        </p:nvSpPr>
        <p:spPr>
          <a:xfrm>
            <a:off x="1188720" y="5303520"/>
            <a:ext cx="1920240" cy="777240"/>
          </a:xfrm>
          <a:prstGeom prst="rect">
            <a:avLst/>
          </a:prstGeom>
          <a:noFill/>
          <a:ln/>
        </p:spPr>
        <p:txBody>
          <a:bodyPr wrap="square" lIns="0" tIns="0" rIns="0" bIns="0" rtlCol="0" anchor="ctr"/>
          <a:lstStyle/>
          <a:p>
            <a:pPr indent="0" marL="0">
              <a:buNone/>
            </a:pPr>
            <a:r>
              <a:rPr lang="en-US" sz="1400" b="1" dirty="0">
                <a:solidFill>
                  <a:schemeClr val="bg1"/>
                </a:solidFill>
              </a:rPr>
              <a:t>Data and sample</a:t>
            </a:r>
            <a:endParaRPr lang="en-US" sz="1400" dirty="0"/>
          </a:p>
          <a:p>
            <a:pPr indent="0" marL="0">
              <a:buNone/>
            </a:pPr>
            <a:r>
              <a:rPr lang="en-US" sz="1200" dirty="0">
                <a:solidFill>
                  <a:schemeClr val="bg1"/>
                </a:solidFill>
              </a:rPr>
              <a:t>Maria Chistiakova</a:t>
            </a:r>
            <a:endParaRPr lang="en-US" sz="1400" dirty="0"/>
          </a:p>
        </p:txBody>
      </p:sp>
      <p:sp>
        <p:nvSpPr>
          <p:cNvPr id="15" name="part 2"/>
          <p:cNvSpPr/>
          <p:nvPr/>
        </p:nvSpPr>
        <p:spPr>
          <a:xfrm>
            <a:off x="3364992" y="5193792"/>
            <a:ext cx="2651760" cy="978408"/>
          </a:xfrm>
          <a:prstGeom prst="roundRect">
            <a:avLst>
              <a:gd name="adj" fmla="val 9346"/>
            </a:avLst>
          </a:prstGeom>
          <a:solidFill>
            <a:schemeClr val="tx2"/>
          </a:solidFill>
          <a:ln/>
        </p:spPr>
      </p:sp>
      <p:sp>
        <p:nvSpPr>
          <p:cNvPr id="16" name="Text 11"/>
          <p:cNvSpPr txBox="1"/>
          <p:nvPr/>
        </p:nvSpPr>
        <p:spPr>
          <a:xfrm>
            <a:off x="3547872" y="5303520"/>
            <a:ext cx="365760" cy="731520"/>
          </a:xfrm>
          <a:prstGeom prst="rect">
            <a:avLst/>
          </a:prstGeom>
          <a:noFill/>
          <a:ln/>
        </p:spPr>
        <p:txBody>
          <a:bodyPr wrap="square" lIns="0" tIns="0" rIns="0" bIns="0" rtlCol="0" anchor="ctr"/>
          <a:lstStyle/>
          <a:p>
            <a:pPr indent="0" marL="0">
              <a:buNone/>
            </a:pPr>
            <a:r>
              <a:rPr lang="en-US" sz="2600" b="1" dirty="0">
                <a:solidFill>
                  <a:schemeClr val="accent3"/>
                </a:solidFill>
              </a:rPr>
              <a:t>2</a:t>
            </a:r>
            <a:endParaRPr lang="en-US" sz="2600" dirty="0"/>
          </a:p>
        </p:txBody>
      </p:sp>
      <p:sp>
        <p:nvSpPr>
          <p:cNvPr id="17" name="Text 12"/>
          <p:cNvSpPr txBox="1"/>
          <p:nvPr/>
        </p:nvSpPr>
        <p:spPr>
          <a:xfrm>
            <a:off x="4005072" y="5303520"/>
            <a:ext cx="1920240" cy="777240"/>
          </a:xfrm>
          <a:prstGeom prst="rect">
            <a:avLst/>
          </a:prstGeom>
          <a:noFill/>
          <a:ln/>
        </p:spPr>
        <p:txBody>
          <a:bodyPr wrap="square" lIns="0" tIns="0" rIns="0" bIns="0" rtlCol="0" anchor="ctr"/>
          <a:lstStyle/>
          <a:p>
            <a:pPr indent="0" marL="0">
              <a:buNone/>
            </a:pPr>
            <a:r>
              <a:rPr lang="en-US" sz="1400" b="1" dirty="0">
                <a:solidFill>
                  <a:schemeClr val="bg1"/>
                </a:solidFill>
              </a:rPr>
              <a:t>Eight proxies</a:t>
            </a:r>
            <a:endParaRPr lang="en-US" sz="1400" dirty="0"/>
          </a:p>
          <a:p>
            <a:pPr indent="0" marL="0">
              <a:buNone/>
            </a:pPr>
            <a:r>
              <a:rPr lang="en-US" sz="1200" dirty="0">
                <a:solidFill>
                  <a:schemeClr val="bg1"/>
                </a:solidFill>
              </a:rPr>
              <a:t>Sofia Rudko</a:t>
            </a:r>
            <a:endParaRPr lang="en-US" sz="1400" dirty="0"/>
          </a:p>
        </p:txBody>
      </p:sp>
      <p:sp>
        <p:nvSpPr>
          <p:cNvPr id="18" name="part 3"/>
          <p:cNvSpPr/>
          <p:nvPr/>
        </p:nvSpPr>
        <p:spPr>
          <a:xfrm>
            <a:off x="6181344" y="5193792"/>
            <a:ext cx="2651760" cy="978408"/>
          </a:xfrm>
          <a:prstGeom prst="roundRect">
            <a:avLst>
              <a:gd name="adj" fmla="val 9346"/>
            </a:avLst>
          </a:prstGeom>
          <a:solidFill>
            <a:schemeClr val="tx2"/>
          </a:solidFill>
          <a:ln/>
        </p:spPr>
      </p:sp>
      <p:sp>
        <p:nvSpPr>
          <p:cNvPr id="19" name="Text 14"/>
          <p:cNvSpPr txBox="1"/>
          <p:nvPr/>
        </p:nvSpPr>
        <p:spPr>
          <a:xfrm>
            <a:off x="6364224" y="5303520"/>
            <a:ext cx="365760" cy="731520"/>
          </a:xfrm>
          <a:prstGeom prst="rect">
            <a:avLst/>
          </a:prstGeom>
          <a:noFill/>
          <a:ln/>
        </p:spPr>
        <p:txBody>
          <a:bodyPr wrap="square" lIns="0" tIns="0" rIns="0" bIns="0" rtlCol="0" anchor="ctr"/>
          <a:lstStyle/>
          <a:p>
            <a:pPr indent="0" marL="0">
              <a:buNone/>
            </a:pPr>
            <a:r>
              <a:rPr lang="en-US" sz="2600" b="1" dirty="0">
                <a:solidFill>
                  <a:schemeClr val="accent3"/>
                </a:solidFill>
              </a:rPr>
              <a:t>3</a:t>
            </a:r>
            <a:endParaRPr lang="en-US" sz="2600" dirty="0"/>
          </a:p>
        </p:txBody>
      </p:sp>
      <p:sp>
        <p:nvSpPr>
          <p:cNvPr id="20" name="Text 15"/>
          <p:cNvSpPr txBox="1"/>
          <p:nvPr/>
        </p:nvSpPr>
        <p:spPr>
          <a:xfrm>
            <a:off x="6821424" y="5303520"/>
            <a:ext cx="1920240" cy="777240"/>
          </a:xfrm>
          <a:prstGeom prst="rect">
            <a:avLst/>
          </a:prstGeom>
          <a:noFill/>
          <a:ln/>
        </p:spPr>
        <p:txBody>
          <a:bodyPr wrap="square" lIns="0" tIns="0" rIns="0" bIns="0" rtlCol="0" anchor="ctr"/>
          <a:lstStyle/>
          <a:p>
            <a:pPr indent="0" marL="0">
              <a:buNone/>
            </a:pPr>
            <a:r>
              <a:rPr lang="en-US" sz="1400" b="1" dirty="0">
                <a:solidFill>
                  <a:schemeClr val="bg1"/>
                </a:solidFill>
              </a:rPr>
              <a:t>Benchmarks and comparison</a:t>
            </a:r>
            <a:endParaRPr lang="en-US" sz="1400" dirty="0"/>
          </a:p>
          <a:p>
            <a:pPr indent="0" marL="0">
              <a:buNone/>
            </a:pPr>
            <a:r>
              <a:rPr lang="en-US" sz="1200" dirty="0">
                <a:solidFill>
                  <a:schemeClr val="bg1"/>
                </a:solidFill>
              </a:rPr>
              <a:t>Liya Meyzler</a:t>
            </a:r>
            <a:endParaRPr lang="en-US" sz="1400" dirty="0"/>
          </a:p>
        </p:txBody>
      </p:sp>
      <p:sp>
        <p:nvSpPr>
          <p:cNvPr id="21" name="part 4"/>
          <p:cNvSpPr/>
          <p:nvPr/>
        </p:nvSpPr>
        <p:spPr>
          <a:xfrm>
            <a:off x="8997696" y="5193792"/>
            <a:ext cx="2651760" cy="978408"/>
          </a:xfrm>
          <a:prstGeom prst="roundRect">
            <a:avLst>
              <a:gd name="adj" fmla="val 9346"/>
            </a:avLst>
          </a:prstGeom>
          <a:solidFill>
            <a:schemeClr val="accent3"/>
          </a:solidFill>
          <a:ln/>
        </p:spPr>
      </p:sp>
      <p:sp>
        <p:nvSpPr>
          <p:cNvPr id="22" name="Text 17"/>
          <p:cNvSpPr txBox="1"/>
          <p:nvPr/>
        </p:nvSpPr>
        <p:spPr>
          <a:xfrm>
            <a:off x="9180576" y="5303520"/>
            <a:ext cx="365760" cy="731520"/>
          </a:xfrm>
          <a:prstGeom prst="rect">
            <a:avLst/>
          </a:prstGeom>
          <a:noFill/>
          <a:ln/>
        </p:spPr>
        <p:txBody>
          <a:bodyPr wrap="square" lIns="0" tIns="0" rIns="0" bIns="0" rtlCol="0" anchor="ctr"/>
          <a:lstStyle/>
          <a:p>
            <a:pPr indent="0" marL="0">
              <a:buNone/>
            </a:pPr>
            <a:r>
              <a:rPr lang="en-US" sz="2600" b="1" dirty="0">
                <a:solidFill>
                  <a:schemeClr val="tx2"/>
                </a:solidFill>
              </a:rPr>
              <a:t>4</a:t>
            </a:r>
            <a:endParaRPr lang="en-US" sz="2600" dirty="0"/>
          </a:p>
        </p:txBody>
      </p:sp>
      <p:sp>
        <p:nvSpPr>
          <p:cNvPr id="23" name="Text 18"/>
          <p:cNvSpPr txBox="1"/>
          <p:nvPr/>
        </p:nvSpPr>
        <p:spPr>
          <a:xfrm>
            <a:off x="9637776" y="5303520"/>
            <a:ext cx="1920240" cy="777240"/>
          </a:xfrm>
          <a:prstGeom prst="rect">
            <a:avLst/>
          </a:prstGeom>
          <a:noFill/>
          <a:ln/>
        </p:spPr>
        <p:txBody>
          <a:bodyPr wrap="square" lIns="0" tIns="0" rIns="0" bIns="0" rtlCol="0" anchor="ctr"/>
          <a:lstStyle/>
          <a:p>
            <a:pPr indent="0" marL="0">
              <a:buNone/>
            </a:pPr>
            <a:r>
              <a:rPr lang="en-US" sz="1400" b="1" dirty="0">
                <a:solidFill>
                  <a:schemeClr val="tx2"/>
                </a:solidFill>
              </a:rPr>
              <a:t>Robustness and extension</a:t>
            </a:r>
            <a:endParaRPr lang="en-US" sz="1400" dirty="0"/>
          </a:p>
          <a:p>
            <a:pPr indent="0" marL="0">
              <a:buNone/>
            </a:pPr>
            <a:r>
              <a:rPr lang="en-US" sz="1200" dirty="0">
                <a:solidFill>
                  <a:schemeClr val="tx2"/>
                </a:solidFill>
              </a:rPr>
              <a:t>Maria Samoilova</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PROXIES · PART 2</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Eight proxies, four ideas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All eight need only minute open, high, low, close, number of trades and USD volume.</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Definitions as in Brauneis et al., Section 2.2.2. Computed per UTC hour from one-minute bars (notebook Section 4).</a:t>
            </a:r>
            <a:endParaRPr lang="en-US" sz="1000" dirty="0"/>
          </a:p>
        </p:txBody>
      </p:sp>
      <p:sp>
        <p:nvSpPr>
          <p:cNvPr id="7" name="proxy group 1"/>
          <p:cNvSpPr/>
          <p:nvPr/>
        </p:nvSpPr>
        <p:spPr>
          <a:xfrm>
            <a:off x="548640" y="2194560"/>
            <a:ext cx="2615184" cy="3017520"/>
          </a:xfrm>
          <a:prstGeom prst="roundRect">
            <a:avLst>
              <a:gd name="adj" fmla="val 3497"/>
            </a:avLst>
          </a:prstGeom>
          <a:solidFill>
            <a:schemeClr val="bg2"/>
          </a:solidFill>
          <a:ln/>
        </p:spPr>
      </p:sp>
      <p:sp>
        <p:nvSpPr>
          <p:cNvPr id="8" name="Text 5"/>
          <p:cNvSpPr txBox="1"/>
          <p:nvPr/>
        </p:nvSpPr>
        <p:spPr>
          <a:xfrm>
            <a:off x="749808" y="2359152"/>
            <a:ext cx="224028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ACTIVITY</a:t>
            </a:r>
            <a:endParaRPr lang="en-US" sz="1100" dirty="0"/>
          </a:p>
        </p:txBody>
      </p:sp>
      <p:sp>
        <p:nvSpPr>
          <p:cNvPr id="9" name="Text 6"/>
          <p:cNvSpPr txBox="1"/>
          <p:nvPr/>
        </p:nvSpPr>
        <p:spPr>
          <a:xfrm>
            <a:off x="749808" y="2697480"/>
            <a:ext cx="2240280" cy="457200"/>
          </a:xfrm>
          <a:prstGeom prst="rect">
            <a:avLst/>
          </a:prstGeom>
          <a:noFill/>
          <a:ln/>
        </p:spPr>
        <p:txBody>
          <a:bodyPr wrap="square" lIns="0" tIns="0" rIns="0" bIns="0" rtlCol="0" anchor="t"/>
          <a:lstStyle/>
          <a:p>
            <a:pPr indent="0" marL="0">
              <a:buNone/>
            </a:pPr>
            <a:r>
              <a:rPr lang="en-US" sz="2100" b="1" dirty="0">
                <a:solidFill>
                  <a:schemeClr val="tx2"/>
                </a:solidFill>
              </a:rPr>
              <a:t>TX, $Vol</a:t>
            </a:r>
            <a:endParaRPr lang="en-US" sz="2100" dirty="0"/>
          </a:p>
        </p:txBody>
      </p:sp>
      <p:sp>
        <p:nvSpPr>
          <p:cNvPr id="10" name="Text 7"/>
          <p:cNvSpPr txBox="1"/>
          <p:nvPr/>
        </p:nvSpPr>
        <p:spPr>
          <a:xfrm>
            <a:off x="749808" y="3246120"/>
            <a:ext cx="2240280" cy="1280160"/>
          </a:xfrm>
          <a:prstGeom prst="rect">
            <a:avLst/>
          </a:prstGeom>
          <a:noFill/>
          <a:ln/>
        </p:spPr>
        <p:txBody>
          <a:bodyPr wrap="square" lIns="0" tIns="0" rIns="0" bIns="0" rtlCol="0" anchor="t"/>
          <a:lstStyle/>
          <a:p>
            <a:pPr indent="0" marL="0">
              <a:buNone/>
            </a:pPr>
            <a:r>
              <a:rPr lang="en-US" sz="1400" dirty="0">
                <a:solidFill>
                  <a:schemeClr val="tx1"/>
                </a:solidFill>
              </a:rPr>
              <a:t>How much people trade: trades and USD volume per minute.</a:t>
            </a:r>
            <a:endParaRPr lang="en-US" sz="1400" dirty="0"/>
          </a:p>
        </p:txBody>
      </p:sp>
      <p:sp>
        <p:nvSpPr>
          <p:cNvPr id="11" name="orientation chip 1"/>
          <p:cNvSpPr/>
          <p:nvPr/>
        </p:nvSpPr>
        <p:spPr>
          <a:xfrm>
            <a:off x="749808" y="4645152"/>
            <a:ext cx="1828800" cy="365760"/>
          </a:xfrm>
          <a:prstGeom prst="roundRect">
            <a:avLst>
              <a:gd name="adj" fmla="val 25000"/>
            </a:avLst>
          </a:prstGeom>
          <a:solidFill>
            <a:schemeClr val="accent3"/>
          </a:solidFill>
          <a:ln/>
        </p:spPr>
      </p:sp>
      <p:sp>
        <p:nvSpPr>
          <p:cNvPr id="12" name="Text 9"/>
          <p:cNvSpPr txBox="1"/>
          <p:nvPr/>
        </p:nvSpPr>
        <p:spPr>
          <a:xfrm>
            <a:off x="749808" y="4645152"/>
            <a:ext cx="1828800" cy="365760"/>
          </a:xfrm>
          <a:prstGeom prst="rect">
            <a:avLst/>
          </a:prstGeom>
          <a:noFill/>
          <a:ln/>
        </p:spPr>
        <p:txBody>
          <a:bodyPr wrap="square" lIns="0" tIns="0" rIns="0" bIns="0" rtlCol="0" anchor="ctr"/>
          <a:lstStyle/>
          <a:p>
            <a:pPr algn="ctr" indent="0" marL="0">
              <a:buNone/>
            </a:pPr>
            <a:r>
              <a:rPr lang="en-US" sz="1200" b="1" dirty="0">
                <a:solidFill>
                  <a:schemeClr val="tx2"/>
                </a:solidFill>
              </a:rPr>
              <a:t>high = more liquid</a:t>
            </a:r>
            <a:endParaRPr lang="en-US" sz="1200" dirty="0"/>
          </a:p>
        </p:txBody>
      </p:sp>
      <p:sp>
        <p:nvSpPr>
          <p:cNvPr id="13" name="proxy group 2"/>
          <p:cNvSpPr/>
          <p:nvPr/>
        </p:nvSpPr>
        <p:spPr>
          <a:xfrm>
            <a:off x="3364992" y="2194560"/>
            <a:ext cx="2615184" cy="3017520"/>
          </a:xfrm>
          <a:prstGeom prst="roundRect">
            <a:avLst>
              <a:gd name="adj" fmla="val 3497"/>
            </a:avLst>
          </a:prstGeom>
          <a:solidFill>
            <a:schemeClr val="bg2"/>
          </a:solidFill>
          <a:ln/>
        </p:spPr>
      </p:sp>
      <p:sp>
        <p:nvSpPr>
          <p:cNvPr id="14" name="Text 11"/>
          <p:cNvSpPr txBox="1"/>
          <p:nvPr/>
        </p:nvSpPr>
        <p:spPr>
          <a:xfrm>
            <a:off x="3566160" y="2359152"/>
            <a:ext cx="224028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PRICE MOVE PER DOLLAR</a:t>
            </a:r>
            <a:endParaRPr lang="en-US" sz="1100" dirty="0"/>
          </a:p>
        </p:txBody>
      </p:sp>
      <p:sp>
        <p:nvSpPr>
          <p:cNvPr id="15" name="Text 12"/>
          <p:cNvSpPr txBox="1"/>
          <p:nvPr/>
        </p:nvSpPr>
        <p:spPr>
          <a:xfrm>
            <a:off x="3566160" y="2697480"/>
            <a:ext cx="2240280" cy="457200"/>
          </a:xfrm>
          <a:prstGeom prst="rect">
            <a:avLst/>
          </a:prstGeom>
          <a:noFill/>
          <a:ln/>
        </p:spPr>
        <p:txBody>
          <a:bodyPr wrap="square" lIns="0" tIns="0" rIns="0" bIns="0" rtlCol="0" anchor="t"/>
          <a:lstStyle/>
          <a:p>
            <a:pPr indent="0" marL="0">
              <a:buNone/>
            </a:pPr>
            <a:r>
              <a:rPr lang="en-US" sz="2100" b="1" dirty="0">
                <a:solidFill>
                  <a:schemeClr val="tx2"/>
                </a:solidFill>
              </a:rPr>
              <a:t>Amihud, Kyle</a:t>
            </a:r>
            <a:endParaRPr lang="en-US" sz="2100" dirty="0"/>
          </a:p>
        </p:txBody>
      </p:sp>
      <p:sp>
        <p:nvSpPr>
          <p:cNvPr id="16" name="Text 13"/>
          <p:cNvSpPr txBox="1"/>
          <p:nvPr/>
        </p:nvSpPr>
        <p:spPr>
          <a:xfrm>
            <a:off x="3566160" y="3246120"/>
            <a:ext cx="2240280" cy="1280160"/>
          </a:xfrm>
          <a:prstGeom prst="rect">
            <a:avLst/>
          </a:prstGeom>
          <a:noFill/>
          <a:ln/>
        </p:spPr>
        <p:txBody>
          <a:bodyPr wrap="square" lIns="0" tIns="0" rIns="0" bIns="0" rtlCol="0" anchor="t"/>
          <a:lstStyle/>
          <a:p>
            <a:pPr indent="0" marL="0">
              <a:buNone/>
            </a:pPr>
            <a:r>
              <a:rPr lang="en-US" sz="1400" dirty="0">
                <a:solidFill>
                  <a:schemeClr val="tx1"/>
                </a:solidFill>
              </a:rPr>
              <a:t>How far the price moves for each dollar traded.</a:t>
            </a:r>
            <a:endParaRPr lang="en-US" sz="1400" dirty="0"/>
          </a:p>
        </p:txBody>
      </p:sp>
      <p:sp>
        <p:nvSpPr>
          <p:cNvPr id="17" name="orientation chip 2"/>
          <p:cNvSpPr/>
          <p:nvPr/>
        </p:nvSpPr>
        <p:spPr>
          <a:xfrm>
            <a:off x="3566160" y="4645152"/>
            <a:ext cx="1828800" cy="365760"/>
          </a:xfrm>
          <a:prstGeom prst="roundRect">
            <a:avLst>
              <a:gd name="adj" fmla="val 25000"/>
            </a:avLst>
          </a:prstGeom>
          <a:solidFill>
            <a:schemeClr val="accent2"/>
          </a:solidFill>
          <a:ln/>
        </p:spPr>
      </p:sp>
      <p:sp>
        <p:nvSpPr>
          <p:cNvPr id="18" name="Text 15"/>
          <p:cNvSpPr txBox="1"/>
          <p:nvPr/>
        </p:nvSpPr>
        <p:spPr>
          <a:xfrm>
            <a:off x="3566160" y="4645152"/>
            <a:ext cx="1828800" cy="365760"/>
          </a:xfrm>
          <a:prstGeom prst="rect">
            <a:avLst/>
          </a:prstGeom>
          <a:noFill/>
          <a:ln/>
        </p:spPr>
        <p:txBody>
          <a:bodyPr wrap="square" lIns="0" tIns="0" rIns="0" bIns="0" rtlCol="0" anchor="ctr"/>
          <a:lstStyle/>
          <a:p>
            <a:pPr algn="ctr" indent="0" marL="0">
              <a:buNone/>
            </a:pPr>
            <a:r>
              <a:rPr lang="en-US" sz="1200" b="1" dirty="0">
                <a:solidFill>
                  <a:schemeClr val="tx2"/>
                </a:solidFill>
              </a:rPr>
              <a:t>high = less liquid</a:t>
            </a:r>
            <a:endParaRPr lang="en-US" sz="1200" dirty="0"/>
          </a:p>
        </p:txBody>
      </p:sp>
      <p:sp>
        <p:nvSpPr>
          <p:cNvPr id="19" name="proxy group 3"/>
          <p:cNvSpPr/>
          <p:nvPr/>
        </p:nvSpPr>
        <p:spPr>
          <a:xfrm>
            <a:off x="6181344" y="2194560"/>
            <a:ext cx="2615184" cy="3017520"/>
          </a:xfrm>
          <a:prstGeom prst="roundRect">
            <a:avLst>
              <a:gd name="adj" fmla="val 3497"/>
            </a:avLst>
          </a:prstGeom>
          <a:solidFill>
            <a:schemeClr val="bg2"/>
          </a:solidFill>
          <a:ln/>
        </p:spPr>
      </p:sp>
      <p:sp>
        <p:nvSpPr>
          <p:cNvPr id="20" name="Text 17"/>
          <p:cNvSpPr txBox="1"/>
          <p:nvPr/>
        </p:nvSpPr>
        <p:spPr>
          <a:xfrm>
            <a:off x="6382512" y="2359152"/>
            <a:ext cx="224028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BID–ASK BOUNCE</a:t>
            </a:r>
            <a:endParaRPr lang="en-US" sz="1100" dirty="0"/>
          </a:p>
        </p:txBody>
      </p:sp>
      <p:sp>
        <p:nvSpPr>
          <p:cNvPr id="21" name="Text 18"/>
          <p:cNvSpPr txBox="1"/>
          <p:nvPr/>
        </p:nvSpPr>
        <p:spPr>
          <a:xfrm>
            <a:off x="6382512" y="2697480"/>
            <a:ext cx="2240280" cy="457200"/>
          </a:xfrm>
          <a:prstGeom prst="rect">
            <a:avLst/>
          </a:prstGeom>
          <a:noFill/>
          <a:ln/>
        </p:spPr>
        <p:txBody>
          <a:bodyPr wrap="square" lIns="0" tIns="0" rIns="0" bIns="0" rtlCol="0" anchor="t"/>
          <a:lstStyle/>
          <a:p>
            <a:pPr indent="0" marL="0">
              <a:buNone/>
            </a:pPr>
            <a:r>
              <a:rPr lang="en-US" sz="2100" b="1" dirty="0">
                <a:solidFill>
                  <a:schemeClr val="tx2"/>
                </a:solidFill>
              </a:rPr>
              <a:t>Roll p, Roll r</a:t>
            </a:r>
            <a:endParaRPr lang="en-US" sz="2100" dirty="0"/>
          </a:p>
        </p:txBody>
      </p:sp>
      <p:sp>
        <p:nvSpPr>
          <p:cNvPr id="22" name="Text 19"/>
          <p:cNvSpPr txBox="1"/>
          <p:nvPr/>
        </p:nvSpPr>
        <p:spPr>
          <a:xfrm>
            <a:off x="6382512" y="3246120"/>
            <a:ext cx="2240280" cy="1280160"/>
          </a:xfrm>
          <a:prstGeom prst="rect">
            <a:avLst/>
          </a:prstGeom>
          <a:noFill/>
          <a:ln/>
        </p:spPr>
        <p:txBody>
          <a:bodyPr wrap="square" lIns="0" tIns="0" rIns="0" bIns="0" rtlCol="0" anchor="t"/>
          <a:lstStyle/>
          <a:p>
            <a:pPr indent="0" marL="0">
              <a:buNone/>
            </a:pPr>
            <a:r>
              <a:rPr lang="en-US" sz="1400" dirty="0">
                <a:solidFill>
                  <a:schemeClr val="tx1"/>
                </a:solidFill>
              </a:rPr>
              <a:t>Trades flip between bid and ask, so price changes partly undo each other.</a:t>
            </a:r>
            <a:endParaRPr lang="en-US" sz="1400" dirty="0"/>
          </a:p>
        </p:txBody>
      </p:sp>
      <p:sp>
        <p:nvSpPr>
          <p:cNvPr id="23" name="orientation chip 3"/>
          <p:cNvSpPr/>
          <p:nvPr/>
        </p:nvSpPr>
        <p:spPr>
          <a:xfrm>
            <a:off x="6382512" y="4645152"/>
            <a:ext cx="1828800" cy="365760"/>
          </a:xfrm>
          <a:prstGeom prst="roundRect">
            <a:avLst>
              <a:gd name="adj" fmla="val 25000"/>
            </a:avLst>
          </a:prstGeom>
          <a:solidFill>
            <a:schemeClr val="accent2"/>
          </a:solidFill>
          <a:ln/>
        </p:spPr>
      </p:sp>
      <p:sp>
        <p:nvSpPr>
          <p:cNvPr id="24" name="Text 21"/>
          <p:cNvSpPr txBox="1"/>
          <p:nvPr/>
        </p:nvSpPr>
        <p:spPr>
          <a:xfrm>
            <a:off x="6382512" y="4645152"/>
            <a:ext cx="1828800" cy="365760"/>
          </a:xfrm>
          <a:prstGeom prst="rect">
            <a:avLst/>
          </a:prstGeom>
          <a:noFill/>
          <a:ln/>
        </p:spPr>
        <p:txBody>
          <a:bodyPr wrap="square" lIns="0" tIns="0" rIns="0" bIns="0" rtlCol="0" anchor="ctr"/>
          <a:lstStyle/>
          <a:p>
            <a:pPr algn="ctr" indent="0" marL="0">
              <a:buNone/>
            </a:pPr>
            <a:r>
              <a:rPr lang="en-US" sz="1200" b="1" dirty="0">
                <a:solidFill>
                  <a:schemeClr val="tx2"/>
                </a:solidFill>
              </a:rPr>
              <a:t>high = less liquid</a:t>
            </a:r>
            <a:endParaRPr lang="en-US" sz="1200" dirty="0"/>
          </a:p>
        </p:txBody>
      </p:sp>
      <p:sp>
        <p:nvSpPr>
          <p:cNvPr id="25" name="proxy group 4"/>
          <p:cNvSpPr/>
          <p:nvPr/>
        </p:nvSpPr>
        <p:spPr>
          <a:xfrm>
            <a:off x="8997696" y="2194560"/>
            <a:ext cx="2615184" cy="3017520"/>
          </a:xfrm>
          <a:prstGeom prst="roundRect">
            <a:avLst>
              <a:gd name="adj" fmla="val 3497"/>
            </a:avLst>
          </a:prstGeom>
          <a:solidFill>
            <a:schemeClr val="bg2"/>
          </a:solidFill>
          <a:ln/>
        </p:spPr>
      </p:sp>
      <p:sp>
        <p:nvSpPr>
          <p:cNvPr id="26" name="Text 23"/>
          <p:cNvSpPr txBox="1"/>
          <p:nvPr/>
        </p:nvSpPr>
        <p:spPr>
          <a:xfrm>
            <a:off x="9198864" y="2359152"/>
            <a:ext cx="224028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HIGH–LOW RANGE</a:t>
            </a:r>
            <a:endParaRPr lang="en-US" sz="1100" dirty="0"/>
          </a:p>
        </p:txBody>
      </p:sp>
      <p:sp>
        <p:nvSpPr>
          <p:cNvPr id="27" name="Text 24"/>
          <p:cNvSpPr txBox="1"/>
          <p:nvPr/>
        </p:nvSpPr>
        <p:spPr>
          <a:xfrm>
            <a:off x="9198864" y="2697480"/>
            <a:ext cx="2240280" cy="457200"/>
          </a:xfrm>
          <a:prstGeom prst="rect">
            <a:avLst/>
          </a:prstGeom>
          <a:noFill/>
          <a:ln/>
        </p:spPr>
        <p:txBody>
          <a:bodyPr wrap="square" lIns="0" tIns="0" rIns="0" bIns="0" rtlCol="0" anchor="t"/>
          <a:lstStyle/>
          <a:p>
            <a:pPr indent="0" marL="0">
              <a:buNone/>
            </a:pPr>
            <a:r>
              <a:rPr lang="en-US" sz="2100" b="1" dirty="0">
                <a:solidFill>
                  <a:schemeClr val="tx2"/>
                </a:solidFill>
              </a:rPr>
              <a:t>CS, AR</a:t>
            </a:r>
            <a:endParaRPr lang="en-US" sz="2100" dirty="0"/>
          </a:p>
        </p:txBody>
      </p:sp>
      <p:sp>
        <p:nvSpPr>
          <p:cNvPr id="28" name="Text 25"/>
          <p:cNvSpPr txBox="1"/>
          <p:nvPr/>
        </p:nvSpPr>
        <p:spPr>
          <a:xfrm>
            <a:off x="9198864" y="3246120"/>
            <a:ext cx="2240280" cy="1280160"/>
          </a:xfrm>
          <a:prstGeom prst="rect">
            <a:avLst/>
          </a:prstGeom>
          <a:noFill/>
          <a:ln/>
        </p:spPr>
        <p:txBody>
          <a:bodyPr wrap="square" lIns="0" tIns="0" rIns="0" bIns="0" rtlCol="0" anchor="t"/>
          <a:lstStyle/>
          <a:p>
            <a:pPr indent="0" marL="0">
              <a:buNone/>
            </a:pPr>
            <a:r>
              <a:rPr lang="en-US" sz="1400" dirty="0">
                <a:solidFill>
                  <a:schemeClr val="tx1"/>
                </a:solidFill>
              </a:rPr>
              <a:t>A minute's high, low and close contain about half a spread (Corwin–Schultz, Abdi–Ranaldo).</a:t>
            </a:r>
            <a:endParaRPr lang="en-US" sz="1400" dirty="0"/>
          </a:p>
        </p:txBody>
      </p:sp>
      <p:sp>
        <p:nvSpPr>
          <p:cNvPr id="29" name="orientation chip 4"/>
          <p:cNvSpPr/>
          <p:nvPr/>
        </p:nvSpPr>
        <p:spPr>
          <a:xfrm>
            <a:off x="9198864" y="4645152"/>
            <a:ext cx="1828800" cy="365760"/>
          </a:xfrm>
          <a:prstGeom prst="roundRect">
            <a:avLst>
              <a:gd name="adj" fmla="val 25000"/>
            </a:avLst>
          </a:prstGeom>
          <a:solidFill>
            <a:schemeClr val="accent2"/>
          </a:solidFill>
          <a:ln/>
        </p:spPr>
      </p:sp>
      <p:sp>
        <p:nvSpPr>
          <p:cNvPr id="30" name="Text 27"/>
          <p:cNvSpPr txBox="1"/>
          <p:nvPr/>
        </p:nvSpPr>
        <p:spPr>
          <a:xfrm>
            <a:off x="9198864" y="4645152"/>
            <a:ext cx="1828800" cy="365760"/>
          </a:xfrm>
          <a:prstGeom prst="rect">
            <a:avLst/>
          </a:prstGeom>
          <a:noFill/>
          <a:ln/>
        </p:spPr>
        <p:txBody>
          <a:bodyPr wrap="square" lIns="0" tIns="0" rIns="0" bIns="0" rtlCol="0" anchor="ctr"/>
          <a:lstStyle/>
          <a:p>
            <a:pPr algn="ctr" indent="0" marL="0">
              <a:buNone/>
            </a:pPr>
            <a:r>
              <a:rPr lang="en-US" sz="1200" b="1" dirty="0">
                <a:solidFill>
                  <a:schemeClr val="tx2"/>
                </a:solidFill>
              </a:rPr>
              <a:t>high = less liquid</a:t>
            </a:r>
            <a:endParaRPr lang="en-US" sz="1200" dirty="0"/>
          </a:p>
        </p:txBody>
      </p:sp>
      <p:sp>
        <p:nvSpPr>
          <p:cNvPr id="31" name="units callout"/>
          <p:cNvSpPr/>
          <p:nvPr/>
        </p:nvSpPr>
        <p:spPr>
          <a:xfrm>
            <a:off x="548640" y="5440680"/>
            <a:ext cx="11064240" cy="731520"/>
          </a:xfrm>
          <a:prstGeom prst="roundRect">
            <a:avLst>
              <a:gd name="adj" fmla="val 12500"/>
            </a:avLst>
          </a:prstGeom>
          <a:solidFill>
            <a:schemeClr val="tx2"/>
          </a:solidFill>
          <a:ln/>
        </p:spPr>
      </p:sp>
      <p:sp>
        <p:nvSpPr>
          <p:cNvPr id="32" name="Text 29"/>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400" b="1" dirty="0">
                <a:solidFill>
                  <a:schemeClr val="accent3"/>
                </a:solidFill>
              </a:rPr>
              <a:t>Not interchangeable: </a:t>
            </a:r>
            <a:pPr indent="0" marL="0">
              <a:buNone/>
            </a:pPr>
            <a:r>
              <a:rPr lang="en-US" sz="1400" dirty="0">
                <a:solidFill>
                  <a:schemeClr val="bg1"/>
                </a:solidFill>
              </a:rPr>
              <a:t>AR, CS and Roll r are in bp like the quoted spread; Amihud is per USD, Kyle in (1/USD)</a:t>
            </a:r>
            <a:pPr indent="0" marL="0">
              <a:buNone/>
            </a:pPr>
            <a:r>
              <a:rPr lang="en-US" sz="1400" baseline="30000" dirty="0">
                <a:solidFill>
                  <a:schemeClr val="bg1"/>
                </a:solidFill>
              </a:rPr>
              <a:t>1/3</a:t>
            </a:r>
            <a:pPr indent="0" marL="0">
              <a:buNone/>
            </a:pPr>
            <a:r>
              <a:rPr lang="en-US" sz="1400" dirty="0">
                <a:solidFill>
                  <a:schemeClr val="bg1"/>
                </a:solidFill>
              </a:rPr>
              <a:t>.</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PROXIES · PART 2</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How we computed them, and how we know the code is right</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One value per market-hour, from minutes with trades only.</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AR, CS and Roll r in bp, like QS; Amihud and Kyle depend on USD units. Notebook Sections 4.1–4.6.</a:t>
            </a:r>
            <a:endParaRPr lang="en-US" sz="1000" dirty="0"/>
          </a:p>
        </p:txBody>
      </p:sp>
      <p:sp>
        <p:nvSpPr>
          <p:cNvPr id="7" name="Text 4"/>
          <p:cNvSpPr txBox="1"/>
          <p:nvPr/>
        </p:nvSpPr>
        <p:spPr>
          <a:xfrm>
            <a:off x="548640" y="2194560"/>
            <a:ext cx="3657600" cy="320040"/>
          </a:xfrm>
          <a:prstGeom prst="rect">
            <a:avLst/>
          </a:prstGeom>
          <a:noFill/>
          <a:ln/>
        </p:spPr>
        <p:txBody>
          <a:bodyPr wrap="square" lIns="0" tIns="0" rIns="0" bIns="0" rtlCol="0" anchor="t"/>
          <a:lstStyle/>
          <a:p>
            <a:pPr indent="0" marL="0">
              <a:buNone/>
            </a:pPr>
            <a:r>
              <a:rPr lang="en-US" sz="1500" b="1" dirty="0">
                <a:solidFill>
                  <a:schemeClr val="tx2"/>
                </a:solidFill>
              </a:rPr>
              <a:t>Steps</a:t>
            </a:r>
            <a:endParaRPr lang="en-US" sz="1500" dirty="0"/>
          </a:p>
        </p:txBody>
      </p:sp>
      <p:sp>
        <p:nvSpPr>
          <p:cNvPr id="8" name="step 1"/>
          <p:cNvSpPr/>
          <p:nvPr/>
        </p:nvSpPr>
        <p:spPr>
          <a:xfrm>
            <a:off x="548640" y="2706624"/>
            <a:ext cx="457200" cy="457200"/>
          </a:xfrm>
          <a:prstGeom prst="ellipse">
            <a:avLst/>
          </a:prstGeom>
          <a:solidFill>
            <a:schemeClr val="tx2"/>
          </a:solidFill>
          <a:ln/>
        </p:spPr>
      </p:sp>
      <p:sp>
        <p:nvSpPr>
          <p:cNvPr id="9" name="Text 6"/>
          <p:cNvSpPr txBox="1"/>
          <p:nvPr/>
        </p:nvSpPr>
        <p:spPr>
          <a:xfrm>
            <a:off x="548640" y="2706624"/>
            <a:ext cx="457200" cy="457200"/>
          </a:xfrm>
          <a:prstGeom prst="rect">
            <a:avLst/>
          </a:prstGeom>
          <a:noFill/>
          <a:ln/>
        </p:spPr>
        <p:txBody>
          <a:bodyPr wrap="square" lIns="0" tIns="0" rIns="0" bIns="0" rtlCol="0" anchor="ctr"/>
          <a:lstStyle/>
          <a:p>
            <a:pPr algn="ctr" indent="0" marL="0">
              <a:buNone/>
            </a:pPr>
            <a:r>
              <a:rPr lang="en-US" sz="1600" b="1" dirty="0">
                <a:solidFill>
                  <a:schemeClr val="accent3"/>
                </a:solidFill>
              </a:rPr>
              <a:t>1</a:t>
            </a:r>
            <a:endParaRPr lang="en-US" sz="1600" dirty="0"/>
          </a:p>
        </p:txBody>
      </p:sp>
      <p:sp>
        <p:nvSpPr>
          <p:cNvPr id="10" name="Text 7"/>
          <p:cNvSpPr txBox="1"/>
          <p:nvPr/>
        </p:nvSpPr>
        <p:spPr>
          <a:xfrm>
            <a:off x="1188720" y="2633472"/>
            <a:ext cx="4023360" cy="777240"/>
          </a:xfrm>
          <a:prstGeom prst="rect">
            <a:avLst/>
          </a:prstGeom>
          <a:noFill/>
          <a:ln/>
        </p:spPr>
        <p:txBody>
          <a:bodyPr wrap="square" lIns="0" tIns="0" rIns="0" bIns="0" rtlCol="0" anchor="ctr"/>
          <a:lstStyle/>
          <a:p>
            <a:pPr indent="0" marL="0">
              <a:buNone/>
            </a:pPr>
            <a:r>
              <a:rPr lang="en-US" sz="1400" dirty="0">
                <a:solidFill>
                  <a:schemeClr val="tx1"/>
                </a:solidFill>
              </a:rPr>
              <a:t>60,480 one-minute bars: 42 market-days × 1,440 minutes</a:t>
            </a:r>
            <a:endParaRPr lang="en-US" sz="1400" dirty="0"/>
          </a:p>
        </p:txBody>
      </p:sp>
      <p:sp>
        <p:nvSpPr>
          <p:cNvPr id="11" name="step 2"/>
          <p:cNvSpPr/>
          <p:nvPr/>
        </p:nvSpPr>
        <p:spPr>
          <a:xfrm>
            <a:off x="548640" y="3602736"/>
            <a:ext cx="457200" cy="457200"/>
          </a:xfrm>
          <a:prstGeom prst="ellipse">
            <a:avLst/>
          </a:prstGeom>
          <a:solidFill>
            <a:schemeClr val="tx2"/>
          </a:solidFill>
          <a:ln/>
        </p:spPr>
      </p:sp>
      <p:sp>
        <p:nvSpPr>
          <p:cNvPr id="12" name="Text 9"/>
          <p:cNvSpPr txBox="1"/>
          <p:nvPr/>
        </p:nvSpPr>
        <p:spPr>
          <a:xfrm>
            <a:off x="548640" y="3602736"/>
            <a:ext cx="457200" cy="457200"/>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3" name="Text 10"/>
          <p:cNvSpPr txBox="1"/>
          <p:nvPr/>
        </p:nvSpPr>
        <p:spPr>
          <a:xfrm>
            <a:off x="1188720" y="3529584"/>
            <a:ext cx="4023360" cy="777240"/>
          </a:xfrm>
          <a:prstGeom prst="rect">
            <a:avLst/>
          </a:prstGeom>
          <a:noFill/>
          <a:ln/>
        </p:spPr>
        <p:txBody>
          <a:bodyPr wrap="square" lIns="0" tIns="0" rIns="0" bIns="0" rtlCol="0" anchor="ctr"/>
          <a:lstStyle/>
          <a:p>
            <a:pPr indent="0" marL="0">
              <a:buNone/>
            </a:pPr>
            <a:r>
              <a:rPr lang="en-US" sz="1400" dirty="0">
                <a:solidFill>
                  <a:schemeClr val="tx1"/>
                </a:solidFill>
              </a:rPr>
              <a:t>One value per UTC hour, using only minutes with trades</a:t>
            </a:r>
            <a:endParaRPr lang="en-US" sz="1400" dirty="0"/>
          </a:p>
        </p:txBody>
      </p:sp>
      <p:sp>
        <p:nvSpPr>
          <p:cNvPr id="14" name="step 3"/>
          <p:cNvSpPr/>
          <p:nvPr/>
        </p:nvSpPr>
        <p:spPr>
          <a:xfrm>
            <a:off x="548640" y="4498848"/>
            <a:ext cx="457200" cy="457200"/>
          </a:xfrm>
          <a:prstGeom prst="ellipse">
            <a:avLst/>
          </a:prstGeom>
          <a:solidFill>
            <a:schemeClr val="tx2"/>
          </a:solidFill>
          <a:ln/>
        </p:spPr>
      </p:sp>
      <p:sp>
        <p:nvSpPr>
          <p:cNvPr id="15" name="Text 12"/>
          <p:cNvSpPr txBox="1"/>
          <p:nvPr/>
        </p:nvSpPr>
        <p:spPr>
          <a:xfrm>
            <a:off x="548640" y="4498848"/>
            <a:ext cx="457200" cy="457200"/>
          </a:xfrm>
          <a:prstGeom prst="rect">
            <a:avLst/>
          </a:prstGeom>
          <a:noFill/>
          <a:ln/>
        </p:spPr>
        <p:txBody>
          <a:bodyPr wrap="square" lIns="0" tIns="0" rIns="0" bIns="0" rtlCol="0" anchor="ctr"/>
          <a:lstStyle/>
          <a:p>
            <a:pPr algn="ctr" indent="0" marL="0">
              <a:buNone/>
            </a:pPr>
            <a:r>
              <a:rPr lang="en-US" sz="1600" b="1" dirty="0">
                <a:solidFill>
                  <a:schemeClr val="accent3"/>
                </a:solidFill>
              </a:rPr>
              <a:t>3</a:t>
            </a:r>
            <a:endParaRPr lang="en-US" sz="1600" dirty="0"/>
          </a:p>
        </p:txBody>
      </p:sp>
      <p:sp>
        <p:nvSpPr>
          <p:cNvPr id="16" name="Text 13"/>
          <p:cNvSpPr txBox="1"/>
          <p:nvPr/>
        </p:nvSpPr>
        <p:spPr>
          <a:xfrm>
            <a:off x="1188720" y="4425696"/>
            <a:ext cx="4023360" cy="777240"/>
          </a:xfrm>
          <a:prstGeom prst="rect">
            <a:avLst/>
          </a:prstGeom>
          <a:noFill/>
          <a:ln/>
        </p:spPr>
        <p:txBody>
          <a:bodyPr wrap="square" lIns="0" tIns="0" rIns="0" bIns="0" rtlCol="0" anchor="ctr"/>
          <a:lstStyle/>
          <a:p>
            <a:pPr indent="0" marL="0">
              <a:buNone/>
            </a:pPr>
            <a:r>
              <a:rPr lang="en-US" sz="1400" dirty="0">
                <a:solidFill>
                  <a:schemeClr val="tx1"/>
                </a:solidFill>
              </a:rPr>
              <a:t>Keep the hour if ≥ 48 of 60 minutes have trades: 807 of 1,008</a:t>
            </a:r>
            <a:endParaRPr lang="en-US" sz="1400" dirty="0"/>
          </a:p>
        </p:txBody>
      </p:sp>
      <p:sp>
        <p:nvSpPr>
          <p:cNvPr id="17" name="step 4"/>
          <p:cNvSpPr/>
          <p:nvPr/>
        </p:nvSpPr>
        <p:spPr>
          <a:xfrm>
            <a:off x="548640" y="5394960"/>
            <a:ext cx="457200" cy="457200"/>
          </a:xfrm>
          <a:prstGeom prst="ellipse">
            <a:avLst/>
          </a:prstGeom>
          <a:solidFill>
            <a:schemeClr val="tx2"/>
          </a:solidFill>
          <a:ln/>
        </p:spPr>
      </p:sp>
      <p:sp>
        <p:nvSpPr>
          <p:cNvPr id="18" name="Text 15"/>
          <p:cNvSpPr txBox="1"/>
          <p:nvPr/>
        </p:nvSpPr>
        <p:spPr>
          <a:xfrm>
            <a:off x="548640" y="5394960"/>
            <a:ext cx="457200" cy="457200"/>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9" name="Text 16"/>
          <p:cNvSpPr txBox="1"/>
          <p:nvPr/>
        </p:nvSpPr>
        <p:spPr>
          <a:xfrm>
            <a:off x="1188720" y="5321808"/>
            <a:ext cx="4023360" cy="777240"/>
          </a:xfrm>
          <a:prstGeom prst="rect">
            <a:avLst/>
          </a:prstGeom>
          <a:noFill/>
          <a:ln/>
        </p:spPr>
        <p:txBody>
          <a:bodyPr wrap="square" lIns="0" tIns="0" rIns="0" bIns="0" rtlCol="0" anchor="ctr"/>
          <a:lstStyle/>
          <a:p>
            <a:pPr indent="0" marL="0">
              <a:buNone/>
            </a:pPr>
            <a:r>
              <a:rPr lang="en-US" sz="1400" dirty="0">
                <a:solidFill>
                  <a:schemeClr val="tx1"/>
                </a:solidFill>
              </a:rPr>
              <a:t>Pairs only from neighbouring minutes with trades, never across a gap or an hour</a:t>
            </a:r>
            <a:endParaRPr lang="en-US" sz="1400" dirty="0"/>
          </a:p>
        </p:txBody>
      </p:sp>
      <p:sp>
        <p:nvSpPr>
          <p:cNvPr id="20" name="Text 17"/>
          <p:cNvSpPr txBox="1"/>
          <p:nvPr/>
        </p:nvSpPr>
        <p:spPr>
          <a:xfrm>
            <a:off x="5577840" y="2194560"/>
            <a:ext cx="3657600" cy="320040"/>
          </a:xfrm>
          <a:prstGeom prst="rect">
            <a:avLst/>
          </a:prstGeom>
          <a:noFill/>
          <a:ln/>
        </p:spPr>
        <p:txBody>
          <a:bodyPr wrap="square" lIns="0" tIns="0" rIns="0" bIns="0" rtlCol="0" anchor="t"/>
          <a:lstStyle/>
          <a:p>
            <a:pPr indent="0" marL="0">
              <a:buNone/>
            </a:pPr>
            <a:r>
              <a:rPr lang="en-US" sz="1500" b="1" dirty="0">
                <a:solidFill>
                  <a:schemeClr val="tx2"/>
                </a:solidFill>
              </a:rPr>
              <a:t>Checks</a:t>
            </a:r>
            <a:endParaRPr lang="en-US" sz="1500" dirty="0"/>
          </a:p>
        </p:txBody>
      </p:sp>
      <p:sp>
        <p:nvSpPr>
          <p:cNvPr id="21" name="check 1"/>
          <p:cNvSpPr/>
          <p:nvPr/>
        </p:nvSpPr>
        <p:spPr>
          <a:xfrm>
            <a:off x="5577840" y="2633472"/>
            <a:ext cx="4069080" cy="786384"/>
          </a:xfrm>
          <a:prstGeom prst="roundRect">
            <a:avLst>
              <a:gd name="adj" fmla="val 11628"/>
            </a:avLst>
          </a:prstGeom>
          <a:solidFill>
            <a:schemeClr val="bg2"/>
          </a:solidFill>
          <a:ln/>
        </p:spPr>
      </p:sp>
      <p:sp>
        <p:nvSpPr>
          <p:cNvPr id="22" name="check marker 1"/>
          <p:cNvSpPr/>
          <p:nvPr/>
        </p:nvSpPr>
        <p:spPr>
          <a:xfrm>
            <a:off x="5742432" y="2935224"/>
            <a:ext cx="182880" cy="182880"/>
          </a:xfrm>
          <a:prstGeom prst="ellipse">
            <a:avLst/>
          </a:prstGeom>
          <a:solidFill>
            <a:schemeClr val="accent3"/>
          </a:solidFill>
          <a:ln/>
        </p:spPr>
      </p:sp>
      <p:sp>
        <p:nvSpPr>
          <p:cNvPr id="23" name="Text 20"/>
          <p:cNvSpPr txBox="1"/>
          <p:nvPr/>
        </p:nvSpPr>
        <p:spPr>
          <a:xfrm>
            <a:off x="6053328" y="2688336"/>
            <a:ext cx="3474720" cy="676656"/>
          </a:xfrm>
          <a:prstGeom prst="rect">
            <a:avLst/>
          </a:prstGeom>
          <a:noFill/>
          <a:ln/>
        </p:spPr>
        <p:txBody>
          <a:bodyPr wrap="square" lIns="0" tIns="0" rIns="0" bIns="0" rtlCol="0" anchor="ctr"/>
          <a:lstStyle/>
          <a:p>
            <a:pPr indent="0" marL="0">
              <a:buNone/>
            </a:pPr>
            <a:r>
              <a:rPr lang="en-US" sz="1300" b="1" dirty="0">
                <a:solidFill>
                  <a:schemeClr val="tx1"/>
                </a:solidFill>
              </a:rPr>
              <a:t>Hand example, 4 minutes: </a:t>
            </a:r>
            <a:pPr indent="0" marL="0">
              <a:buNone/>
            </a:pPr>
            <a:r>
              <a:rPr lang="en-US" sz="1300" dirty="0">
                <a:solidFill>
                  <a:schemeClr val="tx1"/>
                </a:solidFill>
              </a:rPr>
              <a:t>TX 2.25, $Vol 1,250, Roll p 2.83, as on paper</a:t>
            </a:r>
            <a:endParaRPr lang="en-US" sz="1300" dirty="0"/>
          </a:p>
        </p:txBody>
      </p:sp>
      <p:sp>
        <p:nvSpPr>
          <p:cNvPr id="24" name="check 2"/>
          <p:cNvSpPr/>
          <p:nvPr/>
        </p:nvSpPr>
        <p:spPr>
          <a:xfrm>
            <a:off x="5577840" y="3529584"/>
            <a:ext cx="4069080" cy="786384"/>
          </a:xfrm>
          <a:prstGeom prst="roundRect">
            <a:avLst>
              <a:gd name="adj" fmla="val 11628"/>
            </a:avLst>
          </a:prstGeom>
          <a:solidFill>
            <a:schemeClr val="bg2"/>
          </a:solidFill>
          <a:ln/>
        </p:spPr>
      </p:sp>
      <p:sp>
        <p:nvSpPr>
          <p:cNvPr id="25" name="check marker 2"/>
          <p:cNvSpPr/>
          <p:nvPr/>
        </p:nvSpPr>
        <p:spPr>
          <a:xfrm>
            <a:off x="5742432" y="3831336"/>
            <a:ext cx="182880" cy="182880"/>
          </a:xfrm>
          <a:prstGeom prst="ellipse">
            <a:avLst/>
          </a:prstGeom>
          <a:solidFill>
            <a:schemeClr val="accent3"/>
          </a:solidFill>
          <a:ln/>
        </p:spPr>
      </p:sp>
      <p:sp>
        <p:nvSpPr>
          <p:cNvPr id="26" name="Text 23"/>
          <p:cNvSpPr txBox="1"/>
          <p:nvPr/>
        </p:nvSpPr>
        <p:spPr>
          <a:xfrm>
            <a:off x="6053328" y="3584448"/>
            <a:ext cx="3474720" cy="676656"/>
          </a:xfrm>
          <a:prstGeom prst="rect">
            <a:avLst/>
          </a:prstGeom>
          <a:noFill/>
          <a:ln/>
        </p:spPr>
        <p:txBody>
          <a:bodyPr wrap="square" lIns="0" tIns="0" rIns="0" bIns="0" rtlCol="0" anchor="ctr"/>
          <a:lstStyle/>
          <a:p>
            <a:pPr indent="0" marL="0">
              <a:buNone/>
            </a:pPr>
            <a:r>
              <a:rPr lang="en-US" sz="1300" b="1" dirty="0">
                <a:solidFill>
                  <a:schemeClr val="tx1"/>
                </a:solidFill>
              </a:rPr>
              <a:t>Flat price, true spread 5 bp: </a:t>
            </a:r>
            <a:pPr indent="0" marL="0">
              <a:buNone/>
            </a:pPr>
            <a:r>
              <a:rPr lang="en-US" sz="1300" dirty="0">
                <a:solidFill>
                  <a:schemeClr val="tx1"/>
                </a:solidFill>
              </a:rPr>
              <a:t>AR 5.00, CS 5.00, Roll 5.02</a:t>
            </a:r>
            <a:endParaRPr lang="en-US" sz="1300" dirty="0"/>
          </a:p>
        </p:txBody>
      </p:sp>
      <p:sp>
        <p:nvSpPr>
          <p:cNvPr id="27" name="check 3"/>
          <p:cNvSpPr/>
          <p:nvPr/>
        </p:nvSpPr>
        <p:spPr>
          <a:xfrm>
            <a:off x="5577840" y="4425696"/>
            <a:ext cx="4069080" cy="786384"/>
          </a:xfrm>
          <a:prstGeom prst="roundRect">
            <a:avLst>
              <a:gd name="adj" fmla="val 11628"/>
            </a:avLst>
          </a:prstGeom>
          <a:solidFill>
            <a:schemeClr val="bg2"/>
          </a:solidFill>
          <a:ln/>
        </p:spPr>
      </p:sp>
      <p:sp>
        <p:nvSpPr>
          <p:cNvPr id="28" name="check marker 3"/>
          <p:cNvSpPr/>
          <p:nvPr/>
        </p:nvSpPr>
        <p:spPr>
          <a:xfrm>
            <a:off x="5742432" y="4727448"/>
            <a:ext cx="182880" cy="182880"/>
          </a:xfrm>
          <a:prstGeom prst="ellipse">
            <a:avLst/>
          </a:prstGeom>
          <a:solidFill>
            <a:schemeClr val="accent3"/>
          </a:solidFill>
          <a:ln/>
        </p:spPr>
      </p:sp>
      <p:sp>
        <p:nvSpPr>
          <p:cNvPr id="29" name="Text 26"/>
          <p:cNvSpPr txBox="1"/>
          <p:nvPr/>
        </p:nvSpPr>
        <p:spPr>
          <a:xfrm>
            <a:off x="6053328" y="4480560"/>
            <a:ext cx="3474720" cy="676656"/>
          </a:xfrm>
          <a:prstGeom prst="rect">
            <a:avLst/>
          </a:prstGeom>
          <a:noFill/>
          <a:ln/>
        </p:spPr>
        <p:txBody>
          <a:bodyPr wrap="square" lIns="0" tIns="0" rIns="0" bIns="0" rtlCol="0" anchor="ctr"/>
          <a:lstStyle/>
          <a:p>
            <a:pPr indent="0" marL="0">
              <a:buNone/>
            </a:pPr>
            <a:r>
              <a:rPr lang="en-US" sz="1300" b="1" dirty="0">
                <a:solidFill>
                  <a:schemeClr val="tx1"/>
                </a:solidFill>
              </a:rPr>
              <a:t>Totals: </a:t>
            </a:r>
            <a:pPr indent="0" marL="0">
              <a:buNone/>
            </a:pPr>
            <a:r>
              <a:rPr lang="en-US" sz="1300" dirty="0">
                <a:solidFill>
                  <a:schemeClr val="tx1"/>
                </a:solidFill>
              </a:rPr>
              <a:t>TX and volume add back up to the hourly totals exactly</a:t>
            </a:r>
            <a:endParaRPr lang="en-US" sz="1300" dirty="0"/>
          </a:p>
        </p:txBody>
      </p:sp>
      <p:sp>
        <p:nvSpPr>
          <p:cNvPr id="30" name="check 4"/>
          <p:cNvSpPr/>
          <p:nvPr/>
        </p:nvSpPr>
        <p:spPr>
          <a:xfrm>
            <a:off x="5577840" y="5321808"/>
            <a:ext cx="4069080" cy="786384"/>
          </a:xfrm>
          <a:prstGeom prst="roundRect">
            <a:avLst>
              <a:gd name="adj" fmla="val 11628"/>
            </a:avLst>
          </a:prstGeom>
          <a:solidFill>
            <a:schemeClr val="bg2"/>
          </a:solidFill>
          <a:ln/>
        </p:spPr>
      </p:sp>
      <p:sp>
        <p:nvSpPr>
          <p:cNvPr id="31" name="check marker 4"/>
          <p:cNvSpPr/>
          <p:nvPr/>
        </p:nvSpPr>
        <p:spPr>
          <a:xfrm>
            <a:off x="5742432" y="5623560"/>
            <a:ext cx="182880" cy="182880"/>
          </a:xfrm>
          <a:prstGeom prst="ellipse">
            <a:avLst/>
          </a:prstGeom>
          <a:solidFill>
            <a:schemeClr val="accent3"/>
          </a:solidFill>
          <a:ln/>
        </p:spPr>
      </p:sp>
      <p:sp>
        <p:nvSpPr>
          <p:cNvPr id="32" name="Text 29"/>
          <p:cNvSpPr txBox="1"/>
          <p:nvPr/>
        </p:nvSpPr>
        <p:spPr>
          <a:xfrm>
            <a:off x="6053328" y="5376672"/>
            <a:ext cx="3474720" cy="676656"/>
          </a:xfrm>
          <a:prstGeom prst="rect">
            <a:avLst/>
          </a:prstGeom>
          <a:noFill/>
          <a:ln/>
        </p:spPr>
        <p:txBody>
          <a:bodyPr wrap="square" lIns="0" tIns="0" rIns="0" bIns="0" rtlCol="0" anchor="ctr"/>
          <a:lstStyle/>
          <a:p>
            <a:pPr indent="0" marL="0">
              <a:buNone/>
            </a:pPr>
            <a:r>
              <a:rPr lang="en-US" sz="1300" b="1" dirty="0">
                <a:solidFill>
                  <a:schemeClr val="tx1"/>
                </a:solidFill>
              </a:rPr>
              <a:t>Recomputation: </a:t>
            </a:r>
            <a:pPr indent="0" marL="0">
              <a:buNone/>
            </a:pPr>
            <a:r>
              <a:rPr lang="en-US" sz="1300" dirty="0">
                <a:solidFill>
                  <a:schemeClr val="tx1"/>
                </a:solidFill>
              </a:rPr>
              <a:t>proxies match the saved file (max. relative difference 7.7·10⁻¹²)</a:t>
            </a:r>
            <a:endParaRPr lang="en-US" sz="1300" dirty="0"/>
          </a:p>
        </p:txBody>
      </p:sp>
      <p:pic>
        <p:nvPicPr>
          <p:cNvPr id="33" name="Figure inspecting with a large magnifying glass" descr="Figure inspecting with a large magnifying glass">    </p:cNvPr>
          <p:cNvPicPr>
            <a:picLocks noChangeAspect="1"/>
          </p:cNvPicPr>
          <p:nvPr/>
        </p:nvPicPr>
        <p:blipFill>
          <a:blip r:embed="rId1"/>
          <a:stretch>
            <a:fillRect/>
          </a:stretch>
        </p:blipFill>
        <p:spPr>
          <a:xfrm>
            <a:off x="9875520" y="2651760"/>
            <a:ext cx="1783080" cy="1783080"/>
          </a:xfrm>
          <a:prstGeom prst="rect">
            <a:avLst/>
          </a:prstGeom>
        </p:spPr>
      </p:pic>
      <p:sp>
        <p:nvSpPr>
          <p:cNvPr id="34" name="Text 30"/>
          <p:cNvSpPr txBox="1"/>
          <p:nvPr/>
        </p:nvSpPr>
        <p:spPr>
          <a:xfrm>
            <a:off x="9875520" y="4572000"/>
            <a:ext cx="1783080" cy="822960"/>
          </a:xfrm>
          <a:prstGeom prst="rect">
            <a:avLst/>
          </a:prstGeom>
          <a:noFill/>
          <a:ln/>
        </p:spPr>
        <p:txBody>
          <a:bodyPr wrap="square" lIns="0" tIns="0" rIns="0" bIns="0" rtlCol="0" anchor="t"/>
          <a:lstStyle/>
          <a:p>
            <a:pPr indent="0" marL="0">
              <a:buNone/>
            </a:pPr>
            <a:r>
              <a:rPr lang="en-US" sz="1200" dirty="0">
                <a:solidFill>
                  <a:schemeClr val="accent4"/>
                </a:solidFill>
              </a:rPr>
              <a:t>Every proxy is checked before any result is read.</a:t>
            </a:r>
            <a:endParaRPr lang="en-US" sz="12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PROXIES · PART 2</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AR gets the timing right, but overstates small spreads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Within one minute, the high–low range is mostly price movement, not the spread.</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Medians over valid hours (notebook Sections 4.8–4.9). Simulation: random-walk price, trades at bid or ask, inputs taken from our own medians.</a:t>
            </a:r>
            <a:endParaRPr lang="en-US" sz="1000" dirty="0"/>
          </a:p>
        </p:txBody>
      </p:sp>
      <p:sp>
        <p:nvSpPr>
          <p:cNvPr id="7" name="level comparison card"/>
          <p:cNvSpPr/>
          <p:nvPr/>
        </p:nvSpPr>
        <p:spPr>
          <a:xfrm>
            <a:off x="548640" y="2194560"/>
            <a:ext cx="5120640" cy="1691640"/>
          </a:xfrm>
          <a:prstGeom prst="roundRect">
            <a:avLst>
              <a:gd name="adj" fmla="val 5405"/>
            </a:avLst>
          </a:prstGeom>
          <a:solidFill>
            <a:schemeClr val="bg2"/>
          </a:solidFill>
          <a:ln/>
        </p:spPr>
      </p:sp>
      <p:sp>
        <p:nvSpPr>
          <p:cNvPr id="8" name="Text 5"/>
          <p:cNvSpPr txBox="1"/>
          <p:nvPr/>
        </p:nvSpPr>
        <p:spPr>
          <a:xfrm>
            <a:off x="777240" y="2304288"/>
            <a:ext cx="466344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BITFINEX BTC · 164 HOURS · MEDIANS</a:t>
            </a:r>
            <a:endParaRPr lang="en-US" sz="1100" dirty="0"/>
          </a:p>
        </p:txBody>
      </p:sp>
      <p:sp>
        <p:nvSpPr>
          <p:cNvPr id="9" name="Text 6"/>
          <p:cNvSpPr txBox="1"/>
          <p:nvPr/>
        </p:nvSpPr>
        <p:spPr>
          <a:xfrm>
            <a:off x="777240" y="2651760"/>
            <a:ext cx="2011680" cy="548640"/>
          </a:xfrm>
          <a:prstGeom prst="rect">
            <a:avLst/>
          </a:prstGeom>
          <a:noFill/>
          <a:ln/>
        </p:spPr>
        <p:txBody>
          <a:bodyPr wrap="square" lIns="0" tIns="0" rIns="0" bIns="0" rtlCol="0" anchor="t"/>
          <a:lstStyle/>
          <a:p>
            <a:pPr indent="0" marL="0">
              <a:buNone/>
            </a:pPr>
            <a:r>
              <a:rPr lang="en-US" sz="3000" b="1" dirty="0">
                <a:solidFill>
                  <a:schemeClr val="tx2"/>
                </a:solidFill>
              </a:rPr>
              <a:t>0.52 bp</a:t>
            </a:r>
            <a:endParaRPr lang="en-US" sz="3000" dirty="0"/>
          </a:p>
        </p:txBody>
      </p:sp>
      <p:sp>
        <p:nvSpPr>
          <p:cNvPr id="10" name="Text 7"/>
          <p:cNvSpPr txBox="1"/>
          <p:nvPr/>
        </p:nvSpPr>
        <p:spPr>
          <a:xfrm>
            <a:off x="777240" y="3246120"/>
            <a:ext cx="2011680" cy="457200"/>
          </a:xfrm>
          <a:prstGeom prst="rect">
            <a:avLst/>
          </a:prstGeom>
          <a:noFill/>
          <a:ln/>
        </p:spPr>
        <p:txBody>
          <a:bodyPr wrap="square" lIns="0" tIns="0" rIns="0" bIns="0" rtlCol="0" anchor="t"/>
          <a:lstStyle/>
          <a:p>
            <a:pPr indent="0" marL="0">
              <a:buNone/>
            </a:pPr>
            <a:r>
              <a:rPr lang="en-US" sz="1300" dirty="0">
                <a:solidFill>
                  <a:schemeClr val="tx1"/>
                </a:solidFill>
              </a:rPr>
              <a:t>true quoted spread</a:t>
            </a:r>
            <a:endParaRPr lang="en-US" sz="1300" dirty="0"/>
          </a:p>
        </p:txBody>
      </p:sp>
      <p:sp>
        <p:nvSpPr>
          <p:cNvPr id="11" name="Text 8"/>
          <p:cNvSpPr txBox="1"/>
          <p:nvPr/>
        </p:nvSpPr>
        <p:spPr>
          <a:xfrm>
            <a:off x="2697480" y="2651760"/>
            <a:ext cx="548640" cy="548640"/>
          </a:xfrm>
          <a:prstGeom prst="rect">
            <a:avLst/>
          </a:prstGeom>
          <a:noFill/>
          <a:ln/>
        </p:spPr>
        <p:txBody>
          <a:bodyPr wrap="square" lIns="0" tIns="0" rIns="0" bIns="0" rtlCol="0" anchor="t"/>
          <a:lstStyle/>
          <a:p>
            <a:pPr algn="ctr" indent="0" marL="0">
              <a:buNone/>
            </a:pPr>
            <a:r>
              <a:rPr lang="en-US" sz="2800" dirty="0">
                <a:solidFill>
                  <a:schemeClr val="accent4"/>
                </a:solidFill>
              </a:rPr>
              <a:t>→</a:t>
            </a:r>
            <a:endParaRPr lang="en-US" sz="2800" dirty="0"/>
          </a:p>
        </p:txBody>
      </p:sp>
      <p:sp>
        <p:nvSpPr>
          <p:cNvPr id="12" name="Text 9"/>
          <p:cNvSpPr txBox="1"/>
          <p:nvPr/>
        </p:nvSpPr>
        <p:spPr>
          <a:xfrm>
            <a:off x="3291840" y="2651760"/>
            <a:ext cx="2194560" cy="548640"/>
          </a:xfrm>
          <a:prstGeom prst="rect">
            <a:avLst/>
          </a:prstGeom>
          <a:noFill/>
          <a:ln/>
        </p:spPr>
        <p:txBody>
          <a:bodyPr wrap="square" lIns="0" tIns="0" rIns="0" bIns="0" rtlCol="0" anchor="t"/>
          <a:lstStyle/>
          <a:p>
            <a:pPr indent="0" marL="0">
              <a:buNone/>
            </a:pPr>
            <a:r>
              <a:rPr lang="en-US" sz="3000" b="1" dirty="0">
                <a:solidFill>
                  <a:schemeClr val="accent6"/>
                </a:solidFill>
              </a:rPr>
              <a:t>1.73 bp</a:t>
            </a:r>
            <a:endParaRPr lang="en-US" sz="3000" dirty="0"/>
          </a:p>
        </p:txBody>
      </p:sp>
      <p:sp>
        <p:nvSpPr>
          <p:cNvPr id="13" name="Text 10"/>
          <p:cNvSpPr txBox="1"/>
          <p:nvPr/>
        </p:nvSpPr>
        <p:spPr>
          <a:xfrm>
            <a:off x="3291840" y="3246120"/>
            <a:ext cx="2286000" cy="457200"/>
          </a:xfrm>
          <a:prstGeom prst="rect">
            <a:avLst/>
          </a:prstGeom>
          <a:noFill/>
          <a:ln/>
        </p:spPr>
        <p:txBody>
          <a:bodyPr wrap="square" lIns="0" tIns="0" rIns="0" bIns="0" rtlCol="0" anchor="t"/>
          <a:lstStyle/>
          <a:p>
            <a:pPr indent="0" marL="0">
              <a:buNone/>
            </a:pPr>
            <a:r>
              <a:rPr lang="en-US" sz="1300" dirty="0">
                <a:solidFill>
                  <a:schemeClr val="tx1"/>
                </a:solidFill>
              </a:rPr>
              <a:t>AR estimate: more than 3×</a:t>
            </a:r>
            <a:endParaRPr lang="en-US" sz="1300" dirty="0"/>
          </a:p>
        </p:txBody>
      </p:sp>
      <p:sp>
        <p:nvSpPr>
          <p:cNvPr id="14" name="proxy fact 1"/>
          <p:cNvSpPr/>
          <p:nvPr/>
        </p:nvSpPr>
        <p:spPr>
          <a:xfrm>
            <a:off x="548640" y="4069080"/>
            <a:ext cx="5120640" cy="987552"/>
          </a:xfrm>
          <a:prstGeom prst="roundRect">
            <a:avLst>
              <a:gd name="adj" fmla="val 9259"/>
            </a:avLst>
          </a:prstGeom>
          <a:solidFill>
            <a:schemeClr val="bg2"/>
          </a:solidFill>
          <a:ln/>
        </p:spPr>
      </p:sp>
      <p:sp>
        <p:nvSpPr>
          <p:cNvPr id="15" name="Text 12"/>
          <p:cNvSpPr txBox="1"/>
          <p:nvPr/>
        </p:nvSpPr>
        <p:spPr>
          <a:xfrm>
            <a:off x="777240" y="4160520"/>
            <a:ext cx="1325880" cy="777240"/>
          </a:xfrm>
          <a:prstGeom prst="rect">
            <a:avLst/>
          </a:prstGeom>
          <a:noFill/>
          <a:ln/>
        </p:spPr>
        <p:txBody>
          <a:bodyPr wrap="square" lIns="0" tIns="0" rIns="0" bIns="0" rtlCol="0" anchor="ctr"/>
          <a:lstStyle/>
          <a:p>
            <a:pPr indent="0" marL="0">
              <a:buNone/>
            </a:pPr>
            <a:r>
              <a:rPr lang="en-US" sz="2400" b="1" dirty="0">
                <a:solidFill>
                  <a:schemeClr val="tx2"/>
                </a:solidFill>
              </a:rPr>
              <a:t>59%</a:t>
            </a:r>
            <a:endParaRPr lang="en-US" sz="2400" dirty="0"/>
          </a:p>
        </p:txBody>
      </p:sp>
      <p:sp>
        <p:nvSpPr>
          <p:cNvPr id="16" name="Text 13"/>
          <p:cNvSpPr txBox="1"/>
          <p:nvPr/>
        </p:nvSpPr>
        <p:spPr>
          <a:xfrm>
            <a:off x="2103120" y="4160520"/>
            <a:ext cx="3456432" cy="804672"/>
          </a:xfrm>
          <a:prstGeom prst="rect">
            <a:avLst/>
          </a:prstGeom>
          <a:noFill/>
          <a:ln/>
        </p:spPr>
        <p:txBody>
          <a:bodyPr wrap="square" lIns="0" tIns="0" rIns="0" bIns="0" rtlCol="0" anchor="ctr"/>
          <a:lstStyle/>
          <a:p>
            <a:pPr indent="0" marL="0">
              <a:buNone/>
            </a:pPr>
            <a:r>
              <a:rPr lang="en-US" sz="1300" dirty="0">
                <a:solidFill>
                  <a:schemeClr val="tx1"/>
                </a:solidFill>
              </a:rPr>
              <a:t>of Bitfinex BTC hours have Roll = 0 (42–59% on Bitfinex and Coinbase)</a:t>
            </a:r>
            <a:endParaRPr lang="en-US" sz="1300" dirty="0"/>
          </a:p>
        </p:txBody>
      </p:sp>
      <p:sp>
        <p:nvSpPr>
          <p:cNvPr id="17" name="proxy fact 2"/>
          <p:cNvSpPr/>
          <p:nvPr/>
        </p:nvSpPr>
        <p:spPr>
          <a:xfrm>
            <a:off x="548640" y="5166360"/>
            <a:ext cx="5120640" cy="987552"/>
          </a:xfrm>
          <a:prstGeom prst="roundRect">
            <a:avLst>
              <a:gd name="adj" fmla="val 9259"/>
            </a:avLst>
          </a:prstGeom>
          <a:solidFill>
            <a:schemeClr val="bg2"/>
          </a:solidFill>
          <a:ln/>
        </p:spPr>
      </p:sp>
      <p:sp>
        <p:nvSpPr>
          <p:cNvPr id="18" name="Text 15"/>
          <p:cNvSpPr txBox="1"/>
          <p:nvPr/>
        </p:nvSpPr>
        <p:spPr>
          <a:xfrm>
            <a:off x="777240" y="5257800"/>
            <a:ext cx="1325880" cy="777240"/>
          </a:xfrm>
          <a:prstGeom prst="rect">
            <a:avLst/>
          </a:prstGeom>
          <a:noFill/>
          <a:ln/>
        </p:spPr>
        <p:txBody>
          <a:bodyPr wrap="square" lIns="0" tIns="0" rIns="0" bIns="0" rtlCol="0" anchor="ctr"/>
          <a:lstStyle/>
          <a:p>
            <a:pPr indent="0" marL="0">
              <a:buNone/>
            </a:pPr>
            <a:r>
              <a:rPr lang="en-US" sz="2400" b="1" dirty="0">
                <a:solidFill>
                  <a:schemeClr val="tx2"/>
                </a:solidFill>
              </a:rPr>
              <a:t>29–60%</a:t>
            </a:r>
            <a:endParaRPr lang="en-US" sz="2400" dirty="0"/>
          </a:p>
        </p:txBody>
      </p:sp>
      <p:sp>
        <p:nvSpPr>
          <p:cNvPr id="19" name="Text 16"/>
          <p:cNvSpPr txBox="1"/>
          <p:nvPr/>
        </p:nvSpPr>
        <p:spPr>
          <a:xfrm>
            <a:off x="2103120" y="5257800"/>
            <a:ext cx="3456432" cy="804672"/>
          </a:xfrm>
          <a:prstGeom prst="rect">
            <a:avLst/>
          </a:prstGeom>
          <a:noFill/>
          <a:ln/>
        </p:spPr>
        <p:txBody>
          <a:bodyPr wrap="square" lIns="0" tIns="0" rIns="0" bIns="0" rtlCol="0" anchor="ctr"/>
          <a:lstStyle/>
          <a:p>
            <a:pPr indent="0" marL="0">
              <a:buNone/>
            </a:pPr>
            <a:r>
              <a:rPr lang="en-US" sz="1300" dirty="0">
                <a:solidFill>
                  <a:schemeClr val="tx1"/>
                </a:solidFill>
              </a:rPr>
              <a:t>of AR and CS minute pairs are negative and set to 0, as in the paper: an upward push</a:t>
            </a:r>
            <a:endParaRPr lang="en-US" sz="1300" dirty="0"/>
          </a:p>
        </p:txBody>
      </p:sp>
      <p:graphicFrame>
        <p:nvGraphicFramePr>
          <p:cNvPr id="20" name="simulation chart" descr=""/>
          <p:cNvGraphicFramePr/>
          <p:nvPr/>
        </p:nvGraphicFramePr>
        <p:xfrm>
          <a:off x="5989320" y="2148840"/>
          <a:ext cx="5623560" cy="3246120"/>
        </p:xfrm>
        <a:graphic xmlns:a="http://schemas.openxmlformats.org/drawingml/2006/main">
          <a:graphicData uri="http://schemas.openxmlformats.org/drawingml/2006/chart">
            <c:chart xmlns:c="http://schemas.openxmlformats.org/drawingml/2006/chart" r:id="rId1"/>
          </a:graphicData>
        </a:graphic>
      </p:graphicFrame>
      <p:sp>
        <p:nvSpPr>
          <p:cNvPr id="21" name="simulation takeaway"/>
          <p:cNvSpPr/>
          <p:nvPr/>
        </p:nvSpPr>
        <p:spPr>
          <a:xfrm>
            <a:off x="5989320" y="5486400"/>
            <a:ext cx="5623560" cy="685800"/>
          </a:xfrm>
          <a:prstGeom prst="roundRect">
            <a:avLst>
              <a:gd name="adj" fmla="val 13333"/>
            </a:avLst>
          </a:prstGeom>
          <a:solidFill>
            <a:schemeClr val="tx2"/>
          </a:solidFill>
          <a:ln/>
        </p:spPr>
      </p:sp>
      <p:sp>
        <p:nvSpPr>
          <p:cNvPr id="22" name="Text 18"/>
          <p:cNvSpPr txBox="1"/>
          <p:nvPr/>
        </p:nvSpPr>
        <p:spPr>
          <a:xfrm>
            <a:off x="6217920" y="5486400"/>
            <a:ext cx="5257800" cy="685800"/>
          </a:xfrm>
          <a:prstGeom prst="rect">
            <a:avLst/>
          </a:prstGeom>
          <a:noFill/>
          <a:ln/>
        </p:spPr>
        <p:txBody>
          <a:bodyPr wrap="square" lIns="0" tIns="0" rIns="0" bIns="0" rtlCol="0" anchor="ctr"/>
          <a:lstStyle/>
          <a:p>
            <a:pPr indent="0" marL="0">
              <a:buNone/>
            </a:pPr>
            <a:r>
              <a:rPr lang="en-US" sz="1400" b="1" dirty="0">
                <a:solidFill>
                  <a:schemeClr val="accent3"/>
                </a:solidFill>
              </a:rPr>
              <a:t>Spread × 9 → AR only × 1.5. </a:t>
            </a:r>
            <a:pPr indent="0" marL="0">
              <a:buNone/>
            </a:pPr>
            <a:r>
              <a:rPr lang="en-US" sz="1400" dirty="0">
                <a:solidFill>
                  <a:schemeClr val="bg1"/>
                </a:solidFill>
              </a:rPr>
              <a:t>Same bias without any data problems.</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PROXIES · PART 2</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Is the paper's “surprising sign” just volatility?</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Spearman correlation with QS before and after removing hourly volatility, five larger markets.</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Partial Spearman correlation on ranked hourly volatility. Bitstamp ETH (28 hours) not shown. Part 4 repeats this for all four benchmarks with bootstrap intervals.</a:t>
            </a:r>
            <a:endParaRPr lang="en-US" sz="1000" dirty="0"/>
          </a:p>
        </p:txBody>
      </p:sp>
      <p:graphicFrame>
        <p:nvGraphicFramePr>
          <p:cNvPr id="7" name="TX before after chart" descr=""/>
          <p:cNvGraphicFramePr/>
          <p:nvPr/>
        </p:nvGraphicFramePr>
        <p:xfrm>
          <a:off x="548640" y="2148840"/>
          <a:ext cx="420624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AR before after chart" descr=""/>
          <p:cNvGraphicFramePr/>
          <p:nvPr/>
        </p:nvGraphicFramePr>
        <p:xfrm>
          <a:off x="4892040" y="2148840"/>
          <a:ext cx="4206240" cy="3246120"/>
        </p:xfrm>
        <a:graphic xmlns:a="http://schemas.openxmlformats.org/drawingml/2006/main">
          <a:graphicData uri="http://schemas.openxmlformats.org/drawingml/2006/chart">
            <c:chart xmlns:c="http://schemas.openxmlformats.org/drawingml/2006/chart" r:id="rId2"/>
          </a:graphicData>
        </a:graphic>
      </p:graphicFrame>
      <p:sp>
        <p:nvSpPr>
          <p:cNvPr id="9" name="simulation card"/>
          <p:cNvSpPr/>
          <p:nvPr/>
        </p:nvSpPr>
        <p:spPr>
          <a:xfrm>
            <a:off x="9326880" y="2148840"/>
            <a:ext cx="2286000" cy="3246120"/>
          </a:xfrm>
          <a:prstGeom prst="roundRect">
            <a:avLst>
              <a:gd name="adj" fmla="val 4000"/>
            </a:avLst>
          </a:prstGeom>
          <a:solidFill>
            <a:schemeClr val="bg2"/>
          </a:solidFill>
          <a:ln/>
        </p:spPr>
      </p:sp>
      <p:sp>
        <p:nvSpPr>
          <p:cNvPr id="10" name="Text 5"/>
          <p:cNvSpPr txBox="1"/>
          <p:nvPr/>
        </p:nvSpPr>
        <p:spPr>
          <a:xfrm>
            <a:off x="9491472" y="2331720"/>
            <a:ext cx="201168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SIMULATION</a:t>
            </a:r>
            <a:endParaRPr lang="en-US" sz="1100" dirty="0"/>
          </a:p>
        </p:txBody>
      </p:sp>
      <p:sp>
        <p:nvSpPr>
          <p:cNvPr id="11" name="Text 6"/>
          <p:cNvSpPr txBox="1"/>
          <p:nvPr/>
        </p:nvSpPr>
        <p:spPr>
          <a:xfrm>
            <a:off x="9491472" y="2788920"/>
            <a:ext cx="2011680" cy="777240"/>
          </a:xfrm>
          <a:prstGeom prst="rect">
            <a:avLst/>
          </a:prstGeom>
          <a:noFill/>
          <a:ln/>
        </p:spPr>
        <p:txBody>
          <a:bodyPr wrap="square" lIns="0" tIns="0" rIns="0" bIns="0" rtlCol="0" anchor="t"/>
          <a:lstStyle/>
          <a:p>
            <a:pPr indent="0" marL="0">
              <a:buNone/>
            </a:pPr>
            <a:r>
              <a:rPr lang="en-US" sz="1800" b="1" dirty="0">
                <a:solidFill>
                  <a:schemeClr val="tx2"/>
                </a:solidFill>
              </a:rPr>
              <a:t>AR −0.03</a:t>
            </a:r>
            <a:endParaRPr lang="en-US" sz="1400" dirty="0"/>
          </a:p>
          <a:p>
            <a:pPr indent="0" marL="0">
              <a:buNone/>
            </a:pPr>
            <a:r>
              <a:rPr lang="en-US" sz="1200" dirty="0">
                <a:solidFill>
                  <a:schemeClr val="tx1"/>
                </a:solidFill>
              </a:rPr>
              <a:t>spread moves on its own</a:t>
            </a:r>
            <a:endParaRPr lang="en-US" sz="1400" dirty="0"/>
          </a:p>
        </p:txBody>
      </p:sp>
      <p:sp>
        <p:nvSpPr>
          <p:cNvPr id="12" name="Text 7"/>
          <p:cNvSpPr txBox="1"/>
          <p:nvPr/>
        </p:nvSpPr>
        <p:spPr>
          <a:xfrm>
            <a:off x="9491472" y="3611880"/>
            <a:ext cx="2011680" cy="777240"/>
          </a:xfrm>
          <a:prstGeom prst="rect">
            <a:avLst/>
          </a:prstGeom>
          <a:noFill/>
          <a:ln/>
        </p:spPr>
        <p:txBody>
          <a:bodyPr wrap="square" lIns="0" tIns="0" rIns="0" bIns="0" rtlCol="0" anchor="t"/>
          <a:lstStyle/>
          <a:p>
            <a:pPr indent="0" marL="0">
              <a:buNone/>
            </a:pPr>
            <a:r>
              <a:rPr lang="en-US" sz="1800" b="1" dirty="0">
                <a:solidFill>
                  <a:schemeClr val="tx2"/>
                </a:solidFill>
              </a:rPr>
              <a:t>AR 0.66</a:t>
            </a:r>
            <a:endParaRPr lang="en-US" sz="1400" dirty="0"/>
          </a:p>
          <a:p>
            <a:pPr indent="0" marL="0">
              <a:buNone/>
            </a:pPr>
            <a:r>
              <a:rPr lang="en-US" sz="1200" dirty="0">
                <a:solidFill>
                  <a:schemeClr val="tx1"/>
                </a:solidFill>
              </a:rPr>
              <a:t>spread and trading follow volatility</a:t>
            </a:r>
            <a:endParaRPr lang="en-US" sz="1400" dirty="0"/>
          </a:p>
        </p:txBody>
      </p:sp>
      <p:sp>
        <p:nvSpPr>
          <p:cNvPr id="13" name="Text 8"/>
          <p:cNvSpPr txBox="1"/>
          <p:nvPr/>
        </p:nvSpPr>
        <p:spPr>
          <a:xfrm>
            <a:off x="9491472" y="4434840"/>
            <a:ext cx="2011680" cy="777240"/>
          </a:xfrm>
          <a:prstGeom prst="rect">
            <a:avLst/>
          </a:prstGeom>
          <a:noFill/>
          <a:ln/>
        </p:spPr>
        <p:txBody>
          <a:bodyPr wrap="square" lIns="0" tIns="0" rIns="0" bIns="0" rtlCol="0" anchor="t"/>
          <a:lstStyle/>
          <a:p>
            <a:pPr indent="0" marL="0">
              <a:buNone/>
            </a:pPr>
            <a:r>
              <a:rPr lang="en-US" sz="1800" b="1" dirty="0">
                <a:solidFill>
                  <a:schemeClr val="tx2"/>
                </a:solidFill>
              </a:rPr>
              <a:t>AR −0.01</a:t>
            </a:r>
            <a:endParaRPr lang="en-US" sz="1400" dirty="0"/>
          </a:p>
          <a:p>
            <a:pPr indent="0" marL="0">
              <a:buNone/>
            </a:pPr>
            <a:r>
              <a:rPr lang="en-US" sz="1200" dirty="0">
                <a:solidFill>
                  <a:schemeClr val="tx1"/>
                </a:solidFill>
              </a:rPr>
              <a:t>same, volatility removed</a:t>
            </a:r>
            <a:endParaRPr lang="en-US" sz="1400" dirty="0"/>
          </a:p>
        </p:txBody>
      </p:sp>
      <p:sp>
        <p:nvSpPr>
          <p:cNvPr id="14" name="volatility takeaway"/>
          <p:cNvSpPr/>
          <p:nvPr/>
        </p:nvSpPr>
        <p:spPr>
          <a:xfrm>
            <a:off x="548640" y="5486400"/>
            <a:ext cx="11064240" cy="685800"/>
          </a:xfrm>
          <a:prstGeom prst="roundRect">
            <a:avLst>
              <a:gd name="adj" fmla="val 13333"/>
            </a:avLst>
          </a:prstGeom>
          <a:solidFill>
            <a:schemeClr val="tx2"/>
          </a:solidFill>
          <a:ln/>
        </p:spPr>
      </p:sp>
      <p:sp>
        <p:nvSpPr>
          <p:cNvPr id="15" name="Text 10"/>
          <p:cNvSpPr txBox="1"/>
          <p:nvPr/>
        </p:nvSpPr>
        <p:spPr>
          <a:xfrm>
            <a:off x="822960" y="5486400"/>
            <a:ext cx="10515600" cy="685800"/>
          </a:xfrm>
          <a:prstGeom prst="rect">
            <a:avLst/>
          </a:prstGeom>
          <a:noFill/>
          <a:ln/>
        </p:spPr>
        <p:txBody>
          <a:bodyPr wrap="square" lIns="0" tIns="0" rIns="0" bIns="0" rtlCol="0" anchor="ctr"/>
          <a:lstStyle/>
          <a:p>
            <a:pPr indent="0" marL="0">
              <a:buNone/>
            </a:pPr>
            <a:r>
              <a:rPr lang="en-US" sz="1400" b="1" dirty="0">
                <a:solidFill>
                  <a:schemeClr val="accent3"/>
                </a:solidFill>
              </a:rPr>
              <a:t>TX's link with QS disappears or turns negative; AR keeps 0.41–0.61. </a:t>
            </a:r>
            <a:pPr indent="0" marL="0">
              <a:buNone/>
            </a:pPr>
            <a:r>
              <a:rPr lang="en-US" sz="1400" dirty="0">
                <a:solidFill>
                  <a:schemeClr val="bg1"/>
                </a:solidFill>
              </a:rPr>
              <a:t>AR sees the spread itself.</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BENCHMARKS · PART 3</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Four benchmarks: what a trade really costs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The “true” liquidity, built from best quotes, trades and 25-level order books on a 10-second grid.</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Paper: irregular REST-API snapshots, up to 50 levels. Where the SSRN text and tables disagree (ES, PI, Table 5 units), our choices are documented in notebook Section 2.6.</a:t>
            </a:r>
            <a:endParaRPr lang="en-US" sz="1000" dirty="0"/>
          </a:p>
        </p:txBody>
      </p:sp>
      <p:sp>
        <p:nvSpPr>
          <p:cNvPr id="7" name="benchmark QS"/>
          <p:cNvSpPr/>
          <p:nvPr/>
        </p:nvSpPr>
        <p:spPr>
          <a:xfrm>
            <a:off x="548640" y="2194560"/>
            <a:ext cx="3200400" cy="1901952"/>
          </a:xfrm>
          <a:prstGeom prst="roundRect">
            <a:avLst>
              <a:gd name="adj" fmla="val 4808"/>
            </a:avLst>
          </a:prstGeom>
          <a:solidFill>
            <a:schemeClr val="bg2"/>
          </a:solidFill>
          <a:ln/>
        </p:spPr>
      </p:sp>
      <p:sp>
        <p:nvSpPr>
          <p:cNvPr id="8" name="Text 5"/>
          <p:cNvSpPr txBox="1"/>
          <p:nvPr/>
        </p:nvSpPr>
        <p:spPr>
          <a:xfrm>
            <a:off x="749808" y="2331720"/>
            <a:ext cx="2743200" cy="457200"/>
          </a:xfrm>
          <a:prstGeom prst="rect">
            <a:avLst/>
          </a:prstGeom>
          <a:noFill/>
          <a:ln/>
        </p:spPr>
        <p:txBody>
          <a:bodyPr wrap="square" lIns="0" tIns="0" rIns="0" bIns="0" rtlCol="0" anchor="t"/>
          <a:lstStyle/>
          <a:p>
            <a:pPr indent="0" marL="0">
              <a:buNone/>
            </a:pPr>
            <a:r>
              <a:rPr lang="en-US" sz="2400" b="1" dirty="0">
                <a:solidFill>
                  <a:schemeClr val="tx2"/>
                </a:solidFill>
              </a:rPr>
              <a:t>QS</a:t>
            </a:r>
            <a:endParaRPr lang="en-US" sz="2400" dirty="0"/>
          </a:p>
        </p:txBody>
      </p:sp>
      <p:sp>
        <p:nvSpPr>
          <p:cNvPr id="9" name="Text 6"/>
          <p:cNvSpPr txBox="1"/>
          <p:nvPr/>
        </p:nvSpPr>
        <p:spPr>
          <a:xfrm>
            <a:off x="749808" y="2816352"/>
            <a:ext cx="2743200" cy="320040"/>
          </a:xfrm>
          <a:prstGeom prst="rect">
            <a:avLst/>
          </a:prstGeom>
          <a:noFill/>
          <a:ln/>
        </p:spPr>
        <p:txBody>
          <a:bodyPr wrap="square" lIns="0" tIns="0" rIns="0" bIns="0" rtlCol="0" anchor="t"/>
          <a:lstStyle/>
          <a:p>
            <a:pPr indent="0" marL="0">
              <a:buNone/>
            </a:pPr>
            <a:r>
              <a:rPr lang="en-US" sz="1500" b="1" dirty="0">
                <a:solidFill>
                  <a:schemeClr val="tx1"/>
                </a:solidFill>
              </a:rPr>
              <a:t>Quoted spread</a:t>
            </a:r>
            <a:endParaRPr lang="en-US" sz="1500" dirty="0"/>
          </a:p>
        </p:txBody>
      </p:sp>
      <p:sp>
        <p:nvSpPr>
          <p:cNvPr id="10" name="Text 7"/>
          <p:cNvSpPr txBox="1"/>
          <p:nvPr/>
        </p:nvSpPr>
        <p:spPr>
          <a:xfrm>
            <a:off x="749808" y="3154680"/>
            <a:ext cx="2798064" cy="868680"/>
          </a:xfrm>
          <a:prstGeom prst="rect">
            <a:avLst/>
          </a:prstGeom>
          <a:noFill/>
          <a:ln/>
        </p:spPr>
        <p:txBody>
          <a:bodyPr wrap="square" lIns="0" tIns="0" rIns="0" bIns="0" rtlCol="0" anchor="t"/>
          <a:lstStyle/>
          <a:p>
            <a:pPr indent="0" marL="0">
              <a:buNone/>
            </a:pPr>
            <a:r>
              <a:rPr lang="en-US" sz="1300" dirty="0">
                <a:solidFill>
                  <a:schemeClr val="tx1"/>
                </a:solidFill>
              </a:rPr>
              <a:t>(ask − bid) / midpoint at every valid grid point</a:t>
            </a:r>
            <a:endParaRPr lang="en-US" sz="1300" dirty="0"/>
          </a:p>
        </p:txBody>
      </p:sp>
      <p:sp>
        <p:nvSpPr>
          <p:cNvPr id="11" name="benchmark ES"/>
          <p:cNvSpPr/>
          <p:nvPr/>
        </p:nvSpPr>
        <p:spPr>
          <a:xfrm>
            <a:off x="3931920" y="2194560"/>
            <a:ext cx="3200400" cy="1901952"/>
          </a:xfrm>
          <a:prstGeom prst="roundRect">
            <a:avLst>
              <a:gd name="adj" fmla="val 4808"/>
            </a:avLst>
          </a:prstGeom>
          <a:solidFill>
            <a:schemeClr val="bg2"/>
          </a:solidFill>
          <a:ln/>
        </p:spPr>
      </p:sp>
      <p:sp>
        <p:nvSpPr>
          <p:cNvPr id="12" name="Text 9"/>
          <p:cNvSpPr txBox="1"/>
          <p:nvPr/>
        </p:nvSpPr>
        <p:spPr>
          <a:xfrm>
            <a:off x="4133088" y="2331720"/>
            <a:ext cx="2743200" cy="457200"/>
          </a:xfrm>
          <a:prstGeom prst="rect">
            <a:avLst/>
          </a:prstGeom>
          <a:noFill/>
          <a:ln/>
        </p:spPr>
        <p:txBody>
          <a:bodyPr wrap="square" lIns="0" tIns="0" rIns="0" bIns="0" rtlCol="0" anchor="t"/>
          <a:lstStyle/>
          <a:p>
            <a:pPr indent="0" marL="0">
              <a:buNone/>
            </a:pPr>
            <a:r>
              <a:rPr lang="en-US" sz="2400" b="1" dirty="0">
                <a:solidFill>
                  <a:schemeClr val="tx2"/>
                </a:solidFill>
              </a:rPr>
              <a:t>ES</a:t>
            </a:r>
            <a:endParaRPr lang="en-US" sz="2400" dirty="0"/>
          </a:p>
        </p:txBody>
      </p:sp>
      <p:sp>
        <p:nvSpPr>
          <p:cNvPr id="13" name="Text 10"/>
          <p:cNvSpPr txBox="1"/>
          <p:nvPr/>
        </p:nvSpPr>
        <p:spPr>
          <a:xfrm>
            <a:off x="4133088" y="2816352"/>
            <a:ext cx="2743200" cy="320040"/>
          </a:xfrm>
          <a:prstGeom prst="rect">
            <a:avLst/>
          </a:prstGeom>
          <a:noFill/>
          <a:ln/>
        </p:spPr>
        <p:txBody>
          <a:bodyPr wrap="square" lIns="0" tIns="0" rIns="0" bIns="0" rtlCol="0" anchor="t"/>
          <a:lstStyle/>
          <a:p>
            <a:pPr indent="0" marL="0">
              <a:buNone/>
            </a:pPr>
            <a:r>
              <a:rPr lang="en-US" sz="1500" b="1" dirty="0">
                <a:solidFill>
                  <a:schemeClr val="tx1"/>
                </a:solidFill>
              </a:rPr>
              <a:t>Effective spread</a:t>
            </a:r>
            <a:endParaRPr lang="en-US" sz="1500" dirty="0"/>
          </a:p>
        </p:txBody>
      </p:sp>
      <p:sp>
        <p:nvSpPr>
          <p:cNvPr id="14" name="Text 11"/>
          <p:cNvSpPr txBox="1"/>
          <p:nvPr/>
        </p:nvSpPr>
        <p:spPr>
          <a:xfrm>
            <a:off x="4133088" y="3154680"/>
            <a:ext cx="2798064" cy="868680"/>
          </a:xfrm>
          <a:prstGeom prst="rect">
            <a:avLst/>
          </a:prstGeom>
          <a:noFill/>
          <a:ln/>
        </p:spPr>
        <p:txBody>
          <a:bodyPr wrap="square" lIns="0" tIns="0" rIns="0" bIns="0" rtlCol="0" anchor="t"/>
          <a:lstStyle/>
          <a:p>
            <a:pPr indent="0" marL="0">
              <a:buNone/>
            </a:pPr>
            <a:r>
              <a:rPr lang="en-US" sz="1300" dirty="0">
                <a:solidFill>
                  <a:schemeClr val="tx1"/>
                </a:solidFill>
              </a:rPr>
              <a:t>2 × |trade price − midpoint| / midpoint, first trade after a snapshot</a:t>
            </a:r>
            <a:endParaRPr lang="en-US" sz="1300" dirty="0"/>
          </a:p>
        </p:txBody>
      </p:sp>
      <p:sp>
        <p:nvSpPr>
          <p:cNvPr id="15" name="benchmark PI"/>
          <p:cNvSpPr/>
          <p:nvPr/>
        </p:nvSpPr>
        <p:spPr>
          <a:xfrm>
            <a:off x="548640" y="4224528"/>
            <a:ext cx="3200400" cy="1901952"/>
          </a:xfrm>
          <a:prstGeom prst="roundRect">
            <a:avLst>
              <a:gd name="adj" fmla="val 4808"/>
            </a:avLst>
          </a:prstGeom>
          <a:solidFill>
            <a:schemeClr val="bg2"/>
          </a:solidFill>
          <a:ln/>
        </p:spPr>
      </p:sp>
      <p:sp>
        <p:nvSpPr>
          <p:cNvPr id="16" name="Text 13"/>
          <p:cNvSpPr txBox="1"/>
          <p:nvPr/>
        </p:nvSpPr>
        <p:spPr>
          <a:xfrm>
            <a:off x="749808" y="4361688"/>
            <a:ext cx="2743200" cy="457200"/>
          </a:xfrm>
          <a:prstGeom prst="rect">
            <a:avLst/>
          </a:prstGeom>
          <a:noFill/>
          <a:ln/>
        </p:spPr>
        <p:txBody>
          <a:bodyPr wrap="square" lIns="0" tIns="0" rIns="0" bIns="0" rtlCol="0" anchor="t"/>
          <a:lstStyle/>
          <a:p>
            <a:pPr indent="0" marL="0">
              <a:buNone/>
            </a:pPr>
            <a:r>
              <a:rPr lang="en-US" sz="2400" b="1" dirty="0">
                <a:solidFill>
                  <a:schemeClr val="tx2"/>
                </a:solidFill>
              </a:rPr>
              <a:t>PI</a:t>
            </a:r>
            <a:endParaRPr lang="en-US" sz="2400" dirty="0"/>
          </a:p>
        </p:txBody>
      </p:sp>
      <p:sp>
        <p:nvSpPr>
          <p:cNvPr id="17" name="Text 14"/>
          <p:cNvSpPr txBox="1"/>
          <p:nvPr/>
        </p:nvSpPr>
        <p:spPr>
          <a:xfrm>
            <a:off x="749808" y="4846320"/>
            <a:ext cx="2743200" cy="320040"/>
          </a:xfrm>
          <a:prstGeom prst="rect">
            <a:avLst/>
          </a:prstGeom>
          <a:noFill/>
          <a:ln/>
        </p:spPr>
        <p:txBody>
          <a:bodyPr wrap="square" lIns="0" tIns="0" rIns="0" bIns="0" rtlCol="0" anchor="t"/>
          <a:lstStyle/>
          <a:p>
            <a:pPr indent="0" marL="0">
              <a:buNone/>
            </a:pPr>
            <a:r>
              <a:rPr lang="en-US" sz="1500" b="1" dirty="0">
                <a:solidFill>
                  <a:schemeClr val="tx1"/>
                </a:solidFill>
              </a:rPr>
              <a:t>Price impact</a:t>
            </a:r>
            <a:endParaRPr lang="en-US" sz="1500" dirty="0"/>
          </a:p>
        </p:txBody>
      </p:sp>
      <p:sp>
        <p:nvSpPr>
          <p:cNvPr id="18" name="Text 15"/>
          <p:cNvSpPr txBox="1"/>
          <p:nvPr/>
        </p:nvSpPr>
        <p:spPr>
          <a:xfrm>
            <a:off x="749808" y="5184648"/>
            <a:ext cx="2798064" cy="868680"/>
          </a:xfrm>
          <a:prstGeom prst="rect">
            <a:avLst/>
          </a:prstGeom>
          <a:noFill/>
          <a:ln/>
        </p:spPr>
        <p:txBody>
          <a:bodyPr wrap="square" lIns="0" tIns="0" rIns="0" bIns="0" rtlCol="0" anchor="t"/>
          <a:lstStyle/>
          <a:p>
            <a:pPr indent="0" marL="0">
              <a:buNone/>
            </a:pPr>
            <a:r>
              <a:rPr lang="en-US" sz="1300" dirty="0">
                <a:solidFill>
                  <a:schemeClr val="tx1"/>
                </a:solidFill>
              </a:rPr>
              <a:t>signed change of the midpoint after the trade</a:t>
            </a:r>
            <a:endParaRPr lang="en-US" sz="1300" dirty="0"/>
          </a:p>
        </p:txBody>
      </p:sp>
      <p:sp>
        <p:nvSpPr>
          <p:cNvPr id="19" name="benchmark CRT25"/>
          <p:cNvSpPr/>
          <p:nvPr/>
        </p:nvSpPr>
        <p:spPr>
          <a:xfrm>
            <a:off x="3931920" y="4224528"/>
            <a:ext cx="3200400" cy="1901952"/>
          </a:xfrm>
          <a:prstGeom prst="roundRect">
            <a:avLst>
              <a:gd name="adj" fmla="val 4808"/>
            </a:avLst>
          </a:prstGeom>
          <a:solidFill>
            <a:schemeClr val="bg2"/>
          </a:solidFill>
          <a:ln/>
        </p:spPr>
      </p:sp>
      <p:sp>
        <p:nvSpPr>
          <p:cNvPr id="20" name="Text 17"/>
          <p:cNvSpPr txBox="1"/>
          <p:nvPr/>
        </p:nvSpPr>
        <p:spPr>
          <a:xfrm>
            <a:off x="4133088" y="4361688"/>
            <a:ext cx="2743200" cy="457200"/>
          </a:xfrm>
          <a:prstGeom prst="rect">
            <a:avLst/>
          </a:prstGeom>
          <a:noFill/>
          <a:ln/>
        </p:spPr>
        <p:txBody>
          <a:bodyPr wrap="square" lIns="0" tIns="0" rIns="0" bIns="0" rtlCol="0" anchor="t"/>
          <a:lstStyle/>
          <a:p>
            <a:pPr indent="0" marL="0">
              <a:buNone/>
            </a:pPr>
            <a:r>
              <a:rPr lang="en-US" sz="2400" b="1" dirty="0">
                <a:solidFill>
                  <a:schemeClr val="tx2"/>
                </a:solidFill>
              </a:rPr>
              <a:t>CRT25</a:t>
            </a:r>
            <a:endParaRPr lang="en-US" sz="2400" dirty="0"/>
          </a:p>
        </p:txBody>
      </p:sp>
      <p:sp>
        <p:nvSpPr>
          <p:cNvPr id="21" name="Text 18"/>
          <p:cNvSpPr txBox="1"/>
          <p:nvPr/>
        </p:nvSpPr>
        <p:spPr>
          <a:xfrm>
            <a:off x="4133088" y="4846320"/>
            <a:ext cx="2743200" cy="320040"/>
          </a:xfrm>
          <a:prstGeom prst="rect">
            <a:avLst/>
          </a:prstGeom>
          <a:noFill/>
          <a:ln/>
        </p:spPr>
        <p:txBody>
          <a:bodyPr wrap="square" lIns="0" tIns="0" rIns="0" bIns="0" rtlCol="0" anchor="t"/>
          <a:lstStyle/>
          <a:p>
            <a:pPr indent="0" marL="0">
              <a:buNone/>
            </a:pPr>
            <a:r>
              <a:rPr lang="en-US" sz="1500" b="1" dirty="0">
                <a:solidFill>
                  <a:schemeClr val="tx1"/>
                </a:solidFill>
              </a:rPr>
              <a:t>Roundtrip cost</a:t>
            </a:r>
            <a:endParaRPr lang="en-US" sz="1500" dirty="0"/>
          </a:p>
        </p:txBody>
      </p:sp>
      <p:sp>
        <p:nvSpPr>
          <p:cNvPr id="22" name="Text 19"/>
          <p:cNvSpPr txBox="1"/>
          <p:nvPr/>
        </p:nvSpPr>
        <p:spPr>
          <a:xfrm>
            <a:off x="4133088" y="5184648"/>
            <a:ext cx="2798064" cy="868680"/>
          </a:xfrm>
          <a:prstGeom prst="rect">
            <a:avLst/>
          </a:prstGeom>
          <a:noFill/>
          <a:ln/>
        </p:spPr>
        <p:txBody>
          <a:bodyPr wrap="square" lIns="0" tIns="0" rIns="0" bIns="0" rtlCol="0" anchor="t"/>
          <a:lstStyle/>
          <a:p>
            <a:pPr indent="0" marL="0">
              <a:buNone/>
            </a:pPr>
            <a:r>
              <a:rPr lang="en-US" sz="1300" dirty="0">
                <a:solidFill>
                  <a:schemeClr val="tx1"/>
                </a:solidFill>
              </a:rPr>
              <a:t>buy and sell 32k USD of BTC (18k of ETH) through at most 25 book levels</a:t>
            </a:r>
            <a:endParaRPr lang="en-US" sz="1300" dirty="0"/>
          </a:p>
        </p:txBody>
      </p:sp>
      <p:pic>
        <p:nvPicPr>
          <p:cNvPr id="23" name="Figure paying at a card terminal" descr="Figure paying at a card terminal">    </p:cNvPr>
          <p:cNvPicPr>
            <a:picLocks noChangeAspect="1"/>
          </p:cNvPicPr>
          <p:nvPr/>
        </p:nvPicPr>
        <p:blipFill>
          <a:blip r:embed="rId1"/>
          <a:stretch>
            <a:fillRect/>
          </a:stretch>
        </p:blipFill>
        <p:spPr>
          <a:xfrm>
            <a:off x="7452360" y="2103120"/>
            <a:ext cx="1325880" cy="1325880"/>
          </a:xfrm>
          <a:prstGeom prst="rect">
            <a:avLst/>
          </a:prstGeom>
        </p:spPr>
      </p:pic>
      <p:sp>
        <p:nvSpPr>
          <p:cNvPr id="24" name="Text 20"/>
          <p:cNvSpPr txBox="1"/>
          <p:nvPr/>
        </p:nvSpPr>
        <p:spPr>
          <a:xfrm>
            <a:off x="8915400" y="2331720"/>
            <a:ext cx="2697480" cy="868680"/>
          </a:xfrm>
          <a:prstGeom prst="rect">
            <a:avLst/>
          </a:prstGeom>
          <a:noFill/>
          <a:ln/>
        </p:spPr>
        <p:txBody>
          <a:bodyPr wrap="square" lIns="0" tIns="0" rIns="0" bIns="0" rtlCol="0" anchor="ctr"/>
          <a:lstStyle/>
          <a:p>
            <a:pPr indent="0" marL="0">
              <a:buNone/>
            </a:pPr>
            <a:r>
              <a:rPr lang="en-US" sz="1700" b="1" dirty="0">
                <a:solidFill>
                  <a:schemeClr val="tx2"/>
                </a:solidFill>
              </a:rPr>
              <a:t>Our five construction decisions</a:t>
            </a:r>
            <a:endParaRPr lang="en-US" sz="1700" dirty="0"/>
          </a:p>
        </p:txBody>
      </p:sp>
      <p:sp>
        <p:nvSpPr>
          <p:cNvPr id="25" name="decisions card"/>
          <p:cNvSpPr/>
          <p:nvPr/>
        </p:nvSpPr>
        <p:spPr>
          <a:xfrm>
            <a:off x="7452360" y="3566160"/>
            <a:ext cx="4160520" cy="2606040"/>
          </a:xfrm>
          <a:prstGeom prst="roundRect">
            <a:avLst>
              <a:gd name="adj" fmla="val 3509"/>
            </a:avLst>
          </a:prstGeom>
          <a:solidFill>
            <a:schemeClr val="tx2"/>
          </a:solidFill>
          <a:ln/>
        </p:spPr>
      </p:sp>
      <p:sp>
        <p:nvSpPr>
          <p:cNvPr id="26" name="Text 22"/>
          <p:cNvSpPr txBox="1"/>
          <p:nvPr/>
        </p:nvSpPr>
        <p:spPr>
          <a:xfrm>
            <a:off x="7635240" y="3703320"/>
            <a:ext cx="3840480" cy="2377440"/>
          </a:xfrm>
          <a:prstGeom prst="rect">
            <a:avLst/>
          </a:prstGeom>
          <a:noFill/>
          <a:ln/>
        </p:spPr>
        <p:txBody>
          <a:bodyPr wrap="square" lIns="0" tIns="0" rIns="0" bIns="0" rtlCol="0" anchor="ctr"/>
          <a:lstStyle/>
          <a:p>
            <a:pPr marL="177800" indent="-177800">
              <a:spcAft>
                <a:spcPts val="600"/>
              </a:spcAft>
              <a:buSzPct val="100000"/>
              <a:buChar char="•"/>
            </a:pPr>
            <a:r>
              <a:rPr lang="en-US" sz="1300" dirty="0">
                <a:solidFill>
                  <a:schemeClr val="bg1"/>
                </a:solidFill>
              </a:rPr>
              <a:t>Trades matched to quotes on the same clock (capture time)</a:t>
            </a:r>
            <a:endParaRPr lang="en-US" sz="1300" dirty="0"/>
          </a:p>
          <a:p>
            <a:pPr marL="177800" indent="-177800">
              <a:spcAft>
                <a:spcPts val="600"/>
              </a:spcAft>
              <a:buSzPct val="100000"/>
              <a:buChar char="•"/>
            </a:pPr>
            <a:r>
              <a:rPr lang="en-US" sz="1300" dirty="0">
                <a:solidFill>
                  <a:schemeClr val="bg1"/>
                </a:solidFill>
              </a:rPr>
              <a:t>Quote at most 60 s old (30 s as a check)</a:t>
            </a:r>
            <a:endParaRPr lang="en-US" sz="1300" dirty="0"/>
          </a:p>
          <a:p>
            <a:pPr marL="177800" indent="-177800">
              <a:spcAft>
                <a:spcPts val="600"/>
              </a:spcAft>
              <a:buSzPct val="100000"/>
              <a:buChar char="•"/>
            </a:pPr>
            <a:r>
              <a:rPr lang="en-US" sz="1300" dirty="0">
                <a:solidFill>
                  <a:schemeClr val="bg1"/>
                </a:solidFill>
              </a:rPr>
              <a:t>ES as printed (absolute); signed ES as a check</a:t>
            </a:r>
            <a:endParaRPr lang="en-US" sz="1300" dirty="0"/>
          </a:p>
          <a:p>
            <a:pPr marL="177800" indent="-177800">
              <a:spcAft>
                <a:spcPts val="600"/>
              </a:spcAft>
              <a:buSzPct val="100000"/>
              <a:buChar char="•"/>
            </a:pPr>
            <a:r>
              <a:rPr lang="en-US" sz="1300" dirty="0">
                <a:solidFill>
                  <a:schemeClr val="bg1"/>
                </a:solidFill>
              </a:rPr>
              <a:t>PI keeps the sign, as the text defines it</a:t>
            </a:r>
            <a:endParaRPr lang="en-US" sz="1300" dirty="0"/>
          </a:p>
          <a:p>
            <a:pPr marL="177800" indent="-177800">
              <a:spcAft>
                <a:spcPts val="600"/>
              </a:spcAft>
              <a:buSzPct val="100000"/>
              <a:buChar char="•"/>
            </a:pPr>
            <a:r>
              <a:rPr lang="en-US" sz="1300" dirty="0">
                <a:solidFill>
                  <a:schemeClr val="bg1"/>
                </a:solidFill>
              </a:rPr>
              <a:t>CRT on 25 levels: enough in 99.85% of snapshots</a:t>
            </a:r>
            <a:endParaRPr lang="en-US" sz="13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BENCHMARKS · PART 3</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Benchmark levels on the seven dates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The venues line up as in the paper; QS and CRT25 levels are close to it, ES and PI levels are higher.</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Daily means over valid hours; QS, ES and CRT25 on a log scale. Lime band: 1 June 2019, the only date inside the paper's sample. Paper: Table 3 (BTC), Table 7 (ETH).</a:t>
            </a:r>
            <a:endParaRPr lang="en-US" sz="1000" dirty="0"/>
          </a:p>
        </p:txBody>
      </p:sp>
      <p:pic>
        <p:nvPicPr>
          <p:cNvPr id="7" name="Four benchmarks by date for the six markets" descr="Four benchmarks by date for the six markets">    </p:cNvPr>
          <p:cNvPicPr>
            <a:picLocks noChangeAspect="1"/>
          </p:cNvPicPr>
          <p:nvPr/>
        </p:nvPicPr>
        <p:blipFill>
          <a:blip r:embed="rId1"/>
          <a:stretch>
            <a:fillRect/>
          </a:stretch>
        </p:blipFill>
        <p:spPr>
          <a:xfrm>
            <a:off x="548640" y="2148840"/>
            <a:ext cx="6483096" cy="4069080"/>
          </a:xfrm>
          <a:prstGeom prst="rect">
            <a:avLst/>
          </a:prstGeom>
        </p:spPr>
      </p:pic>
      <p:sp>
        <p:nvSpPr>
          <p:cNvPr id="8" name="level card 1"/>
          <p:cNvSpPr/>
          <p:nvPr/>
        </p:nvSpPr>
        <p:spPr>
          <a:xfrm>
            <a:off x="7498080" y="2148840"/>
            <a:ext cx="4114800" cy="1371600"/>
          </a:xfrm>
          <a:prstGeom prst="roundRect">
            <a:avLst>
              <a:gd name="adj" fmla="val 6667"/>
            </a:avLst>
          </a:prstGeom>
          <a:solidFill>
            <a:schemeClr val="bg2"/>
          </a:solidFill>
          <a:ln/>
        </p:spPr>
      </p:sp>
      <p:sp>
        <p:nvSpPr>
          <p:cNvPr id="9" name="Text 5"/>
          <p:cNvSpPr txBox="1"/>
          <p:nvPr/>
        </p:nvSpPr>
        <p:spPr>
          <a:xfrm>
            <a:off x="7680960" y="2267712"/>
            <a:ext cx="3767328" cy="1188720"/>
          </a:xfrm>
          <a:prstGeom prst="rect">
            <a:avLst/>
          </a:prstGeom>
          <a:noFill/>
          <a:ln/>
        </p:spPr>
        <p:txBody>
          <a:bodyPr wrap="square" lIns="0" tIns="0" rIns="0" bIns="0" rtlCol="0" anchor="t"/>
          <a:lstStyle/>
          <a:p>
            <a:pPr indent="0" marL="0">
              <a:buNone/>
            </a:pPr>
            <a:r>
              <a:rPr lang="en-US" sz="1500" b="1" dirty="0">
                <a:solidFill>
                  <a:schemeClr val="tx2"/>
                </a:solidFill>
              </a:rPr>
              <a:t>Close to Table 3</a:t>
            </a:r>
            <a:endParaRPr lang="en-US" sz="1400" dirty="0"/>
          </a:p>
          <a:p>
            <a:pPr indent="0" marL="0">
              <a:buNone/>
            </a:pPr>
            <a:r>
              <a:rPr lang="en-US" sz="1250" dirty="0">
                <a:solidFill>
                  <a:schemeClr val="tx1"/>
                </a:solidFill>
              </a:rPr>
              <a:t>QS Bitfinex BTC: 0.725 bp (paper 0.723). CRT25 BTC on Bitfinex / Bitstamp / Coinbase: 4.72 / 12.96 / 3.64 bp vs 3.72 / 14.30 / 3.41.</a:t>
            </a:r>
            <a:endParaRPr lang="en-US" sz="1400" dirty="0"/>
          </a:p>
        </p:txBody>
      </p:sp>
      <p:sp>
        <p:nvSpPr>
          <p:cNvPr id="10" name="level card 2"/>
          <p:cNvSpPr/>
          <p:nvPr/>
        </p:nvSpPr>
        <p:spPr>
          <a:xfrm>
            <a:off x="7498080" y="3657600"/>
            <a:ext cx="4114800" cy="1600200"/>
          </a:xfrm>
          <a:prstGeom prst="roundRect">
            <a:avLst>
              <a:gd name="adj" fmla="val 5714"/>
            </a:avLst>
          </a:prstGeom>
          <a:solidFill>
            <a:schemeClr val="bg2"/>
          </a:solidFill>
          <a:ln/>
        </p:spPr>
      </p:sp>
      <p:sp>
        <p:nvSpPr>
          <p:cNvPr id="11" name="Text 7"/>
          <p:cNvSpPr txBox="1"/>
          <p:nvPr/>
        </p:nvSpPr>
        <p:spPr>
          <a:xfrm>
            <a:off x="7680960" y="3776472"/>
            <a:ext cx="3767328" cy="1417320"/>
          </a:xfrm>
          <a:prstGeom prst="rect">
            <a:avLst/>
          </a:prstGeom>
          <a:noFill/>
          <a:ln/>
        </p:spPr>
        <p:txBody>
          <a:bodyPr wrap="square" lIns="0" tIns="0" rIns="0" bIns="0" rtlCol="0" anchor="t"/>
          <a:lstStyle/>
          <a:p>
            <a:pPr indent="0" marL="0">
              <a:buNone/>
            </a:pPr>
            <a:r>
              <a:rPr lang="en-US" sz="1500" b="1" dirty="0">
                <a:solidFill>
                  <a:schemeClr val="tx2"/>
                </a:solidFill>
              </a:rPr>
              <a:t>Higher than Table 3</a:t>
            </a:r>
            <a:endParaRPr lang="en-US" sz="1400" dirty="0"/>
          </a:p>
          <a:p>
            <a:pPr indent="0" marL="0">
              <a:buNone/>
            </a:pPr>
            <a:r>
              <a:rPr lang="en-US" sz="1250" dirty="0">
                <a:solidFill>
                  <a:schemeClr val="tx1"/>
                </a:solidFill>
              </a:rPr>
              <a:t>ES and PI are 2.4–8.5× the paper's means; our ES exceeds QS in 5 of 6 markets. Likely cause (our hypothesis): on a 10-second grid the quote is several seconds old at the trade.</a:t>
            </a:r>
            <a:endParaRPr lang="en-US" sz="1400" dirty="0"/>
          </a:p>
        </p:txBody>
      </p:sp>
      <p:sp>
        <p:nvSpPr>
          <p:cNvPr id="12" name="level card 3"/>
          <p:cNvSpPr/>
          <p:nvPr/>
        </p:nvSpPr>
        <p:spPr>
          <a:xfrm>
            <a:off x="7498080" y="5394960"/>
            <a:ext cx="4114800" cy="868680"/>
          </a:xfrm>
          <a:prstGeom prst="roundRect">
            <a:avLst>
              <a:gd name="adj" fmla="val 10526"/>
            </a:avLst>
          </a:prstGeom>
          <a:solidFill>
            <a:schemeClr val="bg2"/>
          </a:solidFill>
          <a:ln/>
        </p:spPr>
      </p:sp>
      <p:sp>
        <p:nvSpPr>
          <p:cNvPr id="13" name="Text 9"/>
          <p:cNvSpPr txBox="1"/>
          <p:nvPr/>
        </p:nvSpPr>
        <p:spPr>
          <a:xfrm>
            <a:off x="7680960" y="5513832"/>
            <a:ext cx="3767328" cy="685800"/>
          </a:xfrm>
          <a:prstGeom prst="rect">
            <a:avLst/>
          </a:prstGeom>
          <a:noFill/>
          <a:ln/>
        </p:spPr>
        <p:txBody>
          <a:bodyPr wrap="square" lIns="0" tIns="0" rIns="0" bIns="0" rtlCol="0" anchor="t"/>
          <a:lstStyle/>
          <a:p>
            <a:pPr indent="0" marL="0">
              <a:buNone/>
            </a:pPr>
            <a:r>
              <a:rPr lang="en-US" sz="1500" b="1" dirty="0">
                <a:solidFill>
                  <a:schemeClr val="tx2"/>
                </a:solidFill>
              </a:rPr>
              <a:t>Coinbase BTC</a:t>
            </a:r>
            <a:endParaRPr lang="en-US" sz="1400" dirty="0"/>
          </a:p>
          <a:p>
            <a:pPr indent="0" marL="0">
              <a:buNone/>
            </a:pPr>
            <a:r>
              <a:rPr lang="en-US" sz="1250" dirty="0">
                <a:solidFill>
                  <a:schemeClr val="tx1"/>
                </a:solidFill>
              </a:rPr>
              <a:t>Our QS is about 4× the paper's: 1.31 vs 0.32 bp.</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RESULTS · PART 3</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The main result replicates: AR tracks costs best</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Hourly correlations with the four benchmarks, Bitcoin, averaged over the three venues.</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Pearson within each venue, averaged over Bitfinex, Bitstamp and Coinbase, as in the paper's Figure 1. Ours: 494 valid BTC hours; CRT25 on 25 levels.</a:t>
            </a:r>
            <a:endParaRPr lang="en-US" sz="1000" dirty="0"/>
          </a:p>
        </p:txBody>
      </p:sp>
      <p:pic>
        <p:nvPicPr>
          <p:cNvPr id="7" name="Correlations of the eight proxies with the four benchmarks, paper vs our sample" descr="Correlations of the eight proxies with the four benchmarks, paper vs our sample">    </p:cNvPr>
          <p:cNvPicPr>
            <a:picLocks noChangeAspect="1"/>
          </p:cNvPicPr>
          <p:nvPr/>
        </p:nvPicPr>
        <p:blipFill>
          <a:blip r:embed="rId1"/>
          <a:stretch>
            <a:fillRect/>
          </a:stretch>
        </p:blipFill>
        <p:spPr>
          <a:xfrm>
            <a:off x="548640" y="2148840"/>
            <a:ext cx="6793992" cy="4069080"/>
          </a:xfrm>
          <a:prstGeom prst="rect">
            <a:avLst/>
          </a:prstGeom>
        </p:spPr>
      </p:pic>
      <p:sp>
        <p:nvSpPr>
          <p:cNvPr id="8" name="legend paper swatch"/>
          <p:cNvSpPr/>
          <p:nvPr/>
        </p:nvSpPr>
        <p:spPr>
          <a:xfrm>
            <a:off x="7589520" y="2240280"/>
            <a:ext cx="182880" cy="182880"/>
          </a:xfrm>
          <a:prstGeom prst="rect">
            <a:avLst/>
          </a:prstGeom>
          <a:solidFill>
            <a:schemeClr val="accent2"/>
          </a:solidFill>
          <a:ln w="9525">
            <a:solidFill>
              <a:schemeClr val="tx2"/>
            </a:solidFill>
            <a:prstDash val="solid"/>
          </a:ln>
        </p:spPr>
      </p:sp>
      <p:sp>
        <p:nvSpPr>
          <p:cNvPr id="9" name="Text 5"/>
          <p:cNvSpPr txBox="1"/>
          <p:nvPr/>
        </p:nvSpPr>
        <p:spPr>
          <a:xfrm>
            <a:off x="7863840" y="2176272"/>
            <a:ext cx="2103120" cy="310896"/>
          </a:xfrm>
          <a:prstGeom prst="rect">
            <a:avLst/>
          </a:prstGeom>
          <a:noFill/>
          <a:ln/>
        </p:spPr>
        <p:txBody>
          <a:bodyPr wrap="square" lIns="0" tIns="0" rIns="0" bIns="0" rtlCol="0" anchor="ctr"/>
          <a:lstStyle/>
          <a:p>
            <a:pPr indent="0" marL="0">
              <a:buNone/>
            </a:pPr>
            <a:r>
              <a:rPr lang="en-US" sz="1200" dirty="0">
                <a:solidFill>
                  <a:schemeClr val="tx1"/>
                </a:solidFill>
              </a:rPr>
              <a:t>Paper (Brauneis et al.)</a:t>
            </a:r>
            <a:endParaRPr lang="en-US" sz="1200" dirty="0"/>
          </a:p>
        </p:txBody>
      </p:sp>
      <p:sp>
        <p:nvSpPr>
          <p:cNvPr id="10" name="legend ours swatch"/>
          <p:cNvSpPr/>
          <p:nvPr/>
        </p:nvSpPr>
        <p:spPr>
          <a:xfrm>
            <a:off x="10012680" y="2240280"/>
            <a:ext cx="182880" cy="182880"/>
          </a:xfrm>
          <a:prstGeom prst="rect">
            <a:avLst/>
          </a:prstGeom>
          <a:solidFill>
            <a:schemeClr val="tx2"/>
          </a:solidFill>
          <a:ln/>
        </p:spPr>
      </p:sp>
      <p:sp>
        <p:nvSpPr>
          <p:cNvPr id="11" name="Text 7"/>
          <p:cNvSpPr txBox="1"/>
          <p:nvPr/>
        </p:nvSpPr>
        <p:spPr>
          <a:xfrm>
            <a:off x="10287000" y="2176272"/>
            <a:ext cx="1371600" cy="310896"/>
          </a:xfrm>
          <a:prstGeom prst="rect">
            <a:avLst/>
          </a:prstGeom>
          <a:noFill/>
          <a:ln/>
        </p:spPr>
        <p:txBody>
          <a:bodyPr wrap="square" lIns="0" tIns="0" rIns="0" bIns="0" rtlCol="0" anchor="ctr"/>
          <a:lstStyle/>
          <a:p>
            <a:pPr indent="0" marL="0">
              <a:buNone/>
            </a:pPr>
            <a:r>
              <a:rPr lang="en-US" sz="1200" dirty="0">
                <a:solidFill>
                  <a:schemeClr val="tx1"/>
                </a:solidFill>
              </a:rPr>
              <a:t>Our sample</a:t>
            </a:r>
            <a:endParaRPr lang="en-US" sz="1200" dirty="0"/>
          </a:p>
        </p:txBody>
      </p:sp>
      <p:graphicFrame>
        <p:nvGraphicFramePr>
          <p:cNvPr id="13" name="AR correlation table"/>
          <p:cNvGraphicFramePr>
            <a:graphicFrameLocks noGrp="1"/>
          </p:cNvGraphicFramePr>
          <p:nvPr>
            <p:extLst>
              <p:ext uri="{D42A27DB-BD31-4B8C-83A1-F6EECF244321}">
                <p14:modId xmlns:p14="http://schemas.microsoft.com/office/powerpoint/2010/main" val="1579011935"/>
              </p:ext>
            </p:extLst>
          </p:nvPr>
        </p:nvGraphicFramePr>
        <p:xfrm>
          <a:off x="7589520" y="2633472"/>
          <a:ext cx="4023360" cy="914400"/>
        </p:xfrm>
        <a:graphic>
          <a:graphicData uri="http://schemas.openxmlformats.org/drawingml/2006/table">
            <a:tbl>
              <a:tblPr/>
              <a:tblGrid>
                <a:gridCol w="1828800"/>
                <a:gridCol w="1097280"/>
                <a:gridCol w="1097280"/>
              </a:tblGrid>
              <a:tr h="384048">
                <a:tc>
                  <a:txBody>
                    <a:bodyPr/>
                    <a:lstStyle/>
                    <a:p>
                      <a:pPr indent="0" marL="0">
                        <a:buNone/>
                      </a:pPr>
                      <a:r>
                        <a:rPr lang="en-US" sz="1200" b="1" dirty="0">
                          <a:solidFill>
                            <a:schemeClr val="tx2"/>
                          </a:solidFill>
                        </a:rPr>
                        <a:t>AR vs …</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rPr>
                        <a:t>Ours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2"/>
                          </a:solidFill>
                        </a:rPr>
                        <a:t>Paper</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r>
              <a:tr h="384048">
                <a:tc>
                  <a:txBody>
                    <a:bodyPr/>
                    <a:lstStyle/>
                    <a:p>
                      <a:pPr indent="0" marL="0">
                        <a:buNone/>
                      </a:pPr>
                      <a:r>
                        <a:rPr lang="en-US" sz="1200" b="1" dirty="0">
                          <a:solidFill>
                            <a:schemeClr val="tx1"/>
                          </a:solidFill>
                        </a:rPr>
                        <a:t>Quoted spread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b="1" dirty="0">
                          <a:solidFill>
                            <a:schemeClr val="tx2"/>
                          </a:solidFill>
                        </a:rPr>
                        <a:t>0.75</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dirty="0">
                          <a:solidFill>
                            <a:schemeClr val="tx1"/>
                          </a:solidFill>
                        </a:rPr>
                        <a:t>0.76</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84048">
                <a:tc>
                  <a:txBody>
                    <a:bodyPr/>
                    <a:lstStyle/>
                    <a:p>
                      <a:pPr indent="0" marL="0">
                        <a:buNone/>
                      </a:pPr>
                      <a:r>
                        <a:rPr lang="en-US" sz="1200" b="1" dirty="0">
                          <a:solidFill>
                            <a:schemeClr val="tx1"/>
                          </a:solidFill>
                        </a:rPr>
                        <a:t>Effective spread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b="1" dirty="0">
                          <a:solidFill>
                            <a:schemeClr val="tx2"/>
                          </a:solidFill>
                        </a:rPr>
                        <a:t>0.80</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dirty="0">
                          <a:solidFill>
                            <a:schemeClr val="tx1"/>
                          </a:solidFill>
                        </a:rPr>
                        <a:t>0.84</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84048">
                <a:tc>
                  <a:txBody>
                    <a:bodyPr/>
                    <a:lstStyle/>
                    <a:p>
                      <a:pPr indent="0" marL="0">
                        <a:buNone/>
                      </a:pPr>
                      <a:r>
                        <a:rPr lang="en-US" sz="1200" b="1" dirty="0">
                          <a:solidFill>
                            <a:schemeClr val="tx1"/>
                          </a:solidFill>
                        </a:rPr>
                        <a:t>Roundtrip cost</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b="1" dirty="0">
                          <a:solidFill>
                            <a:schemeClr val="tx2"/>
                          </a:solidFill>
                        </a:rPr>
                        <a:t>0.68</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dirty="0">
                          <a:solidFill>
                            <a:schemeClr val="tx1"/>
                          </a:solidFill>
                        </a:rPr>
                        <a:t>0.71</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r h="384048">
                <a:tc>
                  <a:txBody>
                    <a:bodyPr/>
                    <a:lstStyle/>
                    <a:p>
                      <a:pPr indent="0" marL="0">
                        <a:buNone/>
                      </a:pPr>
                      <a:r>
                        <a:rPr lang="en-US" sz="1200" b="1" dirty="0">
                          <a:solidFill>
                            <a:schemeClr val="tx1"/>
                          </a:solidFill>
                        </a:rPr>
                        <a:t>Price impact</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b="1" dirty="0">
                          <a:solidFill>
                            <a:schemeClr val="tx2"/>
                          </a:solidFill>
                        </a:rPr>
                        <a:t>0.58</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400" dirty="0">
                          <a:solidFill>
                            <a:schemeClr val="tx1"/>
                          </a:solidFill>
                        </a:rPr>
                        <a:t>0.59</a:t>
                      </a:r>
                      <a:endParaRPr lang="en-US" sz="14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r>
            </a:tbl>
          </a:graphicData>
        </a:graphic>
      </p:graphicFrame>
      <p:sp>
        <p:nvSpPr>
          <p:cNvPr id="13" name="correlation takeaway"/>
          <p:cNvSpPr/>
          <p:nvPr/>
        </p:nvSpPr>
        <p:spPr>
          <a:xfrm>
            <a:off x="7589520" y="4754880"/>
            <a:ext cx="4023360" cy="1417320"/>
          </a:xfrm>
          <a:prstGeom prst="roundRect">
            <a:avLst>
              <a:gd name="adj" fmla="val 6452"/>
            </a:avLst>
          </a:prstGeom>
          <a:solidFill>
            <a:schemeClr val="tx2"/>
          </a:solidFill>
          <a:ln/>
        </p:spPr>
      </p:sp>
      <p:sp>
        <p:nvSpPr>
          <p:cNvPr id="14" name="Text 9"/>
          <p:cNvSpPr txBox="1"/>
          <p:nvPr/>
        </p:nvSpPr>
        <p:spPr>
          <a:xfrm>
            <a:off x="7754112" y="4828032"/>
            <a:ext cx="3749040" cy="1280160"/>
          </a:xfrm>
          <a:prstGeom prst="rect">
            <a:avLst/>
          </a:prstGeom>
          <a:noFill/>
          <a:ln/>
        </p:spPr>
        <p:txBody>
          <a:bodyPr wrap="square" lIns="0" tIns="0" rIns="0" bIns="0" rtlCol="0" anchor="ctr"/>
          <a:lstStyle/>
          <a:p>
            <a:pPr marL="177800" indent="-177800">
              <a:spcAft>
                <a:spcPts val="600"/>
              </a:spcAft>
              <a:buSzPct val="100000"/>
              <a:buChar char="•"/>
            </a:pPr>
            <a:r>
              <a:rPr lang="en-US" sz="1250" dirty="0">
                <a:solidFill>
                  <a:schemeClr val="bg1"/>
                </a:solidFill>
              </a:rPr>
              <a:t>AR is first for QS, ES and CRT25; for PI, $Vol (0.60) is marginally above AR (0.58).</a:t>
            </a:r>
            <a:endParaRPr lang="en-US" sz="1250" dirty="0"/>
          </a:p>
          <a:p>
            <a:pPr marL="177800" indent="-177800">
              <a:spcAft>
                <a:spcPts val="600"/>
              </a:spcAft>
              <a:buSzPct val="100000"/>
              <a:buChar char="•"/>
            </a:pPr>
            <a:r>
              <a:rPr lang="en-US" sz="1250" dirty="0">
                <a:solidFill>
                  <a:schemeClr val="bg1"/>
                </a:solidFill>
              </a:rPr>
              <a:t>Amihud ≈ 0 again; TX and $Vol positive again (0.41–0.60).</a:t>
            </a:r>
            <a:endParaRPr lang="en-US" sz="125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RESULTS · PART 3</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Same ordering of proxies, slightly weaker coefficients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Mean correlation of each proxy with each benchmark: the paper (Bitcoin) and our sample (Bitcoin, Ethereum).</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Hourly data, valid hours only; colour scale from −1 (lime) through 0 (white) to +1 (navy). The paper's values are the labels printed in its Figure 1.</a:t>
            </a:r>
            <a:endParaRPr lang="en-US" sz="1000" dirty="0"/>
          </a:p>
        </p:txBody>
      </p:sp>
      <p:pic>
        <p:nvPicPr>
          <p:cNvPr id="7" name="Correlation matrices: paper Bitcoin, our Bitcoin, our Ethereum" descr="Correlation matrices: paper Bitcoin, our Bitcoin, our Ethereum">    </p:cNvPr>
          <p:cNvPicPr>
            <a:picLocks noChangeAspect="1"/>
          </p:cNvPicPr>
          <p:nvPr/>
        </p:nvPicPr>
        <p:blipFill>
          <a:blip r:embed="rId1"/>
          <a:stretch>
            <a:fillRect/>
          </a:stretch>
        </p:blipFill>
        <p:spPr>
          <a:xfrm>
            <a:off x="548640" y="2103120"/>
            <a:ext cx="8138160" cy="3474720"/>
          </a:xfrm>
          <a:prstGeom prst="rect">
            <a:avLst/>
          </a:prstGeom>
        </p:spPr>
      </p:pic>
      <p:sp>
        <p:nvSpPr>
          <p:cNvPr id="8" name="matrix takeaway"/>
          <p:cNvSpPr/>
          <p:nvPr/>
        </p:nvSpPr>
        <p:spPr>
          <a:xfrm>
            <a:off x="548640" y="5641848"/>
            <a:ext cx="8138160" cy="548640"/>
          </a:xfrm>
          <a:prstGeom prst="roundRect">
            <a:avLst>
              <a:gd name="adj" fmla="val 16667"/>
            </a:avLst>
          </a:prstGeom>
          <a:solidFill>
            <a:schemeClr val="tx2"/>
          </a:solidFill>
          <a:ln/>
        </p:spPr>
      </p:sp>
      <p:sp>
        <p:nvSpPr>
          <p:cNvPr id="9" name="Text 5"/>
          <p:cNvSpPr txBox="1"/>
          <p:nvPr/>
        </p:nvSpPr>
        <p:spPr>
          <a:xfrm>
            <a:off x="777240" y="5641848"/>
            <a:ext cx="7772400" cy="548640"/>
          </a:xfrm>
          <a:prstGeom prst="rect">
            <a:avLst/>
          </a:prstGeom>
          <a:noFill/>
          <a:ln/>
        </p:spPr>
        <p:txBody>
          <a:bodyPr wrap="square" lIns="0" tIns="0" rIns="0" bIns="0" rtlCol="0" anchor="ctr"/>
          <a:lstStyle/>
          <a:p>
            <a:pPr indent="0" marL="0">
              <a:buNone/>
            </a:pPr>
            <a:r>
              <a:rPr lang="en-US" sz="1400" b="1" dirty="0">
                <a:solidFill>
                  <a:schemeClr val="accent3"/>
                </a:solidFill>
              </a:rPr>
              <a:t>Rankings agree more than sizes: </a:t>
            </a:r>
            <a:pPr indent="0" marL="0">
              <a:buNone/>
            </a:pPr>
            <a:r>
              <a:rPr lang="en-US" sz="1400" dirty="0">
                <a:solidFill>
                  <a:schemeClr val="bg1"/>
                </a:solidFill>
              </a:rPr>
              <a:t>7 days of 2019 against 18 months of 2017–2019.</a:t>
            </a:r>
            <a:endParaRPr lang="en-US" sz="1400" dirty="0"/>
          </a:p>
        </p:txBody>
      </p:sp>
      <p:sp>
        <p:nvSpPr>
          <p:cNvPr id="10" name="agreement stat 1"/>
          <p:cNvSpPr/>
          <p:nvPr/>
        </p:nvSpPr>
        <p:spPr>
          <a:xfrm>
            <a:off x="9052560" y="2194560"/>
            <a:ext cx="2560320" cy="914400"/>
          </a:xfrm>
          <a:prstGeom prst="roundRect">
            <a:avLst>
              <a:gd name="adj" fmla="val 10000"/>
            </a:avLst>
          </a:prstGeom>
          <a:solidFill>
            <a:schemeClr val="bg2"/>
          </a:solidFill>
          <a:ln/>
        </p:spPr>
      </p:sp>
      <p:sp>
        <p:nvSpPr>
          <p:cNvPr id="11" name="Text 7"/>
          <p:cNvSpPr txBox="1"/>
          <p:nvPr/>
        </p:nvSpPr>
        <p:spPr>
          <a:xfrm>
            <a:off x="9217152" y="2267712"/>
            <a:ext cx="2286000" cy="365760"/>
          </a:xfrm>
          <a:prstGeom prst="rect">
            <a:avLst/>
          </a:prstGeom>
          <a:noFill/>
          <a:ln/>
        </p:spPr>
        <p:txBody>
          <a:bodyPr wrap="square" lIns="0" tIns="0" rIns="0" bIns="0" rtlCol="0" anchor="t"/>
          <a:lstStyle/>
          <a:p>
            <a:pPr indent="0" marL="0">
              <a:buNone/>
            </a:pPr>
            <a:r>
              <a:rPr lang="en-US" sz="2000" b="1" dirty="0">
                <a:solidFill>
                  <a:schemeClr val="tx2"/>
                </a:solidFill>
              </a:rPr>
              <a:t>0.90</a:t>
            </a:r>
            <a:endParaRPr lang="en-US" sz="2000" dirty="0"/>
          </a:p>
        </p:txBody>
      </p:sp>
      <p:sp>
        <p:nvSpPr>
          <p:cNvPr id="12" name="Text 8"/>
          <p:cNvSpPr txBox="1"/>
          <p:nvPr/>
        </p:nvSpPr>
        <p:spPr>
          <a:xfrm>
            <a:off x="9217152" y="2633472"/>
            <a:ext cx="2286000" cy="457200"/>
          </a:xfrm>
          <a:prstGeom prst="rect">
            <a:avLst/>
          </a:prstGeom>
          <a:noFill/>
          <a:ln/>
        </p:spPr>
        <p:txBody>
          <a:bodyPr wrap="square" lIns="0" tIns="0" rIns="0" bIns="0" rtlCol="0" anchor="t"/>
          <a:lstStyle/>
          <a:p>
            <a:pPr indent="0" marL="0">
              <a:buNone/>
            </a:pPr>
            <a:r>
              <a:rPr lang="en-US" sz="1100" dirty="0">
                <a:solidFill>
                  <a:schemeClr val="tx1"/>
                </a:solidFill>
              </a:rPr>
              <a:t>correlation of our 32 BTC coefficients with the paper's</a:t>
            </a:r>
            <a:endParaRPr lang="en-US" sz="1100" dirty="0"/>
          </a:p>
        </p:txBody>
      </p:sp>
      <p:sp>
        <p:nvSpPr>
          <p:cNvPr id="13" name="agreement stat 2"/>
          <p:cNvSpPr/>
          <p:nvPr/>
        </p:nvSpPr>
        <p:spPr>
          <a:xfrm>
            <a:off x="9052560" y="3200400"/>
            <a:ext cx="2560320" cy="914400"/>
          </a:xfrm>
          <a:prstGeom prst="roundRect">
            <a:avLst>
              <a:gd name="adj" fmla="val 10000"/>
            </a:avLst>
          </a:prstGeom>
          <a:solidFill>
            <a:schemeClr val="bg2"/>
          </a:solidFill>
          <a:ln/>
        </p:spPr>
      </p:sp>
      <p:sp>
        <p:nvSpPr>
          <p:cNvPr id="14" name="Text 10"/>
          <p:cNvSpPr txBox="1"/>
          <p:nvPr/>
        </p:nvSpPr>
        <p:spPr>
          <a:xfrm>
            <a:off x="9217152" y="3273552"/>
            <a:ext cx="2286000" cy="365760"/>
          </a:xfrm>
          <a:prstGeom prst="rect">
            <a:avLst/>
          </a:prstGeom>
          <a:noFill/>
          <a:ln/>
        </p:spPr>
        <p:txBody>
          <a:bodyPr wrap="square" lIns="0" tIns="0" rIns="0" bIns="0" rtlCol="0" anchor="t"/>
          <a:lstStyle/>
          <a:p>
            <a:pPr indent="0" marL="0">
              <a:buNone/>
            </a:pPr>
            <a:r>
              <a:rPr lang="en-US" sz="2000" b="1" dirty="0">
                <a:solidFill>
                  <a:schemeClr val="tx2"/>
                </a:solidFill>
              </a:rPr>
              <a:t>0.98</a:t>
            </a:r>
            <a:endParaRPr lang="en-US" sz="2000" dirty="0"/>
          </a:p>
        </p:txBody>
      </p:sp>
      <p:sp>
        <p:nvSpPr>
          <p:cNvPr id="15" name="Text 11"/>
          <p:cNvSpPr txBox="1"/>
          <p:nvPr/>
        </p:nvSpPr>
        <p:spPr>
          <a:xfrm>
            <a:off x="9217152" y="3639312"/>
            <a:ext cx="2286000" cy="457200"/>
          </a:xfrm>
          <a:prstGeom prst="rect">
            <a:avLst/>
          </a:prstGeom>
          <a:noFill/>
          <a:ln/>
        </p:spPr>
        <p:txBody>
          <a:bodyPr wrap="square" lIns="0" tIns="0" rIns="0" bIns="0" rtlCol="0" anchor="t"/>
          <a:lstStyle/>
          <a:p>
            <a:pPr indent="0" marL="0">
              <a:buNone/>
            </a:pPr>
            <a:r>
              <a:rPr lang="en-US" sz="1100" dirty="0">
                <a:solidFill>
                  <a:schemeClr val="tx1"/>
                </a:solidFill>
              </a:rPr>
              <a:t>rank agreement of the 8 proxies for QS (ES 0.90, CRT 0.90, PI 0.65)</a:t>
            </a:r>
            <a:endParaRPr lang="en-US" sz="1100" dirty="0"/>
          </a:p>
        </p:txBody>
      </p:sp>
      <p:sp>
        <p:nvSpPr>
          <p:cNvPr id="16" name="agreement stat 3"/>
          <p:cNvSpPr/>
          <p:nvPr/>
        </p:nvSpPr>
        <p:spPr>
          <a:xfrm>
            <a:off x="9052560" y="4206240"/>
            <a:ext cx="2560320" cy="914400"/>
          </a:xfrm>
          <a:prstGeom prst="roundRect">
            <a:avLst>
              <a:gd name="adj" fmla="val 10000"/>
            </a:avLst>
          </a:prstGeom>
          <a:solidFill>
            <a:schemeClr val="bg2"/>
          </a:solidFill>
          <a:ln/>
        </p:spPr>
      </p:sp>
      <p:sp>
        <p:nvSpPr>
          <p:cNvPr id="17" name="Text 13"/>
          <p:cNvSpPr txBox="1"/>
          <p:nvPr/>
        </p:nvSpPr>
        <p:spPr>
          <a:xfrm>
            <a:off x="9217152" y="4279392"/>
            <a:ext cx="2286000" cy="365760"/>
          </a:xfrm>
          <a:prstGeom prst="rect">
            <a:avLst/>
          </a:prstGeom>
          <a:noFill/>
          <a:ln/>
        </p:spPr>
        <p:txBody>
          <a:bodyPr wrap="square" lIns="0" tIns="0" rIns="0" bIns="0" rtlCol="0" anchor="t"/>
          <a:lstStyle/>
          <a:p>
            <a:pPr indent="0" marL="0">
              <a:buNone/>
            </a:pPr>
            <a:r>
              <a:rPr lang="en-US" sz="2000" b="1" dirty="0">
                <a:solidFill>
                  <a:schemeClr val="tx2"/>
                </a:solidFill>
              </a:rPr>
              <a:t>−0.065</a:t>
            </a:r>
            <a:endParaRPr lang="en-US" sz="2000" dirty="0"/>
          </a:p>
        </p:txBody>
      </p:sp>
      <p:sp>
        <p:nvSpPr>
          <p:cNvPr id="18" name="Text 14"/>
          <p:cNvSpPr txBox="1"/>
          <p:nvPr/>
        </p:nvSpPr>
        <p:spPr>
          <a:xfrm>
            <a:off x="9217152" y="4645152"/>
            <a:ext cx="2286000" cy="457200"/>
          </a:xfrm>
          <a:prstGeom prst="rect">
            <a:avLst/>
          </a:prstGeom>
          <a:noFill/>
          <a:ln/>
        </p:spPr>
        <p:txBody>
          <a:bodyPr wrap="square" lIns="0" tIns="0" rIns="0" bIns="0" rtlCol="0" anchor="t"/>
          <a:lstStyle/>
          <a:p>
            <a:pPr indent="0" marL="0">
              <a:buNone/>
            </a:pPr>
            <a:r>
              <a:rPr lang="en-US" sz="1100" dirty="0">
                <a:solidFill>
                  <a:schemeClr val="tx1"/>
                </a:solidFill>
              </a:rPr>
              <a:t>mean difference; ours lower in 24 of 32</a:t>
            </a:r>
            <a:endParaRPr lang="en-US" sz="1100" dirty="0"/>
          </a:p>
        </p:txBody>
      </p:sp>
      <p:sp>
        <p:nvSpPr>
          <p:cNvPr id="19" name="agreement stat 4"/>
          <p:cNvSpPr/>
          <p:nvPr/>
        </p:nvSpPr>
        <p:spPr>
          <a:xfrm>
            <a:off x="9052560" y="5212080"/>
            <a:ext cx="2560320" cy="914400"/>
          </a:xfrm>
          <a:prstGeom prst="roundRect">
            <a:avLst>
              <a:gd name="adj" fmla="val 10000"/>
            </a:avLst>
          </a:prstGeom>
          <a:solidFill>
            <a:schemeClr val="bg2"/>
          </a:solidFill>
          <a:ln/>
        </p:spPr>
      </p:sp>
      <p:sp>
        <p:nvSpPr>
          <p:cNvPr id="20" name="Text 16"/>
          <p:cNvSpPr txBox="1"/>
          <p:nvPr/>
        </p:nvSpPr>
        <p:spPr>
          <a:xfrm>
            <a:off x="9217152" y="5285232"/>
            <a:ext cx="2286000" cy="365760"/>
          </a:xfrm>
          <a:prstGeom prst="rect">
            <a:avLst/>
          </a:prstGeom>
          <a:noFill/>
          <a:ln/>
        </p:spPr>
        <p:txBody>
          <a:bodyPr wrap="square" lIns="0" tIns="0" rIns="0" bIns="0" rtlCol="0" anchor="t"/>
          <a:lstStyle/>
          <a:p>
            <a:pPr indent="0" marL="0">
              <a:buNone/>
            </a:pPr>
            <a:r>
              <a:rPr lang="en-US" sz="2000" b="1" dirty="0">
                <a:solidFill>
                  <a:schemeClr val="tx2"/>
                </a:solidFill>
              </a:rPr>
              <a:t>4 of 4</a:t>
            </a:r>
            <a:endParaRPr lang="en-US" sz="2000" dirty="0"/>
          </a:p>
        </p:txBody>
      </p:sp>
      <p:sp>
        <p:nvSpPr>
          <p:cNvPr id="21" name="Text 17"/>
          <p:cNvSpPr txBox="1"/>
          <p:nvPr/>
        </p:nvSpPr>
        <p:spPr>
          <a:xfrm>
            <a:off x="9217152" y="5650992"/>
            <a:ext cx="2286000" cy="457200"/>
          </a:xfrm>
          <a:prstGeom prst="rect">
            <a:avLst/>
          </a:prstGeom>
          <a:noFill/>
          <a:ln/>
        </p:spPr>
        <p:txBody>
          <a:bodyPr wrap="square" lIns="0" tIns="0" rIns="0" bIns="0" rtlCol="0" anchor="t"/>
          <a:lstStyle/>
          <a:p>
            <a:pPr indent="0" marL="0">
              <a:buNone/>
            </a:pPr>
            <a:r>
              <a:rPr lang="en-US" sz="1100" dirty="0">
                <a:solidFill>
                  <a:schemeClr val="tx1"/>
                </a:solidFill>
              </a:rPr>
              <a:t>ETH: AR is top for all four benchmarks</a:t>
            </a:r>
            <a:endParaRPr lang="en-US" sz="11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RESULTS · PART 3</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AR also ranks the venues best</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How often a proxy orders Bitfinex, Bitstamp and Coinbase exactly like the benchmark (Bitcoin, hourly).</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158 hours with all three venues valid; TX and $Vol reversed; ties excluded (Roll: 97 untied hours). ETH QS: AR 61.5% of 26 hours. Paper: Table 6.</a:t>
            </a:r>
            <a:endParaRPr lang="en-US" sz="1000" dirty="0"/>
          </a:p>
        </p:txBody>
      </p:sp>
      <p:pic>
        <p:nvPicPr>
          <p:cNvPr id="7" name="Share of hours with identical venue ordering, paper vs our sample" descr="Share of hours with identical venue ordering, paper vs our sample">    </p:cNvPr>
          <p:cNvPicPr>
            <a:picLocks noChangeAspect="1"/>
          </p:cNvPicPr>
          <p:nvPr/>
        </p:nvPicPr>
        <p:blipFill>
          <a:blip r:embed="rId1"/>
          <a:stretch>
            <a:fillRect/>
          </a:stretch>
        </p:blipFill>
        <p:spPr>
          <a:xfrm>
            <a:off x="868680" y="2103120"/>
            <a:ext cx="10424160" cy="3447288"/>
          </a:xfrm>
          <a:prstGeom prst="rect">
            <a:avLst/>
          </a:prstGeom>
        </p:spPr>
      </p:pic>
      <p:sp>
        <p:nvSpPr>
          <p:cNvPr id="8" name="ranking chip 1"/>
          <p:cNvSpPr/>
          <p:nvPr/>
        </p:nvSpPr>
        <p:spPr>
          <a:xfrm>
            <a:off x="548640" y="5669280"/>
            <a:ext cx="2651760" cy="530352"/>
          </a:xfrm>
          <a:prstGeom prst="roundRect">
            <a:avLst>
              <a:gd name="adj" fmla="val 17241"/>
            </a:avLst>
          </a:prstGeom>
          <a:solidFill>
            <a:schemeClr val="tx2"/>
          </a:solidFill>
          <a:ln/>
        </p:spPr>
      </p:sp>
      <p:sp>
        <p:nvSpPr>
          <p:cNvPr id="9" name="Text 5"/>
          <p:cNvSpPr txBox="1"/>
          <p:nvPr/>
        </p:nvSpPr>
        <p:spPr>
          <a:xfrm>
            <a:off x="658368" y="5669280"/>
            <a:ext cx="2432304" cy="530352"/>
          </a:xfrm>
          <a:prstGeom prst="rect">
            <a:avLst/>
          </a:prstGeom>
          <a:noFill/>
          <a:ln/>
        </p:spPr>
        <p:txBody>
          <a:bodyPr wrap="square" lIns="0" tIns="0" rIns="0" bIns="0" rtlCol="0" anchor="ctr"/>
          <a:lstStyle/>
          <a:p>
            <a:pPr algn="ctr" indent="0" marL="0">
              <a:buNone/>
            </a:pPr>
            <a:r>
              <a:rPr lang="en-US" sz="1300" b="1" dirty="0">
                <a:solidFill>
                  <a:schemeClr val="bg1"/>
                </a:solidFill>
              </a:rPr>
              <a:t>QS: AR 75.9% (paper 66.67%)</a:t>
            </a:r>
            <a:endParaRPr lang="en-US" sz="1300" dirty="0"/>
          </a:p>
        </p:txBody>
      </p:sp>
      <p:sp>
        <p:nvSpPr>
          <p:cNvPr id="10" name="ranking chip 2"/>
          <p:cNvSpPr/>
          <p:nvPr/>
        </p:nvSpPr>
        <p:spPr>
          <a:xfrm>
            <a:off x="3364992" y="5669280"/>
            <a:ext cx="2651760" cy="530352"/>
          </a:xfrm>
          <a:prstGeom prst="roundRect">
            <a:avLst>
              <a:gd name="adj" fmla="val 17241"/>
            </a:avLst>
          </a:prstGeom>
          <a:solidFill>
            <a:schemeClr val="tx2"/>
          </a:solidFill>
          <a:ln/>
        </p:spPr>
      </p:sp>
      <p:sp>
        <p:nvSpPr>
          <p:cNvPr id="11" name="Text 7"/>
          <p:cNvSpPr txBox="1"/>
          <p:nvPr/>
        </p:nvSpPr>
        <p:spPr>
          <a:xfrm>
            <a:off x="3474720" y="5669280"/>
            <a:ext cx="2432304" cy="530352"/>
          </a:xfrm>
          <a:prstGeom prst="rect">
            <a:avLst/>
          </a:prstGeom>
          <a:noFill/>
          <a:ln/>
        </p:spPr>
        <p:txBody>
          <a:bodyPr wrap="square" lIns="0" tIns="0" rIns="0" bIns="0" rtlCol="0" anchor="ctr"/>
          <a:lstStyle/>
          <a:p>
            <a:pPr algn="ctr" indent="0" marL="0">
              <a:buNone/>
            </a:pPr>
            <a:r>
              <a:rPr lang="en-US" sz="1300" b="1" dirty="0">
                <a:solidFill>
                  <a:schemeClr val="bg1"/>
                </a:solidFill>
              </a:rPr>
              <a:t>ES: AR 73.4% (paper 59.57%)</a:t>
            </a:r>
            <a:endParaRPr lang="en-US" sz="1300" dirty="0"/>
          </a:p>
        </p:txBody>
      </p:sp>
      <p:sp>
        <p:nvSpPr>
          <p:cNvPr id="12" name="ranking chip 3"/>
          <p:cNvSpPr/>
          <p:nvPr/>
        </p:nvSpPr>
        <p:spPr>
          <a:xfrm>
            <a:off x="6181344" y="5669280"/>
            <a:ext cx="2651760" cy="530352"/>
          </a:xfrm>
          <a:prstGeom prst="roundRect">
            <a:avLst>
              <a:gd name="adj" fmla="val 17241"/>
            </a:avLst>
          </a:prstGeom>
          <a:solidFill>
            <a:schemeClr val="bg2"/>
          </a:solidFill>
          <a:ln/>
        </p:spPr>
      </p:sp>
      <p:sp>
        <p:nvSpPr>
          <p:cNvPr id="13" name="Text 9"/>
          <p:cNvSpPr txBox="1"/>
          <p:nvPr/>
        </p:nvSpPr>
        <p:spPr>
          <a:xfrm>
            <a:off x="6291072" y="5669280"/>
            <a:ext cx="2432304" cy="530352"/>
          </a:xfrm>
          <a:prstGeom prst="rect">
            <a:avLst/>
          </a:prstGeom>
          <a:noFill/>
          <a:ln/>
        </p:spPr>
        <p:txBody>
          <a:bodyPr wrap="square" lIns="0" tIns="0" rIns="0" bIns="0" rtlCol="0" anchor="ctr"/>
          <a:lstStyle/>
          <a:p>
            <a:pPr algn="ctr" indent="0" marL="0">
              <a:buNone/>
            </a:pPr>
            <a:r>
              <a:rPr lang="en-US" sz="1300" b="1" dirty="0">
                <a:solidFill>
                  <a:schemeClr val="tx2"/>
                </a:solidFill>
              </a:rPr>
              <a:t>CRT: Amihud first (70.9%)</a:t>
            </a:r>
            <a:endParaRPr lang="en-US" sz="1300" dirty="0"/>
          </a:p>
        </p:txBody>
      </p:sp>
      <p:sp>
        <p:nvSpPr>
          <p:cNvPr id="14" name="ranking chip 4"/>
          <p:cNvSpPr/>
          <p:nvPr/>
        </p:nvSpPr>
        <p:spPr>
          <a:xfrm>
            <a:off x="8997696" y="5669280"/>
            <a:ext cx="2651760" cy="530352"/>
          </a:xfrm>
          <a:prstGeom prst="roundRect">
            <a:avLst>
              <a:gd name="adj" fmla="val 17241"/>
            </a:avLst>
          </a:prstGeom>
          <a:solidFill>
            <a:schemeClr val="accent3"/>
          </a:solidFill>
          <a:ln/>
        </p:spPr>
      </p:sp>
      <p:sp>
        <p:nvSpPr>
          <p:cNvPr id="15" name="Text 11"/>
          <p:cNvSpPr txBox="1"/>
          <p:nvPr/>
        </p:nvSpPr>
        <p:spPr>
          <a:xfrm>
            <a:off x="9107424" y="5669280"/>
            <a:ext cx="2432304" cy="530352"/>
          </a:xfrm>
          <a:prstGeom prst="rect">
            <a:avLst/>
          </a:prstGeom>
          <a:noFill/>
          <a:ln/>
        </p:spPr>
        <p:txBody>
          <a:bodyPr wrap="square" lIns="0" tIns="0" rIns="0" bIns="0" rtlCol="0" anchor="ctr"/>
          <a:lstStyle/>
          <a:p>
            <a:pPr algn="ctr" indent="0" marL="0">
              <a:buNone/>
            </a:pPr>
            <a:r>
              <a:rPr lang="en-US" sz="1300" b="1" dirty="0">
                <a:solidFill>
                  <a:schemeClr val="tx2"/>
                </a:solidFill>
              </a:rPr>
              <a:t>PI: AR 15.2% &lt; random 16.7%</a:t>
            </a:r>
            <a:endParaRPr lang="en-US" sz="13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EXTENSION · PART 4</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Beyond volatility: AR still tracks the spreads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Partial Spearman correlation of AR with each benchmark after removing hourly volatility, with 95% bootstrap intervals.</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Ranges over the five larger markets. 999 date-block resamples of the seven dates, same draws for all markets; individual intervals, no multiple-comparison adjustment. Lime band: Bitstamp ETH.</a:t>
            </a:r>
            <a:endParaRPr lang="en-US" sz="1000" dirty="0"/>
          </a:p>
        </p:txBody>
      </p:sp>
      <p:pic>
        <p:nvPicPr>
          <p:cNvPr id="7" name="Partial correlations of AR with bootstrap intervals for six markets" descr="Partial correlations of AR with bootstrap intervals for six markets">    </p:cNvPr>
          <p:cNvPicPr>
            <a:picLocks noChangeAspect="1"/>
          </p:cNvPicPr>
          <p:nvPr/>
        </p:nvPicPr>
        <p:blipFill>
          <a:blip r:embed="rId1"/>
          <a:stretch>
            <a:fillRect/>
          </a:stretch>
        </p:blipFill>
        <p:spPr>
          <a:xfrm>
            <a:off x="548640" y="2148840"/>
            <a:ext cx="6748272" cy="4069080"/>
          </a:xfrm>
          <a:prstGeom prst="rect">
            <a:avLst/>
          </a:prstGeom>
        </p:spPr>
      </p:pic>
      <p:sp>
        <p:nvSpPr>
          <p:cNvPr id="8" name="partial result 1"/>
          <p:cNvSpPr/>
          <p:nvPr/>
        </p:nvSpPr>
        <p:spPr>
          <a:xfrm>
            <a:off x="7543800" y="2148840"/>
            <a:ext cx="4069080" cy="932688"/>
          </a:xfrm>
          <a:prstGeom prst="roundRect">
            <a:avLst>
              <a:gd name="adj" fmla="val 9804"/>
            </a:avLst>
          </a:prstGeom>
          <a:solidFill>
            <a:schemeClr val="tx2"/>
          </a:solidFill>
          <a:ln/>
        </p:spPr>
      </p:sp>
      <p:sp>
        <p:nvSpPr>
          <p:cNvPr id="9" name="Text 5"/>
          <p:cNvSpPr txBox="1"/>
          <p:nvPr/>
        </p:nvSpPr>
        <p:spPr>
          <a:xfrm>
            <a:off x="7726680" y="2240280"/>
            <a:ext cx="3749040" cy="777240"/>
          </a:xfrm>
          <a:prstGeom prst="rect">
            <a:avLst/>
          </a:prstGeom>
          <a:noFill/>
          <a:ln/>
        </p:spPr>
        <p:txBody>
          <a:bodyPr wrap="square" lIns="0" tIns="0" rIns="0" bIns="0" rtlCol="0" anchor="ctr"/>
          <a:lstStyle/>
          <a:p>
            <a:pPr indent="0" marL="0">
              <a:buNone/>
            </a:pPr>
            <a:r>
              <a:rPr lang="en-US" sz="1500" b="1" dirty="0">
                <a:solidFill>
                  <a:schemeClr val="accent3"/>
                </a:solidFill>
              </a:rPr>
              <a:t>QS 0.41–0.61 · ES 0.51–0.67</a:t>
            </a:r>
            <a:endParaRPr lang="en-US" sz="1400" dirty="0"/>
          </a:p>
          <a:p>
            <a:pPr indent="0" marL="0">
              <a:buNone/>
            </a:pPr>
            <a:r>
              <a:rPr lang="en-US" sz="1250" dirty="0">
                <a:solidFill>
                  <a:schemeClr val="bg1"/>
                </a:solidFill>
              </a:rPr>
              <a:t>Survive the control; every interval is above zero (lower bounds 0.23–0.45)</a:t>
            </a:r>
            <a:endParaRPr lang="en-US" sz="1400" dirty="0"/>
          </a:p>
        </p:txBody>
      </p:sp>
      <p:sp>
        <p:nvSpPr>
          <p:cNvPr id="10" name="partial result 2"/>
          <p:cNvSpPr/>
          <p:nvPr/>
        </p:nvSpPr>
        <p:spPr>
          <a:xfrm>
            <a:off x="7543800" y="3182112"/>
            <a:ext cx="4069080" cy="932688"/>
          </a:xfrm>
          <a:prstGeom prst="roundRect">
            <a:avLst>
              <a:gd name="adj" fmla="val 9804"/>
            </a:avLst>
          </a:prstGeom>
          <a:solidFill>
            <a:schemeClr val="bg2"/>
          </a:solidFill>
          <a:ln/>
        </p:spPr>
      </p:sp>
      <p:sp>
        <p:nvSpPr>
          <p:cNvPr id="11" name="Text 7"/>
          <p:cNvSpPr txBox="1"/>
          <p:nvPr/>
        </p:nvSpPr>
        <p:spPr>
          <a:xfrm>
            <a:off x="7726680" y="3273552"/>
            <a:ext cx="3749040" cy="777240"/>
          </a:xfrm>
          <a:prstGeom prst="rect">
            <a:avLst/>
          </a:prstGeom>
          <a:noFill/>
          <a:ln/>
        </p:spPr>
        <p:txBody>
          <a:bodyPr wrap="square" lIns="0" tIns="0" rIns="0" bIns="0" rtlCol="0" anchor="ctr"/>
          <a:lstStyle/>
          <a:p>
            <a:pPr indent="0" marL="0">
              <a:buNone/>
            </a:pPr>
            <a:r>
              <a:rPr lang="en-US" sz="1500" b="1" dirty="0">
                <a:solidFill>
                  <a:schemeClr val="tx2"/>
                </a:solidFill>
              </a:rPr>
              <a:t>CRT25 0.22–0.47</a:t>
            </a:r>
            <a:endParaRPr lang="en-US" sz="1400" dirty="0"/>
          </a:p>
          <a:p>
            <a:pPr indent="0" marL="0">
              <a:buNone/>
            </a:pPr>
            <a:r>
              <a:rPr lang="en-US" sz="1250" dirty="0">
                <a:solidFill>
                  <a:schemeClr val="tx1"/>
                </a:solidFill>
              </a:rPr>
              <a:t>Weaker; lower bounds 0.05–0.21</a:t>
            </a:r>
            <a:endParaRPr lang="en-US" sz="1400" dirty="0"/>
          </a:p>
        </p:txBody>
      </p:sp>
      <p:sp>
        <p:nvSpPr>
          <p:cNvPr id="12" name="partial result 3"/>
          <p:cNvSpPr/>
          <p:nvPr/>
        </p:nvSpPr>
        <p:spPr>
          <a:xfrm>
            <a:off x="7543800" y="4215384"/>
            <a:ext cx="4069080" cy="932688"/>
          </a:xfrm>
          <a:prstGeom prst="roundRect">
            <a:avLst>
              <a:gd name="adj" fmla="val 9804"/>
            </a:avLst>
          </a:prstGeom>
          <a:solidFill>
            <a:schemeClr val="accent3"/>
          </a:solidFill>
          <a:ln/>
        </p:spPr>
      </p:sp>
      <p:sp>
        <p:nvSpPr>
          <p:cNvPr id="13" name="Text 9"/>
          <p:cNvSpPr txBox="1"/>
          <p:nvPr/>
        </p:nvSpPr>
        <p:spPr>
          <a:xfrm>
            <a:off x="7726680" y="4306824"/>
            <a:ext cx="3749040" cy="777240"/>
          </a:xfrm>
          <a:prstGeom prst="rect">
            <a:avLst/>
          </a:prstGeom>
          <a:noFill/>
          <a:ln/>
        </p:spPr>
        <p:txBody>
          <a:bodyPr wrap="square" lIns="0" tIns="0" rIns="0" bIns="0" rtlCol="0" anchor="ctr"/>
          <a:lstStyle/>
          <a:p>
            <a:pPr indent="0" marL="0">
              <a:buNone/>
            </a:pPr>
            <a:r>
              <a:rPr lang="en-US" sz="1500" b="1" dirty="0">
                <a:solidFill>
                  <a:schemeClr val="tx2"/>
                </a:solidFill>
              </a:rPr>
              <a:t>PI −0.35 to 0.12</a:t>
            </a:r>
            <a:endParaRPr lang="en-US" sz="1400" dirty="0"/>
          </a:p>
          <a:p>
            <a:pPr indent="0" marL="0">
              <a:buNone/>
            </a:pPr>
            <a:r>
              <a:rPr lang="en-US" sz="1250" dirty="0">
                <a:solidFill>
                  <a:schemeClr val="tx1"/>
                </a:solidFill>
              </a:rPr>
              <a:t>Gone; Bitstamp BTC even negative, interval [−0.49, −0.12]</a:t>
            </a:r>
            <a:endParaRPr lang="en-US" sz="1400" dirty="0"/>
          </a:p>
        </p:txBody>
      </p:sp>
      <p:sp>
        <p:nvSpPr>
          <p:cNvPr id="14" name="partial result 4"/>
          <p:cNvSpPr/>
          <p:nvPr/>
        </p:nvSpPr>
        <p:spPr>
          <a:xfrm>
            <a:off x="7543800" y="5248656"/>
            <a:ext cx="4069080" cy="932688"/>
          </a:xfrm>
          <a:prstGeom prst="roundRect">
            <a:avLst>
              <a:gd name="adj" fmla="val 9804"/>
            </a:avLst>
          </a:prstGeom>
          <a:solidFill>
            <a:schemeClr val="bg2"/>
          </a:solidFill>
          <a:ln/>
        </p:spPr>
      </p:sp>
      <p:sp>
        <p:nvSpPr>
          <p:cNvPr id="15" name="Text 11"/>
          <p:cNvSpPr txBox="1"/>
          <p:nvPr/>
        </p:nvSpPr>
        <p:spPr>
          <a:xfrm>
            <a:off x="7726680" y="5340096"/>
            <a:ext cx="3749040" cy="777240"/>
          </a:xfrm>
          <a:prstGeom prst="rect">
            <a:avLst/>
          </a:prstGeom>
          <a:noFill/>
          <a:ln/>
        </p:spPr>
        <p:txBody>
          <a:bodyPr wrap="square" lIns="0" tIns="0" rIns="0" bIns="0" rtlCol="0" anchor="ctr"/>
          <a:lstStyle/>
          <a:p>
            <a:pPr indent="0" marL="0">
              <a:buNone/>
            </a:pPr>
            <a:r>
              <a:rPr lang="en-US" sz="1500" b="1" dirty="0">
                <a:solidFill>
                  <a:schemeClr val="tx2"/>
                </a:solidFill>
              </a:rPr>
              <a:t>TX and $Vol</a:t>
            </a:r>
            <a:endParaRPr lang="en-US" sz="1400" dirty="0"/>
          </a:p>
          <a:p>
            <a:pPr indent="0" marL="0">
              <a:buNone/>
            </a:pPr>
            <a:r>
              <a:rPr lang="en-US" sz="1250" dirty="0">
                <a:solidFill>
                  <a:schemeClr val="tx1"/>
                </a:solidFill>
              </a:rPr>
              <a:t>Negative partial correlation with CRT25 in all five markets</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EXTENSION · PART 4</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Calm vs volatile hours: the paper's pattern reverses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Bitcoin correlations in the lowest and highest volatility tercile. Open marker: calm hours; filled marker: volatile hours.</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Terciles of hourly volatility per market; Pearson per venue, averaged over the three venues. Paper values from its Figure 6. Return and volume splits: notebook Section 7.3.</a:t>
            </a:r>
            <a:endParaRPr lang="en-US" sz="1000" dirty="0"/>
          </a:p>
        </p:txBody>
      </p:sp>
      <p:pic>
        <p:nvPicPr>
          <p:cNvPr id="7" name="Correlations in low and high volatility terciles, paper vs our sample" descr="Correlations in low and high volatility terciles, paper vs our sample">    </p:cNvPr>
          <p:cNvPicPr>
            <a:picLocks noChangeAspect="1"/>
          </p:cNvPicPr>
          <p:nvPr/>
        </p:nvPicPr>
        <p:blipFill>
          <a:blip r:embed="rId1"/>
          <a:stretch>
            <a:fillRect/>
          </a:stretch>
        </p:blipFill>
        <p:spPr>
          <a:xfrm>
            <a:off x="1051560" y="2103120"/>
            <a:ext cx="10058400" cy="3447288"/>
          </a:xfrm>
          <a:prstGeom prst="rect">
            <a:avLst/>
          </a:prstGeom>
        </p:spPr>
      </p:pic>
      <p:sp>
        <p:nvSpPr>
          <p:cNvPr id="8" name="regime chip 1"/>
          <p:cNvSpPr/>
          <p:nvPr/>
        </p:nvSpPr>
        <p:spPr>
          <a:xfrm>
            <a:off x="548640" y="5669280"/>
            <a:ext cx="3584448" cy="530352"/>
          </a:xfrm>
          <a:prstGeom prst="roundRect">
            <a:avLst>
              <a:gd name="adj" fmla="val 17241"/>
            </a:avLst>
          </a:prstGeom>
          <a:solidFill>
            <a:schemeClr val="accent3"/>
          </a:solidFill>
          <a:ln/>
        </p:spPr>
      </p:sp>
      <p:sp>
        <p:nvSpPr>
          <p:cNvPr id="9" name="Text 5"/>
          <p:cNvSpPr txBox="1"/>
          <p:nvPr/>
        </p:nvSpPr>
        <p:spPr>
          <a:xfrm>
            <a:off x="658368" y="5669280"/>
            <a:ext cx="3364992" cy="530352"/>
          </a:xfrm>
          <a:prstGeom prst="rect">
            <a:avLst/>
          </a:prstGeom>
          <a:noFill/>
          <a:ln/>
        </p:spPr>
        <p:txBody>
          <a:bodyPr wrap="square" lIns="0" tIns="0" rIns="0" bIns="0" rtlCol="0" anchor="ctr"/>
          <a:lstStyle/>
          <a:p>
            <a:pPr algn="ctr" indent="0" marL="0">
              <a:buNone/>
            </a:pPr>
            <a:r>
              <a:rPr lang="en-US" sz="1250" b="1" dirty="0">
                <a:solidFill>
                  <a:schemeClr val="tx2"/>
                </a:solidFill>
              </a:rPr>
              <a:t>AR–QS: 0.70 → 0.60 (paper 0.68 → 0.76)</a:t>
            </a:r>
            <a:endParaRPr lang="en-US" sz="1250" dirty="0"/>
          </a:p>
        </p:txBody>
      </p:sp>
      <p:sp>
        <p:nvSpPr>
          <p:cNvPr id="10" name="regime chip 2"/>
          <p:cNvSpPr/>
          <p:nvPr/>
        </p:nvSpPr>
        <p:spPr>
          <a:xfrm>
            <a:off x="4297680" y="5669280"/>
            <a:ext cx="3584448" cy="530352"/>
          </a:xfrm>
          <a:prstGeom prst="roundRect">
            <a:avLst>
              <a:gd name="adj" fmla="val 17241"/>
            </a:avLst>
          </a:prstGeom>
          <a:solidFill>
            <a:schemeClr val="tx2"/>
          </a:solidFill>
          <a:ln/>
        </p:spPr>
      </p:sp>
      <p:sp>
        <p:nvSpPr>
          <p:cNvPr id="11" name="Text 7"/>
          <p:cNvSpPr txBox="1"/>
          <p:nvPr/>
        </p:nvSpPr>
        <p:spPr>
          <a:xfrm>
            <a:off x="4407408" y="5669280"/>
            <a:ext cx="3364992" cy="530352"/>
          </a:xfrm>
          <a:prstGeom prst="rect">
            <a:avLst/>
          </a:prstGeom>
          <a:noFill/>
          <a:ln/>
        </p:spPr>
        <p:txBody>
          <a:bodyPr wrap="square" lIns="0" tIns="0" rIns="0" bIns="0" rtlCol="0" anchor="ctr"/>
          <a:lstStyle/>
          <a:p>
            <a:pPr algn="ctr" indent="0" marL="0">
              <a:buNone/>
            </a:pPr>
            <a:r>
              <a:rPr lang="en-US" sz="1250" b="1" dirty="0">
                <a:solidFill>
                  <a:schemeClr val="bg1"/>
                </a:solidFill>
              </a:rPr>
              <a:t>AR still best for QS and ES in both terciles</a:t>
            </a:r>
            <a:endParaRPr lang="en-US" sz="1250" dirty="0"/>
          </a:p>
        </p:txBody>
      </p:sp>
      <p:sp>
        <p:nvSpPr>
          <p:cNvPr id="12" name="regime chip 3"/>
          <p:cNvSpPr/>
          <p:nvPr/>
        </p:nvSpPr>
        <p:spPr>
          <a:xfrm>
            <a:off x="8046720" y="5669280"/>
            <a:ext cx="3584448" cy="530352"/>
          </a:xfrm>
          <a:prstGeom prst="roundRect">
            <a:avLst>
              <a:gd name="adj" fmla="val 17241"/>
            </a:avLst>
          </a:prstGeom>
          <a:solidFill>
            <a:schemeClr val="bg2"/>
          </a:solidFill>
          <a:ln/>
        </p:spPr>
      </p:sp>
      <p:sp>
        <p:nvSpPr>
          <p:cNvPr id="13" name="Text 9"/>
          <p:cNvSpPr txBox="1"/>
          <p:nvPr/>
        </p:nvSpPr>
        <p:spPr>
          <a:xfrm>
            <a:off x="8156448" y="5669280"/>
            <a:ext cx="3364992" cy="530352"/>
          </a:xfrm>
          <a:prstGeom prst="rect">
            <a:avLst/>
          </a:prstGeom>
          <a:noFill/>
          <a:ln/>
        </p:spPr>
        <p:txBody>
          <a:bodyPr wrap="square" lIns="0" tIns="0" rIns="0" bIns="0" rtlCol="0" anchor="ctr"/>
          <a:lstStyle/>
          <a:p>
            <a:pPr algn="ctr" indent="0" marL="0">
              <a:buNone/>
            </a:pPr>
            <a:r>
              <a:rPr lang="en-US" sz="1250" b="1" dirty="0">
                <a:solidFill>
                  <a:schemeClr val="tx2"/>
                </a:solidFill>
              </a:rPr>
              <a:t>TX with QS: −0.21 calm, +0.29 volatile</a:t>
            </a:r>
            <a:endParaRPr lang="en-US" sz="125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EXTENSION · PART 4</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Level accuracy needs a baseline</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Mean absolute error against each benchmark (Bitcoin, bp, log scale), with the error of always predicting zero.</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Mean of three venues, hourly. Paper: Table 5 printed ×1,000, multiplied by 10 (our reading of its units). Dotted line: the paper's mean level = error of predicting zero (QS, CRT; lower bound for ES, PI).</a:t>
            </a:r>
            <a:endParaRPr lang="en-US" sz="1000" dirty="0"/>
          </a:p>
        </p:txBody>
      </p:sp>
      <p:pic>
        <p:nvPicPr>
          <p:cNvPr id="7" name="Level errors of five proxies, paper vs our sample, with zero-prediction lines" descr="Level errors of five proxies, paper vs our sample, with zero-prediction lines">    </p:cNvPr>
          <p:cNvPicPr>
            <a:picLocks noChangeAspect="1"/>
          </p:cNvPicPr>
          <p:nvPr/>
        </p:nvPicPr>
        <p:blipFill>
          <a:blip r:embed="rId1"/>
          <a:stretch>
            <a:fillRect/>
          </a:stretch>
        </p:blipFill>
        <p:spPr>
          <a:xfrm>
            <a:off x="548640" y="2103120"/>
            <a:ext cx="11064240" cy="3282696"/>
          </a:xfrm>
          <a:prstGeom prst="rect">
            <a:avLst/>
          </a:prstGeom>
        </p:spPr>
      </p:pic>
      <p:sp>
        <p:nvSpPr>
          <p:cNvPr id="8" name="paper claim"/>
          <p:cNvSpPr/>
          <p:nvPr/>
        </p:nvSpPr>
        <p:spPr>
          <a:xfrm>
            <a:off x="548640" y="5486400"/>
            <a:ext cx="3566160" cy="713232"/>
          </a:xfrm>
          <a:prstGeom prst="roundRect">
            <a:avLst>
              <a:gd name="adj" fmla="val 12821"/>
            </a:avLst>
          </a:prstGeom>
          <a:solidFill>
            <a:schemeClr val="accent2"/>
          </a:solidFill>
          <a:ln/>
        </p:spPr>
      </p:sp>
      <p:sp>
        <p:nvSpPr>
          <p:cNvPr id="9" name="Text 5"/>
          <p:cNvSpPr txBox="1"/>
          <p:nvPr/>
        </p:nvSpPr>
        <p:spPr>
          <a:xfrm>
            <a:off x="731520" y="5486400"/>
            <a:ext cx="3246120" cy="713232"/>
          </a:xfrm>
          <a:prstGeom prst="rect">
            <a:avLst/>
          </a:prstGeom>
          <a:noFill/>
          <a:ln/>
        </p:spPr>
        <p:txBody>
          <a:bodyPr wrap="square" lIns="0" tIns="0" rIns="0" bIns="0" rtlCol="0" anchor="ctr"/>
          <a:lstStyle/>
          <a:p>
            <a:pPr indent="0" marL="0">
              <a:buNone/>
            </a:pPr>
            <a:r>
              <a:rPr lang="en-US" sz="1300" b="1" dirty="0">
                <a:solidFill>
                  <a:schemeClr val="tx2"/>
                </a:solidFill>
              </a:rPr>
              <a:t>Paper: </a:t>
            </a:r>
            <a:pPr indent="0" marL="0">
              <a:buNone/>
            </a:pPr>
            <a:r>
              <a:rPr lang="en-US" sz="1300" dirty="0">
                <a:solidFill>
                  <a:schemeClr val="tx2"/>
                </a:solidFill>
              </a:rPr>
              <a:t>Kyle and Amihud are the most accurate in levels.</a:t>
            </a:r>
            <a:endParaRPr lang="en-US" sz="1300" dirty="0"/>
          </a:p>
        </p:txBody>
      </p:sp>
      <p:sp>
        <p:nvSpPr>
          <p:cNvPr id="10" name="our finding"/>
          <p:cNvSpPr/>
          <p:nvPr/>
        </p:nvSpPr>
        <p:spPr>
          <a:xfrm>
            <a:off x="4297680" y="5486400"/>
            <a:ext cx="7315200" cy="713232"/>
          </a:xfrm>
          <a:prstGeom prst="roundRect">
            <a:avLst>
              <a:gd name="adj" fmla="val 12821"/>
            </a:avLst>
          </a:prstGeom>
          <a:solidFill>
            <a:schemeClr val="tx2"/>
          </a:solidFill>
          <a:ln/>
        </p:spPr>
      </p:sp>
      <p:sp>
        <p:nvSpPr>
          <p:cNvPr id="11" name="Text 7"/>
          <p:cNvSpPr txBox="1"/>
          <p:nvPr/>
        </p:nvSpPr>
        <p:spPr>
          <a:xfrm>
            <a:off x="4480560" y="5486400"/>
            <a:ext cx="6995160" cy="713232"/>
          </a:xfrm>
          <a:prstGeom prst="rect">
            <a:avLst/>
          </a:prstGeom>
          <a:noFill/>
          <a:ln/>
        </p:spPr>
        <p:txBody>
          <a:bodyPr wrap="square" lIns="0" tIns="0" rIns="0" bIns="0" rtlCol="0" anchor="ctr"/>
          <a:lstStyle/>
          <a:p>
            <a:pPr indent="0" marL="0">
              <a:buNone/>
            </a:pPr>
            <a:r>
              <a:rPr lang="en-US" sz="1300" b="1" dirty="0">
                <a:solidFill>
                  <a:schemeClr val="accent3"/>
                </a:solidFill>
              </a:rPr>
              <a:t>Ours: Amihud's error = predicting zero </a:t>
            </a:r>
            <a:pPr indent="0" marL="0">
              <a:buNone/>
            </a:pPr>
            <a:r>
              <a:rPr lang="en-US" sz="1300" dirty="0">
                <a:solidFill>
                  <a:schemeClr val="bg1"/>
                </a:solidFill>
              </a:rPr>
              <a:t>(QS 3.25 vs 3.25 bp; paper 2.58 vs ≈ 2.54). AR has the smallest QS and ES errors: 1.61 and 1.52 bp.</a:t>
            </a:r>
            <a:endParaRPr lang="en-US" sz="13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EXTENSION · PART 4</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Does a calibrated AR measure costs on later dates?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Train on 1 Jun – 1 Oct 2019, test on 1 Nov and 1 Dec 2019, compare with the training median.</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Affine calibration of the standardized proxy, fitted on training dates only; QS and ES clipped at 0. Measures the same hour, not a forecast. Bitstamp ETH omitted (1 test hour).</a:t>
            </a:r>
            <a:endParaRPr lang="en-US" sz="1000" dirty="0"/>
          </a:p>
        </p:txBody>
      </p:sp>
      <p:pic>
        <p:nvPicPr>
          <p:cNvPr id="7" name="Reduction in test error of calibrated AR relative to the training median" descr="Reduction in test error of calibrated AR relative to the training median">    </p:cNvPr>
          <p:cNvPicPr>
            <a:picLocks noChangeAspect="1"/>
          </p:cNvPicPr>
          <p:nvPr/>
        </p:nvPicPr>
        <p:blipFill>
          <a:blip r:embed="rId1"/>
          <a:stretch>
            <a:fillRect/>
          </a:stretch>
        </p:blipFill>
        <p:spPr>
          <a:xfrm>
            <a:off x="548640" y="2148840"/>
            <a:ext cx="6583680" cy="3264408"/>
          </a:xfrm>
          <a:prstGeom prst="rect">
            <a:avLst/>
          </a:prstGeom>
        </p:spPr>
      </p:pic>
      <p:sp>
        <p:nvSpPr>
          <p:cNvPr id="8" name="holdout takeaway"/>
          <p:cNvSpPr/>
          <p:nvPr/>
        </p:nvSpPr>
        <p:spPr>
          <a:xfrm>
            <a:off x="548640" y="5486400"/>
            <a:ext cx="6583680" cy="713232"/>
          </a:xfrm>
          <a:prstGeom prst="roundRect">
            <a:avLst>
              <a:gd name="adj" fmla="val 12821"/>
            </a:avLst>
          </a:prstGeom>
          <a:solidFill>
            <a:schemeClr val="tx2"/>
          </a:solidFill>
          <a:ln/>
        </p:spPr>
      </p:sp>
      <p:sp>
        <p:nvSpPr>
          <p:cNvPr id="9" name="Text 5"/>
          <p:cNvSpPr txBox="1"/>
          <p:nvPr/>
        </p:nvSpPr>
        <p:spPr>
          <a:xfrm>
            <a:off x="731520" y="5486400"/>
            <a:ext cx="6263640" cy="713232"/>
          </a:xfrm>
          <a:prstGeom prst="rect">
            <a:avLst/>
          </a:prstGeom>
          <a:noFill/>
          <a:ln/>
        </p:spPr>
        <p:txBody>
          <a:bodyPr wrap="square" lIns="0" tIns="0" rIns="0" bIns="0" rtlCol="0" anchor="ctr"/>
          <a:lstStyle/>
          <a:p>
            <a:pPr indent="0" marL="0">
              <a:buNone/>
            </a:pPr>
            <a:r>
              <a:rPr lang="en-US" sz="1300" b="1" dirty="0">
                <a:solidFill>
                  <a:schemeClr val="accent3"/>
                </a:solidFill>
              </a:rPr>
              <a:t>Calibration fixes AR's level bias only while the cost level is stable. </a:t>
            </a:r>
            <a:pPr indent="0" marL="0">
              <a:buNone/>
            </a:pPr>
            <a:r>
              <a:rPr lang="en-US" sz="1300" dirty="0">
                <a:solidFill>
                  <a:schemeClr val="bg1"/>
                </a:solidFill>
              </a:rPr>
              <a:t>Raw AR: 1.2–3.1× the baseline's QS error.</a:t>
            </a:r>
            <a:endParaRPr lang="en-US" sz="1300" dirty="0"/>
          </a:p>
        </p:txBody>
      </p:sp>
      <p:sp>
        <p:nvSpPr>
          <p:cNvPr id="10" name="holdout step 1"/>
          <p:cNvSpPr/>
          <p:nvPr/>
        </p:nvSpPr>
        <p:spPr>
          <a:xfrm>
            <a:off x="7452360" y="2203704"/>
            <a:ext cx="329184" cy="329184"/>
          </a:xfrm>
          <a:prstGeom prst="ellipse">
            <a:avLst/>
          </a:prstGeom>
          <a:solidFill>
            <a:schemeClr val="tx2"/>
          </a:solidFill>
          <a:ln/>
        </p:spPr>
      </p:sp>
      <p:sp>
        <p:nvSpPr>
          <p:cNvPr id="11" name="Text 7"/>
          <p:cNvSpPr txBox="1"/>
          <p:nvPr/>
        </p:nvSpPr>
        <p:spPr>
          <a:xfrm>
            <a:off x="7452360" y="2203704"/>
            <a:ext cx="329184" cy="329184"/>
          </a:xfrm>
          <a:prstGeom prst="rect">
            <a:avLst/>
          </a:prstGeom>
          <a:noFill/>
          <a:ln/>
        </p:spPr>
        <p:txBody>
          <a:bodyPr wrap="square" lIns="0" tIns="0" rIns="0" bIns="0" rtlCol="0" anchor="ctr"/>
          <a:lstStyle/>
          <a:p>
            <a:pPr algn="ctr" indent="0" marL="0">
              <a:buNone/>
            </a:pPr>
            <a:r>
              <a:rPr lang="en-US" sz="1300" b="1" dirty="0">
                <a:solidFill>
                  <a:schemeClr val="accent3"/>
                </a:solidFill>
              </a:rPr>
              <a:t>1</a:t>
            </a:r>
            <a:endParaRPr lang="en-US" sz="1300" dirty="0"/>
          </a:p>
        </p:txBody>
      </p:sp>
      <p:sp>
        <p:nvSpPr>
          <p:cNvPr id="12" name="Text 8"/>
          <p:cNvSpPr txBox="1"/>
          <p:nvPr/>
        </p:nvSpPr>
        <p:spPr>
          <a:xfrm>
            <a:off x="7909560" y="2148840"/>
            <a:ext cx="3703320" cy="457200"/>
          </a:xfrm>
          <a:prstGeom prst="rect">
            <a:avLst/>
          </a:prstGeom>
          <a:noFill/>
          <a:ln/>
        </p:spPr>
        <p:txBody>
          <a:bodyPr wrap="square" lIns="0" tIns="0" rIns="0" bIns="0" rtlCol="0" anchor="ctr"/>
          <a:lstStyle/>
          <a:p>
            <a:pPr indent="0" marL="0">
              <a:buNone/>
            </a:pPr>
            <a:r>
              <a:rPr lang="en-US" sz="1300" dirty="0">
                <a:solidFill>
                  <a:schemeClr val="tx1"/>
                </a:solidFill>
              </a:rPr>
              <a:t>Fit benchmark = a + b × proxy on training dates only</a:t>
            </a:r>
            <a:endParaRPr lang="en-US" sz="1300" dirty="0"/>
          </a:p>
        </p:txBody>
      </p:sp>
      <p:sp>
        <p:nvSpPr>
          <p:cNvPr id="13" name="holdout step 2"/>
          <p:cNvSpPr/>
          <p:nvPr/>
        </p:nvSpPr>
        <p:spPr>
          <a:xfrm>
            <a:off x="7452360" y="2734056"/>
            <a:ext cx="329184" cy="329184"/>
          </a:xfrm>
          <a:prstGeom prst="ellipse">
            <a:avLst/>
          </a:prstGeom>
          <a:solidFill>
            <a:schemeClr val="tx2"/>
          </a:solidFill>
          <a:ln/>
        </p:spPr>
      </p:sp>
      <p:sp>
        <p:nvSpPr>
          <p:cNvPr id="14" name="Text 10"/>
          <p:cNvSpPr txBox="1"/>
          <p:nvPr/>
        </p:nvSpPr>
        <p:spPr>
          <a:xfrm>
            <a:off x="7452360" y="2734056"/>
            <a:ext cx="329184" cy="329184"/>
          </a:xfrm>
          <a:prstGeom prst="rect">
            <a:avLst/>
          </a:prstGeom>
          <a:noFill/>
          <a:ln/>
        </p:spPr>
        <p:txBody>
          <a:bodyPr wrap="square" lIns="0" tIns="0" rIns="0" bIns="0" rtlCol="0" anchor="ctr"/>
          <a:lstStyle/>
          <a:p>
            <a:pPr algn="ctr" indent="0" marL="0">
              <a:buNone/>
            </a:pPr>
            <a:r>
              <a:rPr lang="en-US" sz="1300" b="1" dirty="0">
                <a:solidFill>
                  <a:schemeClr val="accent3"/>
                </a:solidFill>
              </a:rPr>
              <a:t>2</a:t>
            </a:r>
            <a:endParaRPr lang="en-US" sz="1300" dirty="0"/>
          </a:p>
        </p:txBody>
      </p:sp>
      <p:sp>
        <p:nvSpPr>
          <p:cNvPr id="15" name="Text 11"/>
          <p:cNvSpPr txBox="1"/>
          <p:nvPr/>
        </p:nvSpPr>
        <p:spPr>
          <a:xfrm>
            <a:off x="7909560" y="2679192"/>
            <a:ext cx="3703320" cy="457200"/>
          </a:xfrm>
          <a:prstGeom prst="rect">
            <a:avLst/>
          </a:prstGeom>
          <a:noFill/>
          <a:ln/>
        </p:spPr>
        <p:txBody>
          <a:bodyPr wrap="square" lIns="0" tIns="0" rIns="0" bIns="0" rtlCol="0" anchor="ctr"/>
          <a:lstStyle/>
          <a:p>
            <a:pPr indent="0" marL="0">
              <a:buNone/>
            </a:pPr>
            <a:r>
              <a:rPr lang="en-US" sz="1300" dirty="0">
                <a:solidFill>
                  <a:schemeClr val="tx1"/>
                </a:solidFill>
              </a:rPr>
              <a:t>Apply it to the same hours on the test dates</a:t>
            </a:r>
            <a:endParaRPr lang="en-US" sz="1300" dirty="0"/>
          </a:p>
        </p:txBody>
      </p:sp>
      <p:sp>
        <p:nvSpPr>
          <p:cNvPr id="16" name="holdout step 3"/>
          <p:cNvSpPr/>
          <p:nvPr/>
        </p:nvSpPr>
        <p:spPr>
          <a:xfrm>
            <a:off x="7452360" y="3264408"/>
            <a:ext cx="329184" cy="329184"/>
          </a:xfrm>
          <a:prstGeom prst="ellipse">
            <a:avLst/>
          </a:prstGeom>
          <a:solidFill>
            <a:schemeClr val="tx2"/>
          </a:solidFill>
          <a:ln/>
        </p:spPr>
      </p:sp>
      <p:sp>
        <p:nvSpPr>
          <p:cNvPr id="17" name="Text 13"/>
          <p:cNvSpPr txBox="1"/>
          <p:nvPr/>
        </p:nvSpPr>
        <p:spPr>
          <a:xfrm>
            <a:off x="7452360" y="3264408"/>
            <a:ext cx="329184" cy="329184"/>
          </a:xfrm>
          <a:prstGeom prst="rect">
            <a:avLst/>
          </a:prstGeom>
          <a:noFill/>
          <a:ln/>
        </p:spPr>
        <p:txBody>
          <a:bodyPr wrap="square" lIns="0" tIns="0" rIns="0" bIns="0" rtlCol="0" anchor="ctr"/>
          <a:lstStyle/>
          <a:p>
            <a:pPr algn="ctr" indent="0" marL="0">
              <a:buNone/>
            </a:pPr>
            <a:r>
              <a:rPr lang="en-US" sz="1300" b="1" dirty="0">
                <a:solidFill>
                  <a:schemeClr val="accent3"/>
                </a:solidFill>
              </a:rPr>
              <a:t>3</a:t>
            </a:r>
            <a:endParaRPr lang="en-US" sz="1300" dirty="0"/>
          </a:p>
        </p:txBody>
      </p:sp>
      <p:sp>
        <p:nvSpPr>
          <p:cNvPr id="18" name="Text 14"/>
          <p:cNvSpPr txBox="1"/>
          <p:nvPr/>
        </p:nvSpPr>
        <p:spPr>
          <a:xfrm>
            <a:off x="7909560" y="3209544"/>
            <a:ext cx="3703320" cy="457200"/>
          </a:xfrm>
          <a:prstGeom prst="rect">
            <a:avLst/>
          </a:prstGeom>
          <a:noFill/>
          <a:ln/>
        </p:spPr>
        <p:txBody>
          <a:bodyPr wrap="square" lIns="0" tIns="0" rIns="0" bIns="0" rtlCol="0" anchor="ctr"/>
          <a:lstStyle/>
          <a:p>
            <a:pPr indent="0" marL="0">
              <a:buNone/>
            </a:pPr>
            <a:r>
              <a:rPr lang="en-US" sz="1300" dirty="0">
                <a:solidFill>
                  <a:schemeClr val="tx1"/>
                </a:solidFill>
              </a:rPr>
              <a:t>Compare with zero and training-median baselines</a:t>
            </a:r>
            <a:endParaRPr lang="en-US" sz="1300" dirty="0"/>
          </a:p>
        </p:txBody>
      </p:sp>
      <p:sp>
        <p:nvSpPr>
          <p:cNvPr id="19" name="holdout win"/>
          <p:cNvSpPr/>
          <p:nvPr/>
        </p:nvSpPr>
        <p:spPr>
          <a:xfrm>
            <a:off x="7452360" y="3840480"/>
            <a:ext cx="4160520" cy="1024128"/>
          </a:xfrm>
          <a:prstGeom prst="roundRect">
            <a:avLst>
              <a:gd name="adj" fmla="val 8929"/>
            </a:avLst>
          </a:prstGeom>
          <a:solidFill>
            <a:schemeClr val="bg2"/>
          </a:solidFill>
          <a:ln/>
        </p:spPr>
      </p:sp>
      <p:sp>
        <p:nvSpPr>
          <p:cNvPr id="20" name="Text 16"/>
          <p:cNvSpPr txBox="1"/>
          <p:nvPr/>
        </p:nvSpPr>
        <p:spPr>
          <a:xfrm>
            <a:off x="7635240" y="3931920"/>
            <a:ext cx="3840480" cy="868680"/>
          </a:xfrm>
          <a:prstGeom prst="rect">
            <a:avLst/>
          </a:prstGeom>
          <a:noFill/>
          <a:ln/>
        </p:spPr>
        <p:txBody>
          <a:bodyPr wrap="square" lIns="0" tIns="0" rIns="0" bIns="0" rtlCol="0" anchor="ctr"/>
          <a:lstStyle/>
          <a:p>
            <a:pPr indent="0" marL="0">
              <a:buNone/>
            </a:pPr>
            <a:r>
              <a:rPr lang="en-US" sz="1700" b="1" dirty="0">
                <a:solidFill>
                  <a:schemeClr val="tx2"/>
                </a:solidFill>
              </a:rPr>
              <a:t>QS +17–36% · ES +26–50%</a:t>
            </a:r>
            <a:endParaRPr lang="en-US" sz="1400" dirty="0"/>
          </a:p>
          <a:p>
            <a:pPr indent="0" marL="0">
              <a:buNone/>
            </a:pPr>
            <a:r>
              <a:rPr lang="en-US" sz="1300" dirty="0">
                <a:solidFill>
                  <a:schemeClr val="tx1"/>
                </a:solidFill>
              </a:rPr>
              <a:t>lower test error in 4 of 5 markets</a:t>
            </a:r>
            <a:endParaRPr lang="en-US" sz="1400" dirty="0"/>
          </a:p>
        </p:txBody>
      </p:sp>
      <p:sp>
        <p:nvSpPr>
          <p:cNvPr id="21" name="holdout failure"/>
          <p:cNvSpPr/>
          <p:nvPr/>
        </p:nvSpPr>
        <p:spPr>
          <a:xfrm>
            <a:off x="7452360" y="4983480"/>
            <a:ext cx="4160520" cy="1216152"/>
          </a:xfrm>
          <a:prstGeom prst="roundRect">
            <a:avLst>
              <a:gd name="adj" fmla="val 7519"/>
            </a:avLst>
          </a:prstGeom>
          <a:solidFill>
            <a:schemeClr val="accent3"/>
          </a:solidFill>
          <a:ln/>
        </p:spPr>
      </p:sp>
      <p:sp>
        <p:nvSpPr>
          <p:cNvPr id="22" name="Text 18"/>
          <p:cNvSpPr txBox="1"/>
          <p:nvPr/>
        </p:nvSpPr>
        <p:spPr>
          <a:xfrm>
            <a:off x="7635240" y="5047488"/>
            <a:ext cx="3840480" cy="1097280"/>
          </a:xfrm>
          <a:prstGeom prst="rect">
            <a:avLst/>
          </a:prstGeom>
          <a:noFill/>
          <a:ln/>
        </p:spPr>
        <p:txBody>
          <a:bodyPr wrap="square" lIns="0" tIns="0" rIns="0" bIns="0" rtlCol="0" anchor="ctr"/>
          <a:lstStyle/>
          <a:p>
            <a:pPr indent="0" marL="0">
              <a:buNone/>
            </a:pPr>
            <a:r>
              <a:rPr lang="en-US" sz="1700" b="1" dirty="0">
                <a:solidFill>
                  <a:schemeClr val="tx2"/>
                </a:solidFill>
              </a:rPr>
              <a:t>Coinbase BTC −28%</a:t>
            </a:r>
            <a:endParaRPr lang="en-US" sz="1400" dirty="0"/>
          </a:p>
          <a:p>
            <a:pPr indent="0" marL="0">
              <a:buNone/>
            </a:pPr>
            <a:r>
              <a:rPr lang="en-US" sz="1300" dirty="0">
                <a:solidFill>
                  <a:schemeClr val="tx2"/>
                </a:solidFill>
              </a:rPr>
              <a:t>Test-day spreads fell below the training level; predicting zero beats every calibrated proxy.</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SYNTHESIS</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Which findings of the paper replicate?</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Bitcoin, hourly. Lilac column: the paper's numbers; navy column: our sample.</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 After removing volatility, the activity–cost link mostly disappears (slide 15). Full table: notebook Section 6.7.</a:t>
            </a:r>
            <a:endParaRPr lang="en-US" sz="1000" dirty="0"/>
          </a:p>
        </p:txBody>
      </p:sp>
      <p:graphicFrame>
        <p:nvGraphicFramePr>
          <p:cNvPr id="20" name="replication scorecard"/>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3931920"/>
                <a:gridCol w="2194560"/>
                <a:gridCol w="2926080"/>
                <a:gridCol w="2011680"/>
              </a:tblGrid>
              <a:tr h="342900">
                <a:tc>
                  <a:txBody>
                    <a:bodyPr/>
                    <a:lstStyle/>
                    <a:p>
                      <a:pPr indent="0" marL="0">
                        <a:buNone/>
                      </a:pPr>
                      <a:r>
                        <a:rPr lang="en-US" sz="1200" b="1" dirty="0">
                          <a:solidFill>
                            <a:schemeClr val="tx2"/>
                          </a:solidFill>
                        </a:rPr>
                        <a:t>Finding of the paper</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Paper</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Our sample</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2"/>
                          </a:solidFill>
                        </a:rPr>
                        <a:t>Verdict</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bg2"/>
                    </a:solidFill>
                  </a:tcPr>
                </a:tc>
              </a:tr>
              <a:tr h="342900">
                <a:tc>
                  <a:txBody>
                    <a:bodyPr/>
                    <a:lstStyle/>
                    <a:p>
                      <a:pPr indent="0" marL="0">
                        <a:buNone/>
                      </a:pPr>
                      <a:r>
                        <a:rPr lang="en-US" sz="1200" b="1" dirty="0">
                          <a:solidFill>
                            <a:schemeClr val="tx1"/>
                          </a:solidFill>
                        </a:rPr>
                        <a:t>AR best for QS, ES, CRT</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0.76 / 0.84 / 0.71</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0.75 / 0.80 / 0.68</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bg1"/>
                          </a:solidFill>
                        </a:rPr>
                        <a:t>Replicated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r>
              <a:tr h="342900">
                <a:tc>
                  <a:txBody>
                    <a:bodyPr/>
                    <a:lstStyle/>
                    <a:p>
                      <a:pPr indent="0" marL="0">
                        <a:buNone/>
                      </a:pPr>
                      <a:r>
                        <a:rPr lang="en-US" sz="1200" b="1" dirty="0">
                          <a:solidFill>
                            <a:schemeClr val="tx1"/>
                          </a:solidFill>
                        </a:rPr>
                        <a:t>AR best for PI</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0.59</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0.58 ($Vol 0.60)</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2"/>
                          </a:solidFill>
                        </a:rPr>
                        <a:t>Partly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r>
              <a:tr h="342900">
                <a:tc>
                  <a:txBody>
                    <a:bodyPr/>
                    <a:lstStyle/>
                    <a:p>
                      <a:pPr indent="0" marL="0">
                        <a:buNone/>
                      </a:pPr>
                      <a:r>
                        <a:rPr lang="en-US" sz="1200" b="1" dirty="0">
                          <a:solidFill>
                            <a:schemeClr val="tx1"/>
                          </a:solidFill>
                        </a:rPr>
                        <a:t>CS second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for QS, ES, PI</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for QS, ES, CRT25</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2"/>
                          </a:solidFill>
                        </a:rPr>
                        <a:t>Largely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r>
              <a:tr h="342900">
                <a:tc>
                  <a:txBody>
                    <a:bodyPr/>
                    <a:lstStyle/>
                    <a:p>
                      <a:pPr indent="0" marL="0">
                        <a:buNone/>
                      </a:pPr>
                      <a:r>
                        <a:rPr lang="en-US" sz="1200" b="1" dirty="0">
                          <a:solidFill>
                            <a:schemeClr val="tx1"/>
                          </a:solidFill>
                        </a:rPr>
                        <a:t>Amihud uncorrelated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−0.01 to 0.03</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−0.20 to 0.06</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bg1"/>
                          </a:solidFill>
                        </a:rPr>
                        <a:t>Replicated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r>
              <a:tr h="342900">
                <a:tc>
                  <a:txBody>
                    <a:bodyPr/>
                    <a:lstStyle/>
                    <a:p>
                      <a:pPr indent="0" marL="0">
                        <a:buNone/>
                      </a:pPr>
                      <a:r>
                        <a:rPr lang="en-US" sz="1200" b="1" dirty="0">
                          <a:solidFill>
                            <a:schemeClr val="tx1"/>
                          </a:solidFill>
                        </a:rPr>
                        <a:t>TX, $Vol positive with costs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0.35 to 0.72</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0.41 to 0.60</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bg1"/>
                          </a:solidFill>
                        </a:rPr>
                        <a:t>Replicated*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r>
              <a:tr h="342900">
                <a:tc>
                  <a:txBody>
                    <a:bodyPr/>
                    <a:lstStyle/>
                    <a:p>
                      <a:pPr indent="0" marL="0">
                        <a:buNone/>
                      </a:pPr>
                      <a:r>
                        <a:rPr lang="en-US" sz="1200" b="1" dirty="0">
                          <a:solidFill>
                            <a:schemeClr val="tx1"/>
                          </a:solidFill>
                        </a:rPr>
                        <a:t>Kyle tracks the roundtrip cost</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0.69</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0.51</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2"/>
                          </a:solidFill>
                        </a:rPr>
                        <a:t>Weaker</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r>
              <a:tr h="342900">
                <a:tc>
                  <a:txBody>
                    <a:bodyPr/>
                    <a:lstStyle/>
                    <a:p>
                      <a:pPr indent="0" marL="0">
                        <a:buNone/>
                      </a:pPr>
                      <a:r>
                        <a:rPr lang="en-US" sz="1200" b="1" dirty="0">
                          <a:solidFill>
                            <a:schemeClr val="tx1"/>
                          </a:solidFill>
                        </a:rPr>
                        <a:t>AR best in calm and volatile hours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yes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yes for QS and ES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2"/>
                          </a:solidFill>
                        </a:rPr>
                        <a:t>Largely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r>
              <a:tr h="342900">
                <a:tc>
                  <a:txBody>
                    <a:bodyPr/>
                    <a:lstStyle/>
                    <a:p>
                      <a:pPr indent="0" marL="0">
                        <a:buNone/>
                      </a:pPr>
                      <a:r>
                        <a:rPr lang="en-US" sz="1200" b="1" dirty="0">
                          <a:solidFill>
                            <a:schemeClr val="tx1"/>
                          </a:solidFill>
                        </a:rPr>
                        <a:t>Correlations higher in volatile hours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yes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no: lower for AR</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2"/>
                          </a:solidFill>
                        </a:rPr>
                        <a:t>Not replicated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3"/>
                    </a:solidFill>
                  </a:tcPr>
                </a:tc>
              </a:tr>
              <a:tr h="342900">
                <a:tc>
                  <a:txBody>
                    <a:bodyPr/>
                    <a:lstStyle/>
                    <a:p>
                      <a:pPr indent="0" marL="0">
                        <a:buNone/>
                      </a:pPr>
                      <a:r>
                        <a:rPr lang="en-US" sz="1200" b="1" dirty="0">
                          <a:solidFill>
                            <a:schemeClr val="tx1"/>
                          </a:solidFill>
                        </a:rPr>
                        <a:t>Kyle and Amihud best in levels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yes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Amihud = zero baseline</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2"/>
                          </a:solidFill>
                        </a:rPr>
                        <a:t>Not replicated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3"/>
                    </a:solidFill>
                  </a:tcPr>
                </a:tc>
              </a:tr>
              <a:tr h="342900">
                <a:tc>
                  <a:txBody>
                    <a:bodyPr/>
                    <a:lstStyle/>
                    <a:p>
                      <a:pPr indent="0" marL="0">
                        <a:buNone/>
                      </a:pPr>
                      <a:r>
                        <a:rPr lang="en-US" sz="1200" b="1" dirty="0">
                          <a:solidFill>
                            <a:schemeClr val="tx1"/>
                          </a:solidFill>
                        </a:rPr>
                        <a:t>AR ranks venues best (QS)</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66.67%</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75.9%</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bg1"/>
                          </a:solidFill>
                        </a:rPr>
                        <a:t>Replicated</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tx2"/>
                    </a:solidFill>
                  </a:tcPr>
                </a:tc>
              </a:tr>
              <a:tr h="342900">
                <a:tc>
                  <a:txBody>
                    <a:bodyPr/>
                    <a:lstStyle/>
                    <a:p>
                      <a:pPr indent="0" marL="0">
                        <a:buNone/>
                      </a:pPr>
                      <a:r>
                        <a:rPr lang="en-US" sz="1200" b="1" dirty="0">
                          <a:solidFill>
                            <a:schemeClr val="tx1"/>
                          </a:solidFill>
                        </a:rPr>
                        <a:t>Benchmark levels (Table 3)</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indent="0" marL="0">
                        <a:buNone/>
                      </a:pPr>
                      <a:r>
                        <a:rPr lang="en-US" sz="1200" dirty="0">
                          <a:solidFill>
                            <a:schemeClr val="tx1"/>
                          </a:solidFill>
                        </a:rPr>
                        <a:t>—</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rgbClr val="F4EDFB"/>
                    </a:solidFill>
                  </a:tcPr>
                </a:tc>
                <a:tc>
                  <a:txBody>
                    <a:bodyPr/>
                    <a:lstStyle/>
                    <a:p>
                      <a:pPr indent="0" marL="0">
                        <a:buNone/>
                      </a:pPr>
                      <a:r>
                        <a:rPr lang="en-US" sz="1200" dirty="0">
                          <a:solidFill>
                            <a:schemeClr val="tx1"/>
                          </a:solidFill>
                        </a:rPr>
                        <a:t>QS, CRT close; ES, PI 2.4–8.5×</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tcPr>
                </a:tc>
                <a:tc>
                  <a:txBody>
                    <a:bodyPr/>
                    <a:lstStyle/>
                    <a:p>
                      <a:pPr algn="ctr" indent="0" marL="0">
                        <a:buNone/>
                      </a:pPr>
                      <a:r>
                        <a:rPr lang="en-US" sz="1200" b="1" dirty="0">
                          <a:solidFill>
                            <a:schemeClr val="tx2"/>
                          </a:solidFill>
                        </a:rPr>
                        <a:t>Partly</a:t>
                      </a:r>
                      <a:endParaRPr lang="en-US" sz="1200" dirty="0"/>
                    </a:p>
                  </a:txBody>
                  <a:tcPr marL="76200" marR="76200" marT="25400" marB="25400" anchor="ctr">
                    <a:lnL w="9525" cap="flat" cmpd="sng" algn="ctr">
                      <a:solidFill>
                        <a:srgbClr val="B9BED0"/>
                      </a:solidFill>
                      <a:prstDash val="solid"/>
                      <a:round/>
                      <a:headEnd type="none" w="med" len="med"/>
                      <a:tailEnd type="none" w="med" len="med"/>
                    </a:lnL>
                    <a:lnR w="9525" cap="flat" cmpd="sng" algn="ctr">
                      <a:solidFill>
                        <a:srgbClr val="B9BED0"/>
                      </a:solidFill>
                      <a:prstDash val="solid"/>
                      <a:round/>
                      <a:headEnd type="none" w="med" len="med"/>
                      <a:tailEnd type="none" w="med" len="med"/>
                    </a:lnR>
                    <a:lnT w="9525" cap="flat" cmpd="sng" algn="ctr">
                      <a:solidFill>
                        <a:srgbClr val="B9BED0"/>
                      </a:solidFill>
                      <a:prstDash val="solid"/>
                      <a:round/>
                      <a:headEnd type="none" w="med" len="med"/>
                      <a:tailEnd type="none" w="med" len="med"/>
                    </a:lnT>
                    <a:lnB w="9525" cap="flat" cmpd="sng" algn="ctr">
                      <a:solidFill>
                        <a:srgbClr val="B9BED0"/>
                      </a:solidFill>
                      <a:prstDash val="solid"/>
                      <a:round/>
                      <a:headEnd type="none" w="med" len="med"/>
                      <a:tailEnd type="none" w="med" len="med"/>
                    </a:lnB>
                    <a:solidFill>
                      <a:schemeClr val="accent2"/>
                    </a:solidFill>
                  </a:tcPr>
                </a:tc>
              </a:tr>
            </a:tbl>
          </a:graphicData>
        </a:graphic>
      </p:graphicFrame>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NOVELTY · OUR CONTRIBUTION</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Our contribution: what we add beyond the paper</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tx2"/>
                </a:solidFill>
              </a:rPr>
              <a:t>All six points are implemented and run in our final notebook (Sections 3–7).</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Planned but not done: the Binance 2024 → 2025 extension from our project plan (see Limitations).</a:t>
            </a:r>
            <a:endParaRPr lang="en-US" sz="1000" dirty="0"/>
          </a:p>
        </p:txBody>
      </p:sp>
      <p:sp>
        <p:nvSpPr>
          <p:cNvPr id="7" name="contribution 1"/>
          <p:cNvSpPr/>
          <p:nvPr/>
        </p:nvSpPr>
        <p:spPr>
          <a:xfrm>
            <a:off x="548640" y="2194560"/>
            <a:ext cx="3566160" cy="1920240"/>
          </a:xfrm>
          <a:prstGeom prst="roundRect">
            <a:avLst>
              <a:gd name="adj" fmla="val 4762"/>
            </a:avLst>
          </a:prstGeom>
          <a:solidFill>
            <a:schemeClr val="bg1"/>
          </a:solidFill>
          <a:ln/>
        </p:spPr>
      </p:sp>
      <p:sp>
        <p:nvSpPr>
          <p:cNvPr id="8" name="badge 1"/>
          <p:cNvSpPr/>
          <p:nvPr/>
        </p:nvSpPr>
        <p:spPr>
          <a:xfrm>
            <a:off x="731520" y="2377440"/>
            <a:ext cx="457200" cy="457200"/>
          </a:xfrm>
          <a:prstGeom prst="ellipse">
            <a:avLst/>
          </a:prstGeom>
          <a:solidFill>
            <a:schemeClr val="accent3"/>
          </a:solidFill>
          <a:ln/>
        </p:spPr>
      </p:sp>
      <p:sp>
        <p:nvSpPr>
          <p:cNvPr id="9" name="Text 6"/>
          <p:cNvSpPr txBox="1"/>
          <p:nvPr/>
        </p:nvSpPr>
        <p:spPr>
          <a:xfrm>
            <a:off x="731520" y="2377440"/>
            <a:ext cx="457200" cy="457200"/>
          </a:xfrm>
          <a:prstGeom prst="rect">
            <a:avLst/>
          </a:prstGeom>
          <a:noFill/>
          <a:ln/>
        </p:spPr>
        <p:txBody>
          <a:bodyPr wrap="square" lIns="0" tIns="0" rIns="0" bIns="0" rtlCol="0" anchor="ctr"/>
          <a:lstStyle/>
          <a:p>
            <a:pPr algn="ctr" indent="0" marL="0">
              <a:buNone/>
            </a:pPr>
            <a:r>
              <a:rPr lang="en-US" sz="1700" b="1" dirty="0">
                <a:solidFill>
                  <a:schemeClr val="tx2"/>
                </a:solidFill>
              </a:rPr>
              <a:t>1</a:t>
            </a:r>
            <a:endParaRPr lang="en-US" sz="1700" dirty="0"/>
          </a:p>
        </p:txBody>
      </p:sp>
      <p:sp>
        <p:nvSpPr>
          <p:cNvPr id="10" name="Text 7"/>
          <p:cNvSpPr txBox="1"/>
          <p:nvPr/>
        </p:nvSpPr>
        <p:spPr>
          <a:xfrm>
            <a:off x="1325880" y="237744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Independent data</a:t>
            </a:r>
            <a:endParaRPr lang="en-US" sz="1600" dirty="0"/>
          </a:p>
        </p:txBody>
      </p:sp>
      <p:sp>
        <p:nvSpPr>
          <p:cNvPr id="11" name="Text 8"/>
          <p:cNvSpPr txBox="1"/>
          <p:nvPr/>
        </p:nvSpPr>
        <p:spPr>
          <a:xfrm>
            <a:off x="749808" y="2971800"/>
            <a:ext cx="3200400" cy="1051560"/>
          </a:xfrm>
          <a:prstGeom prst="rect">
            <a:avLst/>
          </a:prstGeom>
          <a:noFill/>
          <a:ln/>
        </p:spPr>
        <p:txBody>
          <a:bodyPr wrap="square" lIns="0" tIns="0" rIns="0" bIns="0" rtlCol="0" anchor="t"/>
          <a:lstStyle/>
          <a:p>
            <a:pPr indent="0" marL="0">
              <a:buNone/>
            </a:pPr>
            <a:r>
              <a:rPr lang="en-US" sz="1250" dirty="0">
                <a:solidFill>
                  <a:schemeClr val="tx1"/>
                </a:solidFill>
              </a:rPr>
              <a:t>The six markets rebuilt from raw Tardis.dev trades, quotes and 25-level books, mostly after the paper's period, with unit and integration tests.</a:t>
            </a:r>
            <a:endParaRPr lang="en-US" sz="1250" dirty="0"/>
          </a:p>
        </p:txBody>
      </p:sp>
      <p:sp>
        <p:nvSpPr>
          <p:cNvPr id="12" name="contribution 2"/>
          <p:cNvSpPr/>
          <p:nvPr/>
        </p:nvSpPr>
        <p:spPr>
          <a:xfrm>
            <a:off x="4297680" y="2194560"/>
            <a:ext cx="3566160" cy="1920240"/>
          </a:xfrm>
          <a:prstGeom prst="roundRect">
            <a:avLst>
              <a:gd name="adj" fmla="val 4762"/>
            </a:avLst>
          </a:prstGeom>
          <a:solidFill>
            <a:schemeClr val="bg1"/>
          </a:solidFill>
          <a:ln/>
        </p:spPr>
      </p:sp>
      <p:sp>
        <p:nvSpPr>
          <p:cNvPr id="13" name="badge 2"/>
          <p:cNvSpPr/>
          <p:nvPr/>
        </p:nvSpPr>
        <p:spPr>
          <a:xfrm>
            <a:off x="4480560" y="2377440"/>
            <a:ext cx="457200" cy="457200"/>
          </a:xfrm>
          <a:prstGeom prst="ellipse">
            <a:avLst/>
          </a:prstGeom>
          <a:solidFill>
            <a:schemeClr val="accent3"/>
          </a:solidFill>
          <a:ln/>
        </p:spPr>
      </p:sp>
      <p:sp>
        <p:nvSpPr>
          <p:cNvPr id="14" name="Text 11"/>
          <p:cNvSpPr txBox="1"/>
          <p:nvPr/>
        </p:nvSpPr>
        <p:spPr>
          <a:xfrm>
            <a:off x="4480560" y="2377440"/>
            <a:ext cx="457200" cy="457200"/>
          </a:xfrm>
          <a:prstGeom prst="rect">
            <a:avLst/>
          </a:prstGeom>
          <a:noFill/>
          <a:ln/>
        </p:spPr>
        <p:txBody>
          <a:bodyPr wrap="square" lIns="0" tIns="0" rIns="0" bIns="0" rtlCol="0" anchor="ctr"/>
          <a:lstStyle/>
          <a:p>
            <a:pPr algn="ctr" indent="0" marL="0">
              <a:buNone/>
            </a:pPr>
            <a:r>
              <a:rPr lang="en-US" sz="1700" b="1" dirty="0">
                <a:solidFill>
                  <a:schemeClr val="tx2"/>
                </a:solidFill>
              </a:rPr>
              <a:t>2</a:t>
            </a:r>
            <a:endParaRPr lang="en-US" sz="1700" dirty="0"/>
          </a:p>
        </p:txBody>
      </p:sp>
      <p:sp>
        <p:nvSpPr>
          <p:cNvPr id="15" name="Text 12"/>
          <p:cNvSpPr txBox="1"/>
          <p:nvPr/>
        </p:nvSpPr>
        <p:spPr>
          <a:xfrm>
            <a:off x="5074920" y="237744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Volatility control</a:t>
            </a:r>
            <a:endParaRPr lang="en-US" sz="1600" dirty="0"/>
          </a:p>
        </p:txBody>
      </p:sp>
      <p:sp>
        <p:nvSpPr>
          <p:cNvPr id="16" name="Text 13"/>
          <p:cNvSpPr txBox="1"/>
          <p:nvPr/>
        </p:nvSpPr>
        <p:spPr>
          <a:xfrm>
            <a:off x="4498848" y="2971800"/>
            <a:ext cx="3200400" cy="1051560"/>
          </a:xfrm>
          <a:prstGeom prst="rect">
            <a:avLst/>
          </a:prstGeom>
          <a:noFill/>
          <a:ln/>
        </p:spPr>
        <p:txBody>
          <a:bodyPr wrap="square" lIns="0" tIns="0" rIns="0" bIns="0" rtlCol="0" anchor="t"/>
          <a:lstStyle/>
          <a:p>
            <a:pPr indent="0" marL="0">
              <a:buNone/>
            </a:pPr>
            <a:r>
              <a:rPr lang="en-US" sz="1250" dirty="0">
                <a:solidFill>
                  <a:schemeClr val="tx1"/>
                </a:solidFill>
              </a:rPr>
              <a:t>Partial Spearman correlations: AR's link to spreads survives, its link to price impact does not; the activity–cost sign is largely volatility.</a:t>
            </a:r>
            <a:endParaRPr lang="en-US" sz="1250" dirty="0"/>
          </a:p>
        </p:txBody>
      </p:sp>
      <p:sp>
        <p:nvSpPr>
          <p:cNvPr id="17" name="contribution 3"/>
          <p:cNvSpPr/>
          <p:nvPr/>
        </p:nvSpPr>
        <p:spPr>
          <a:xfrm>
            <a:off x="8046720" y="2194560"/>
            <a:ext cx="3566160" cy="1920240"/>
          </a:xfrm>
          <a:prstGeom prst="roundRect">
            <a:avLst>
              <a:gd name="adj" fmla="val 4762"/>
            </a:avLst>
          </a:prstGeom>
          <a:solidFill>
            <a:schemeClr val="bg1"/>
          </a:solidFill>
          <a:ln/>
        </p:spPr>
      </p:sp>
      <p:sp>
        <p:nvSpPr>
          <p:cNvPr id="18" name="badge 3"/>
          <p:cNvSpPr/>
          <p:nvPr/>
        </p:nvSpPr>
        <p:spPr>
          <a:xfrm>
            <a:off x="8229600" y="2377440"/>
            <a:ext cx="457200" cy="457200"/>
          </a:xfrm>
          <a:prstGeom prst="ellipse">
            <a:avLst/>
          </a:prstGeom>
          <a:solidFill>
            <a:schemeClr val="accent3"/>
          </a:solidFill>
          <a:ln/>
        </p:spPr>
      </p:sp>
      <p:sp>
        <p:nvSpPr>
          <p:cNvPr id="19" name="Text 16"/>
          <p:cNvSpPr txBox="1"/>
          <p:nvPr/>
        </p:nvSpPr>
        <p:spPr>
          <a:xfrm>
            <a:off x="8229600" y="2377440"/>
            <a:ext cx="457200" cy="457200"/>
          </a:xfrm>
          <a:prstGeom prst="rect">
            <a:avLst/>
          </a:prstGeom>
          <a:noFill/>
          <a:ln/>
        </p:spPr>
        <p:txBody>
          <a:bodyPr wrap="square" lIns="0" tIns="0" rIns="0" bIns="0" rtlCol="0" anchor="ctr"/>
          <a:lstStyle/>
          <a:p>
            <a:pPr algn="ctr" indent="0" marL="0">
              <a:buNone/>
            </a:pPr>
            <a:r>
              <a:rPr lang="en-US" sz="1700" b="1" dirty="0">
                <a:solidFill>
                  <a:schemeClr val="tx2"/>
                </a:solidFill>
              </a:rPr>
              <a:t>3</a:t>
            </a:r>
            <a:endParaRPr lang="en-US" sz="1700" dirty="0"/>
          </a:p>
        </p:txBody>
      </p:sp>
      <p:sp>
        <p:nvSpPr>
          <p:cNvPr id="20" name="Text 17"/>
          <p:cNvSpPr txBox="1"/>
          <p:nvPr/>
        </p:nvSpPr>
        <p:spPr>
          <a:xfrm>
            <a:off x="8823960" y="237744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Uncertainty for 7 days</a:t>
            </a:r>
            <a:endParaRPr lang="en-US" sz="1600" dirty="0"/>
          </a:p>
        </p:txBody>
      </p:sp>
      <p:sp>
        <p:nvSpPr>
          <p:cNvPr id="21" name="Text 18"/>
          <p:cNvSpPr txBox="1"/>
          <p:nvPr/>
        </p:nvSpPr>
        <p:spPr>
          <a:xfrm>
            <a:off x="8247888" y="2971800"/>
            <a:ext cx="3200400" cy="1051560"/>
          </a:xfrm>
          <a:prstGeom prst="rect">
            <a:avLst/>
          </a:prstGeom>
          <a:noFill/>
          <a:ln/>
        </p:spPr>
        <p:txBody>
          <a:bodyPr wrap="square" lIns="0" tIns="0" rIns="0" bIns="0" rtlCol="0" anchor="t"/>
          <a:lstStyle/>
          <a:p>
            <a:pPr indent="0" marL="0">
              <a:buNone/>
            </a:pPr>
            <a:r>
              <a:rPr lang="en-US" sz="1250" dirty="0">
                <a:solidFill>
                  <a:schemeClr val="tx1"/>
                </a:solidFill>
              </a:rPr>
              <a:t>Date-block bootstrap with 999 resamples of whole days: 95% intervals for all 192 partial correlations.</a:t>
            </a:r>
            <a:endParaRPr lang="en-US" sz="1250" dirty="0"/>
          </a:p>
        </p:txBody>
      </p:sp>
      <p:sp>
        <p:nvSpPr>
          <p:cNvPr id="22" name="contribution 4"/>
          <p:cNvSpPr/>
          <p:nvPr/>
        </p:nvSpPr>
        <p:spPr>
          <a:xfrm>
            <a:off x="548640" y="4251960"/>
            <a:ext cx="3566160" cy="1920240"/>
          </a:xfrm>
          <a:prstGeom prst="roundRect">
            <a:avLst>
              <a:gd name="adj" fmla="val 4762"/>
            </a:avLst>
          </a:prstGeom>
          <a:solidFill>
            <a:schemeClr val="bg1"/>
          </a:solidFill>
          <a:ln/>
        </p:spPr>
      </p:sp>
      <p:sp>
        <p:nvSpPr>
          <p:cNvPr id="23" name="badge 4"/>
          <p:cNvSpPr/>
          <p:nvPr/>
        </p:nvSpPr>
        <p:spPr>
          <a:xfrm>
            <a:off x="731520" y="4434840"/>
            <a:ext cx="457200" cy="457200"/>
          </a:xfrm>
          <a:prstGeom prst="ellipse">
            <a:avLst/>
          </a:prstGeom>
          <a:solidFill>
            <a:schemeClr val="accent3"/>
          </a:solidFill>
          <a:ln/>
        </p:spPr>
      </p:sp>
      <p:sp>
        <p:nvSpPr>
          <p:cNvPr id="24" name="Text 21"/>
          <p:cNvSpPr txBox="1"/>
          <p:nvPr/>
        </p:nvSpPr>
        <p:spPr>
          <a:xfrm>
            <a:off x="731520" y="4434840"/>
            <a:ext cx="457200" cy="457200"/>
          </a:xfrm>
          <a:prstGeom prst="rect">
            <a:avLst/>
          </a:prstGeom>
          <a:noFill/>
          <a:ln/>
        </p:spPr>
        <p:txBody>
          <a:bodyPr wrap="square" lIns="0" tIns="0" rIns="0" bIns="0" rtlCol="0" anchor="ctr"/>
          <a:lstStyle/>
          <a:p>
            <a:pPr algn="ctr" indent="0" marL="0">
              <a:buNone/>
            </a:pPr>
            <a:r>
              <a:rPr lang="en-US" sz="1700" b="1" dirty="0">
                <a:solidFill>
                  <a:schemeClr val="tx2"/>
                </a:solidFill>
              </a:rPr>
              <a:t>4</a:t>
            </a:r>
            <a:endParaRPr lang="en-US" sz="1700" dirty="0"/>
          </a:p>
        </p:txBody>
      </p:sp>
      <p:sp>
        <p:nvSpPr>
          <p:cNvPr id="25" name="Text 22"/>
          <p:cNvSpPr txBox="1"/>
          <p:nvPr/>
        </p:nvSpPr>
        <p:spPr>
          <a:xfrm>
            <a:off x="1325880" y="443484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A baseline for levels</a:t>
            </a:r>
            <a:endParaRPr lang="en-US" sz="1600" dirty="0"/>
          </a:p>
        </p:txBody>
      </p:sp>
      <p:sp>
        <p:nvSpPr>
          <p:cNvPr id="26" name="Text 23"/>
          <p:cNvSpPr txBox="1"/>
          <p:nvPr/>
        </p:nvSpPr>
        <p:spPr>
          <a:xfrm>
            <a:off x="749808" y="5029200"/>
            <a:ext cx="3200400" cy="1051560"/>
          </a:xfrm>
          <a:prstGeom prst="rect">
            <a:avLst/>
          </a:prstGeom>
          <a:noFill/>
          <a:ln/>
        </p:spPr>
        <p:txBody>
          <a:bodyPr wrap="square" lIns="0" tIns="0" rIns="0" bIns="0" rtlCol="0" anchor="t"/>
          <a:lstStyle/>
          <a:p>
            <a:pPr indent="0" marL="0">
              <a:buNone/>
            </a:pPr>
            <a:r>
              <a:rPr lang="en-US" sz="1250" dirty="0">
                <a:solidFill>
                  <a:schemeClr val="tx1"/>
                </a:solidFill>
              </a:rPr>
              <a:t>Errors compared with predicting zero: Amihud's “accuracy” equals the zero forecast, in our data and in the paper's.</a:t>
            </a:r>
            <a:endParaRPr lang="en-US" sz="1250" dirty="0"/>
          </a:p>
        </p:txBody>
      </p:sp>
      <p:sp>
        <p:nvSpPr>
          <p:cNvPr id="27" name="contribution 5"/>
          <p:cNvSpPr/>
          <p:nvPr/>
        </p:nvSpPr>
        <p:spPr>
          <a:xfrm>
            <a:off x="4297680" y="4251960"/>
            <a:ext cx="3566160" cy="1920240"/>
          </a:xfrm>
          <a:prstGeom prst="roundRect">
            <a:avLst>
              <a:gd name="adj" fmla="val 4762"/>
            </a:avLst>
          </a:prstGeom>
          <a:solidFill>
            <a:schemeClr val="bg1"/>
          </a:solidFill>
          <a:ln/>
        </p:spPr>
      </p:sp>
      <p:sp>
        <p:nvSpPr>
          <p:cNvPr id="28" name="badge 5"/>
          <p:cNvSpPr/>
          <p:nvPr/>
        </p:nvSpPr>
        <p:spPr>
          <a:xfrm>
            <a:off x="4480560" y="4434840"/>
            <a:ext cx="457200" cy="457200"/>
          </a:xfrm>
          <a:prstGeom prst="ellipse">
            <a:avLst/>
          </a:prstGeom>
          <a:solidFill>
            <a:schemeClr val="accent3"/>
          </a:solidFill>
          <a:ln/>
        </p:spPr>
      </p:sp>
      <p:sp>
        <p:nvSpPr>
          <p:cNvPr id="29" name="Text 26"/>
          <p:cNvSpPr txBox="1"/>
          <p:nvPr/>
        </p:nvSpPr>
        <p:spPr>
          <a:xfrm>
            <a:off x="4480560" y="4434840"/>
            <a:ext cx="457200" cy="457200"/>
          </a:xfrm>
          <a:prstGeom prst="rect">
            <a:avLst/>
          </a:prstGeom>
          <a:noFill/>
          <a:ln/>
        </p:spPr>
        <p:txBody>
          <a:bodyPr wrap="square" lIns="0" tIns="0" rIns="0" bIns="0" rtlCol="0" anchor="ctr"/>
          <a:lstStyle/>
          <a:p>
            <a:pPr algn="ctr" indent="0" marL="0">
              <a:buNone/>
            </a:pPr>
            <a:r>
              <a:rPr lang="en-US" sz="1700" b="1" dirty="0">
                <a:solidFill>
                  <a:schemeClr val="tx2"/>
                </a:solidFill>
              </a:rPr>
              <a:t>5</a:t>
            </a:r>
            <a:endParaRPr lang="en-US" sz="1700" dirty="0"/>
          </a:p>
        </p:txBody>
      </p:sp>
      <p:sp>
        <p:nvSpPr>
          <p:cNvPr id="30" name="Text 27"/>
          <p:cNvSpPr txBox="1"/>
          <p:nvPr/>
        </p:nvSpPr>
        <p:spPr>
          <a:xfrm>
            <a:off x="5074920" y="443484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Out-of-sample calibration</a:t>
            </a:r>
            <a:endParaRPr lang="en-US" sz="1600" dirty="0"/>
          </a:p>
        </p:txBody>
      </p:sp>
      <p:sp>
        <p:nvSpPr>
          <p:cNvPr id="31" name="Text 28"/>
          <p:cNvSpPr txBox="1"/>
          <p:nvPr/>
        </p:nvSpPr>
        <p:spPr>
          <a:xfrm>
            <a:off x="4498848" y="5029200"/>
            <a:ext cx="3200400" cy="1051560"/>
          </a:xfrm>
          <a:prstGeom prst="rect">
            <a:avLst/>
          </a:prstGeom>
          <a:noFill/>
          <a:ln/>
        </p:spPr>
        <p:txBody>
          <a:bodyPr wrap="square" lIns="0" tIns="0" rIns="0" bIns="0" rtlCol="0" anchor="t"/>
          <a:lstStyle/>
          <a:p>
            <a:pPr indent="0" marL="0">
              <a:buNone/>
            </a:pPr>
            <a:r>
              <a:rPr lang="en-US" sz="1250" dirty="0">
                <a:solidFill>
                  <a:schemeClr val="tx1"/>
                </a:solidFill>
              </a:rPr>
              <a:t>Train June–October, test November–December against zero and median baselines: helps in 4 of 5 markets, fails when the level shifts.</a:t>
            </a:r>
            <a:endParaRPr lang="en-US" sz="1250" dirty="0"/>
          </a:p>
        </p:txBody>
      </p:sp>
      <p:sp>
        <p:nvSpPr>
          <p:cNvPr id="32" name="contribution 6"/>
          <p:cNvSpPr/>
          <p:nvPr/>
        </p:nvSpPr>
        <p:spPr>
          <a:xfrm>
            <a:off x="8046720" y="4251960"/>
            <a:ext cx="3566160" cy="1920240"/>
          </a:xfrm>
          <a:prstGeom prst="roundRect">
            <a:avLst>
              <a:gd name="adj" fmla="val 4762"/>
            </a:avLst>
          </a:prstGeom>
          <a:solidFill>
            <a:schemeClr val="bg1"/>
          </a:solidFill>
          <a:ln/>
        </p:spPr>
      </p:sp>
      <p:sp>
        <p:nvSpPr>
          <p:cNvPr id="33" name="badge 6"/>
          <p:cNvSpPr/>
          <p:nvPr/>
        </p:nvSpPr>
        <p:spPr>
          <a:xfrm>
            <a:off x="8229600" y="4434840"/>
            <a:ext cx="457200" cy="457200"/>
          </a:xfrm>
          <a:prstGeom prst="ellipse">
            <a:avLst/>
          </a:prstGeom>
          <a:solidFill>
            <a:schemeClr val="accent3"/>
          </a:solidFill>
          <a:ln/>
        </p:spPr>
      </p:sp>
      <p:sp>
        <p:nvSpPr>
          <p:cNvPr id="34" name="Text 31"/>
          <p:cNvSpPr txBox="1"/>
          <p:nvPr/>
        </p:nvSpPr>
        <p:spPr>
          <a:xfrm>
            <a:off x="8229600" y="4434840"/>
            <a:ext cx="457200" cy="457200"/>
          </a:xfrm>
          <a:prstGeom prst="rect">
            <a:avLst/>
          </a:prstGeom>
          <a:noFill/>
          <a:ln/>
        </p:spPr>
        <p:txBody>
          <a:bodyPr wrap="square" lIns="0" tIns="0" rIns="0" bIns="0" rtlCol="0" anchor="ctr"/>
          <a:lstStyle/>
          <a:p>
            <a:pPr algn="ctr" indent="0" marL="0">
              <a:buNone/>
            </a:pPr>
            <a:r>
              <a:rPr lang="en-US" sz="1700" b="1" dirty="0">
                <a:solidFill>
                  <a:schemeClr val="tx2"/>
                </a:solidFill>
              </a:rPr>
              <a:t>6</a:t>
            </a:r>
            <a:endParaRPr lang="en-US" sz="1700" dirty="0"/>
          </a:p>
        </p:txBody>
      </p:sp>
      <p:sp>
        <p:nvSpPr>
          <p:cNvPr id="35" name="Text 32"/>
          <p:cNvSpPr txBox="1"/>
          <p:nvPr/>
        </p:nvSpPr>
        <p:spPr>
          <a:xfrm>
            <a:off x="8823960" y="443484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Transparent definitions</a:t>
            </a:r>
            <a:endParaRPr lang="en-US" sz="1600" dirty="0"/>
          </a:p>
        </p:txBody>
      </p:sp>
      <p:sp>
        <p:nvSpPr>
          <p:cNvPr id="36" name="Text 33"/>
          <p:cNvSpPr txBox="1"/>
          <p:nvPr/>
        </p:nvSpPr>
        <p:spPr>
          <a:xfrm>
            <a:off x="8247888" y="5029200"/>
            <a:ext cx="3200400" cy="1051560"/>
          </a:xfrm>
          <a:prstGeom prst="rect">
            <a:avLst/>
          </a:prstGeom>
          <a:noFill/>
          <a:ln/>
        </p:spPr>
        <p:txBody>
          <a:bodyPr wrap="square" lIns="0" tIns="0" rIns="0" bIns="0" rtlCol="0" anchor="t"/>
          <a:lstStyle/>
          <a:p>
            <a:pPr indent="0" marL="0">
              <a:buNone/>
            </a:pPr>
            <a:r>
              <a:rPr lang="en-US" sz="1250" dirty="0">
                <a:solidFill>
                  <a:schemeClr val="tx1"/>
                </a:solidFill>
              </a:rPr>
              <a:t>ES absolute and signed, signed PI, Table 5 units documented; checks of quote age (30 vs 60 s), book depth and proxy bias by simulation.</a:t>
            </a:r>
            <a:endParaRPr lang="en-US" sz="125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CRITIQUE</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Limitations: what our design cannot show</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Seven selected days: our findings are indicative rather than conclusive.</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Notebook Section 8.4.</a:t>
            </a:r>
            <a:endParaRPr lang="en-US" sz="1000" dirty="0"/>
          </a:p>
        </p:txBody>
      </p:sp>
      <p:sp>
        <p:nvSpPr>
          <p:cNvPr id="7" name="limitation 1"/>
          <p:cNvSpPr/>
          <p:nvPr/>
        </p:nvSpPr>
        <p:spPr>
          <a:xfrm>
            <a:off x="548640" y="2148840"/>
            <a:ext cx="5440680" cy="1243584"/>
          </a:xfrm>
          <a:prstGeom prst="roundRect">
            <a:avLst>
              <a:gd name="adj" fmla="val 7353"/>
            </a:avLst>
          </a:prstGeom>
          <a:solidFill>
            <a:schemeClr val="bg2"/>
          </a:solidFill>
          <a:ln/>
        </p:spPr>
      </p:sp>
      <p:sp>
        <p:nvSpPr>
          <p:cNvPr id="8" name="Text 5"/>
          <p:cNvSpPr txBox="1"/>
          <p:nvPr/>
        </p:nvSpPr>
        <p:spPr>
          <a:xfrm>
            <a:off x="777240" y="2240280"/>
            <a:ext cx="5029200" cy="1060704"/>
          </a:xfrm>
          <a:prstGeom prst="rect">
            <a:avLst/>
          </a:prstGeom>
          <a:noFill/>
          <a:ln/>
        </p:spPr>
        <p:txBody>
          <a:bodyPr wrap="square" lIns="0" tIns="0" rIns="0" bIns="0" rtlCol="0" anchor="ctr"/>
          <a:lstStyle/>
          <a:p>
            <a:pPr indent="0" marL="0">
              <a:buNone/>
            </a:pPr>
            <a:r>
              <a:rPr lang="en-US" sz="1600" b="1" dirty="0">
                <a:solidFill>
                  <a:schemeClr val="tx2"/>
                </a:solidFill>
              </a:rPr>
              <a:t>Sample</a:t>
            </a:r>
            <a:endParaRPr lang="en-US" sz="1400" dirty="0"/>
          </a:p>
          <a:p>
            <a:pPr indent="0" marL="0">
              <a:buNone/>
            </a:pPr>
            <a:r>
              <a:rPr lang="en-US" sz="1400" dirty="0">
                <a:solidFill>
                  <a:schemeClr val="tx1"/>
                </a:solidFill>
              </a:rPr>
              <a:t>7 first-of-month days (807 hours vs ≈ 9,500 in the paper); Bitstamp ETH only 28 hours; recording gaps on 1 Aug 2019.</a:t>
            </a:r>
            <a:endParaRPr lang="en-US" sz="1400" dirty="0"/>
          </a:p>
        </p:txBody>
      </p:sp>
      <p:sp>
        <p:nvSpPr>
          <p:cNvPr id="9" name="limitation 2"/>
          <p:cNvSpPr/>
          <p:nvPr/>
        </p:nvSpPr>
        <p:spPr>
          <a:xfrm>
            <a:off x="6172200" y="2148840"/>
            <a:ext cx="5440680" cy="1243584"/>
          </a:xfrm>
          <a:prstGeom prst="roundRect">
            <a:avLst>
              <a:gd name="adj" fmla="val 7353"/>
            </a:avLst>
          </a:prstGeom>
          <a:solidFill>
            <a:schemeClr val="bg2"/>
          </a:solidFill>
          <a:ln/>
        </p:spPr>
      </p:sp>
      <p:sp>
        <p:nvSpPr>
          <p:cNvPr id="10" name="Text 7"/>
          <p:cNvSpPr txBox="1"/>
          <p:nvPr/>
        </p:nvSpPr>
        <p:spPr>
          <a:xfrm>
            <a:off x="6400800" y="2240280"/>
            <a:ext cx="5029200" cy="1060704"/>
          </a:xfrm>
          <a:prstGeom prst="rect">
            <a:avLst/>
          </a:prstGeom>
          <a:noFill/>
          <a:ln/>
        </p:spPr>
        <p:txBody>
          <a:bodyPr wrap="square" lIns="0" tIns="0" rIns="0" bIns="0" rtlCol="0" anchor="ctr"/>
          <a:lstStyle/>
          <a:p>
            <a:pPr indent="0" marL="0">
              <a:buNone/>
            </a:pPr>
            <a:r>
              <a:rPr lang="en-US" sz="1600" b="1" dirty="0">
                <a:solidFill>
                  <a:schemeClr val="tx2"/>
                </a:solidFill>
              </a:rPr>
              <a:t>Different data</a:t>
            </a:r>
            <a:endParaRPr lang="en-US" sz="1400" dirty="0"/>
          </a:p>
          <a:p>
            <a:pPr indent="0" marL="0">
              <a:buNone/>
            </a:pPr>
            <a:r>
              <a:rPr lang="en-US" sz="1400" dirty="0">
                <a:solidFill>
                  <a:schemeClr val="tx1"/>
                </a:solidFill>
              </a:rPr>
              <a:t>WebSocket recordings on a 10-second grid instead of REST snapshots: explains part of the higher ES and PI levels.</a:t>
            </a:r>
            <a:endParaRPr lang="en-US" sz="1400" dirty="0"/>
          </a:p>
        </p:txBody>
      </p:sp>
      <p:sp>
        <p:nvSpPr>
          <p:cNvPr id="11" name="limitation 3"/>
          <p:cNvSpPr/>
          <p:nvPr/>
        </p:nvSpPr>
        <p:spPr>
          <a:xfrm>
            <a:off x="548640" y="3502152"/>
            <a:ext cx="5440680" cy="1243584"/>
          </a:xfrm>
          <a:prstGeom prst="roundRect">
            <a:avLst>
              <a:gd name="adj" fmla="val 7353"/>
            </a:avLst>
          </a:prstGeom>
          <a:solidFill>
            <a:schemeClr val="bg2"/>
          </a:solidFill>
          <a:ln/>
        </p:spPr>
      </p:sp>
      <p:sp>
        <p:nvSpPr>
          <p:cNvPr id="12" name="Text 9"/>
          <p:cNvSpPr txBox="1"/>
          <p:nvPr/>
        </p:nvSpPr>
        <p:spPr>
          <a:xfrm>
            <a:off x="777240" y="3593592"/>
            <a:ext cx="5029200" cy="1060704"/>
          </a:xfrm>
          <a:prstGeom prst="rect">
            <a:avLst/>
          </a:prstGeom>
          <a:noFill/>
          <a:ln/>
        </p:spPr>
        <p:txBody>
          <a:bodyPr wrap="square" lIns="0" tIns="0" rIns="0" bIns="0" rtlCol="0" anchor="ctr"/>
          <a:lstStyle/>
          <a:p>
            <a:pPr indent="0" marL="0">
              <a:buNone/>
            </a:pPr>
            <a:r>
              <a:rPr lang="en-US" sz="1600" b="1" dirty="0">
                <a:solidFill>
                  <a:schemeClr val="tx2"/>
                </a:solidFill>
              </a:rPr>
              <a:t>Book depth</a:t>
            </a:r>
            <a:endParaRPr lang="en-US" sz="1400" dirty="0"/>
          </a:p>
          <a:p>
            <a:pPr indent="0" marL="0">
              <a:buNone/>
            </a:pPr>
            <a:r>
              <a:rPr lang="en-US" sz="1400" dirty="0">
                <a:solidFill>
                  <a:schemeClr val="tx1"/>
                </a:solidFill>
              </a:rPr>
              <a:t>25 instead of 50 levels: CRT25 approximates CRT, although 25 levels fill the order in 99.85% of snapshots.</a:t>
            </a:r>
            <a:endParaRPr lang="en-US" sz="1400" dirty="0"/>
          </a:p>
        </p:txBody>
      </p:sp>
      <p:sp>
        <p:nvSpPr>
          <p:cNvPr id="13" name="limitation 4"/>
          <p:cNvSpPr/>
          <p:nvPr/>
        </p:nvSpPr>
        <p:spPr>
          <a:xfrm>
            <a:off x="6172200" y="3502152"/>
            <a:ext cx="5440680" cy="1243584"/>
          </a:xfrm>
          <a:prstGeom prst="roundRect">
            <a:avLst>
              <a:gd name="adj" fmla="val 7353"/>
            </a:avLst>
          </a:prstGeom>
          <a:solidFill>
            <a:schemeClr val="bg2"/>
          </a:solidFill>
          <a:ln/>
        </p:spPr>
      </p:sp>
      <p:sp>
        <p:nvSpPr>
          <p:cNvPr id="14" name="Text 11"/>
          <p:cNvSpPr txBox="1"/>
          <p:nvPr/>
        </p:nvSpPr>
        <p:spPr>
          <a:xfrm>
            <a:off x="6400800" y="3593592"/>
            <a:ext cx="5029200" cy="1060704"/>
          </a:xfrm>
          <a:prstGeom prst="rect">
            <a:avLst/>
          </a:prstGeom>
          <a:noFill/>
          <a:ln/>
        </p:spPr>
        <p:txBody>
          <a:bodyPr wrap="square" lIns="0" tIns="0" rIns="0" bIns="0" rtlCol="0" anchor="ctr"/>
          <a:lstStyle/>
          <a:p>
            <a:pPr indent="0" marL="0">
              <a:buNone/>
            </a:pPr>
            <a:r>
              <a:rPr lang="en-US" sz="1600" b="1" dirty="0">
                <a:solidFill>
                  <a:schemeClr val="tx2"/>
                </a:solidFill>
              </a:rPr>
              <a:t>Scope</a:t>
            </a:r>
            <a:endParaRPr lang="en-US" sz="1400" dirty="0"/>
          </a:p>
          <a:p>
            <a:pPr indent="0" marL="0">
              <a:buNone/>
            </a:pPr>
            <a:r>
              <a:rPr lang="en-US" sz="1400" dirty="0">
                <a:solidFill>
                  <a:schemeClr val="tx1"/>
                </a:solidFill>
              </a:rPr>
              <a:t>Hourly only: no daily or 15-day frequency, quantile dependence or PCA composite; the planned Binance 2024 → 2025 extension was not done.</a:t>
            </a:r>
            <a:endParaRPr lang="en-US" sz="1400" dirty="0"/>
          </a:p>
        </p:txBody>
      </p:sp>
      <p:sp>
        <p:nvSpPr>
          <p:cNvPr id="15" name="limitation 5"/>
          <p:cNvSpPr/>
          <p:nvPr/>
        </p:nvSpPr>
        <p:spPr>
          <a:xfrm>
            <a:off x="548640" y="4855464"/>
            <a:ext cx="5440680" cy="1243584"/>
          </a:xfrm>
          <a:prstGeom prst="roundRect">
            <a:avLst>
              <a:gd name="adj" fmla="val 7353"/>
            </a:avLst>
          </a:prstGeom>
          <a:solidFill>
            <a:schemeClr val="bg2"/>
          </a:solidFill>
          <a:ln/>
        </p:spPr>
      </p:sp>
      <p:sp>
        <p:nvSpPr>
          <p:cNvPr id="16" name="Text 13"/>
          <p:cNvSpPr txBox="1"/>
          <p:nvPr/>
        </p:nvSpPr>
        <p:spPr>
          <a:xfrm>
            <a:off x="777240" y="4946904"/>
            <a:ext cx="5029200" cy="1060704"/>
          </a:xfrm>
          <a:prstGeom prst="rect">
            <a:avLst/>
          </a:prstGeom>
          <a:noFill/>
          <a:ln/>
        </p:spPr>
        <p:txBody>
          <a:bodyPr wrap="square" lIns="0" tIns="0" rIns="0" bIns="0" rtlCol="0" anchor="ctr"/>
          <a:lstStyle/>
          <a:p>
            <a:pPr indent="0" marL="0">
              <a:buNone/>
            </a:pPr>
            <a:r>
              <a:rPr lang="en-US" sz="1600" b="1" dirty="0">
                <a:solidFill>
                  <a:schemeClr val="tx2"/>
                </a:solidFill>
              </a:rPr>
              <a:t>Definitions</a:t>
            </a:r>
            <a:endParaRPr lang="en-US" sz="1400" dirty="0"/>
          </a:p>
          <a:p>
            <a:pPr indent="0" marL="0">
              <a:buNone/>
            </a:pPr>
            <a:r>
              <a:rPr lang="en-US" sz="1400" dirty="0">
                <a:solidFill>
                  <a:schemeClr val="tx1"/>
                </a:solidFill>
              </a:rPr>
              <a:t>ES, PI and Table 5 units follow our documented reading of the SSRN text; the authors have not confirmed it.</a:t>
            </a:r>
            <a:endParaRPr lang="en-US" sz="1400" dirty="0"/>
          </a:p>
        </p:txBody>
      </p:sp>
      <p:sp>
        <p:nvSpPr>
          <p:cNvPr id="17" name="limitation 6"/>
          <p:cNvSpPr/>
          <p:nvPr/>
        </p:nvSpPr>
        <p:spPr>
          <a:xfrm>
            <a:off x="6172200" y="4855464"/>
            <a:ext cx="5440680" cy="1243584"/>
          </a:xfrm>
          <a:prstGeom prst="roundRect">
            <a:avLst>
              <a:gd name="adj" fmla="val 7353"/>
            </a:avLst>
          </a:prstGeom>
          <a:solidFill>
            <a:schemeClr val="bg2"/>
          </a:solidFill>
          <a:ln/>
        </p:spPr>
      </p:sp>
      <p:sp>
        <p:nvSpPr>
          <p:cNvPr id="18" name="Text 15"/>
          <p:cNvSpPr txBox="1"/>
          <p:nvPr/>
        </p:nvSpPr>
        <p:spPr>
          <a:xfrm>
            <a:off x="6400800" y="4946904"/>
            <a:ext cx="5029200" cy="1060704"/>
          </a:xfrm>
          <a:prstGeom prst="rect">
            <a:avLst/>
          </a:prstGeom>
          <a:noFill/>
          <a:ln/>
        </p:spPr>
        <p:txBody>
          <a:bodyPr wrap="square" lIns="0" tIns="0" rIns="0" bIns="0" rtlCol="0" anchor="ctr"/>
          <a:lstStyle/>
          <a:p>
            <a:pPr indent="0" marL="0">
              <a:buNone/>
            </a:pPr>
            <a:r>
              <a:rPr lang="en-US" sz="1600" b="1" dirty="0">
                <a:solidFill>
                  <a:schemeClr val="tx2"/>
                </a:solidFill>
              </a:rPr>
              <a:t>Reproducibility</a:t>
            </a:r>
            <a:endParaRPr lang="en-US" sz="1400" dirty="0"/>
          </a:p>
          <a:p>
            <a:pPr indent="0" marL="0">
              <a:buNone/>
            </a:pPr>
            <a:r>
              <a:rPr lang="en-US" sz="1400" dirty="0">
                <a:solidFill>
                  <a:schemeClr val="tx1"/>
                </a:solidFill>
              </a:rPr>
              <a:t>FAST_MODE loads ES, PI and CRT25 from the full run; only the full mode (several hours) recomputes them from raw data.</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CONCLUSIONS</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Conclusions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What we can say after replicating and extending the paper.</a:t>
            </a:r>
            <a:endParaRPr lang="en-US" sz="1500" dirty="0"/>
          </a:p>
        </p:txBody>
      </p:sp>
      <p:sp>
        <p:nvSpPr>
          <p:cNvPr id="6" name="conclusion 1"/>
          <p:cNvSpPr/>
          <p:nvPr/>
        </p:nvSpPr>
        <p:spPr>
          <a:xfrm>
            <a:off x="548640" y="2148840"/>
            <a:ext cx="11064240" cy="713232"/>
          </a:xfrm>
          <a:prstGeom prst="roundRect">
            <a:avLst>
              <a:gd name="adj" fmla="val 12821"/>
            </a:avLst>
          </a:prstGeom>
          <a:solidFill>
            <a:schemeClr val="tx2"/>
          </a:solidFill>
          <a:ln/>
        </p:spPr>
      </p:sp>
      <p:sp>
        <p:nvSpPr>
          <p:cNvPr id="7" name="Text 4"/>
          <p:cNvSpPr txBox="1"/>
          <p:nvPr/>
        </p:nvSpPr>
        <p:spPr>
          <a:xfrm>
            <a:off x="777240" y="2148840"/>
            <a:ext cx="548640" cy="713232"/>
          </a:xfrm>
          <a:prstGeom prst="rect">
            <a:avLst/>
          </a:prstGeom>
          <a:noFill/>
          <a:ln/>
        </p:spPr>
        <p:txBody>
          <a:bodyPr wrap="square" lIns="0" tIns="0" rIns="0" bIns="0" rtlCol="0" anchor="ctr"/>
          <a:lstStyle/>
          <a:p>
            <a:pPr indent="0" marL="0">
              <a:buNone/>
            </a:pPr>
            <a:r>
              <a:rPr lang="en-US" sz="1700" b="1" dirty="0">
                <a:solidFill>
                  <a:schemeClr val="accent3"/>
                </a:solidFill>
              </a:rPr>
              <a:t>01</a:t>
            </a:r>
            <a:endParaRPr lang="en-US" sz="1700" dirty="0"/>
          </a:p>
        </p:txBody>
      </p:sp>
      <p:sp>
        <p:nvSpPr>
          <p:cNvPr id="8" name="Text 5"/>
          <p:cNvSpPr txBox="1"/>
          <p:nvPr/>
        </p:nvSpPr>
        <p:spPr>
          <a:xfrm>
            <a:off x="1417320" y="2148840"/>
            <a:ext cx="3154680" cy="713232"/>
          </a:xfrm>
          <a:prstGeom prst="rect">
            <a:avLst/>
          </a:prstGeom>
          <a:noFill/>
          <a:ln/>
        </p:spPr>
        <p:txBody>
          <a:bodyPr wrap="square" lIns="0" tIns="0" rIns="0" bIns="0" rtlCol="0" anchor="ctr"/>
          <a:lstStyle/>
          <a:p>
            <a:pPr indent="0" marL="0">
              <a:buNone/>
            </a:pPr>
            <a:r>
              <a:rPr lang="en-US" sz="1500" b="1" dirty="0">
                <a:solidFill>
                  <a:schemeClr val="bg1"/>
                </a:solidFill>
              </a:rPr>
              <a:t>The central result travels</a:t>
            </a:r>
            <a:endParaRPr lang="en-US" sz="1500" dirty="0"/>
          </a:p>
        </p:txBody>
      </p:sp>
      <p:sp>
        <p:nvSpPr>
          <p:cNvPr id="9" name="Text 6"/>
          <p:cNvSpPr txBox="1"/>
          <p:nvPr/>
        </p:nvSpPr>
        <p:spPr>
          <a:xfrm>
            <a:off x="4663440" y="2148840"/>
            <a:ext cx="6766560" cy="713232"/>
          </a:xfrm>
          <a:prstGeom prst="rect">
            <a:avLst/>
          </a:prstGeom>
          <a:noFill/>
          <a:ln/>
        </p:spPr>
        <p:txBody>
          <a:bodyPr wrap="square" lIns="0" tIns="0" rIns="0" bIns="0" rtlCol="0" anchor="ctr"/>
          <a:lstStyle/>
          <a:p>
            <a:pPr indent="0" marL="0">
              <a:buNone/>
            </a:pPr>
            <a:r>
              <a:rPr lang="en-US" sz="1300" dirty="0">
                <a:solidFill>
                  <a:schemeClr val="bg1"/>
                </a:solidFill>
              </a:rPr>
              <a:t>On independent 2019 data, AR again tracks spreads and roundtrip costs best and ranks the venues best.</a:t>
            </a:r>
            <a:endParaRPr lang="en-US" sz="1300" dirty="0"/>
          </a:p>
        </p:txBody>
      </p:sp>
      <p:sp>
        <p:nvSpPr>
          <p:cNvPr id="10" name="conclusion 2"/>
          <p:cNvSpPr/>
          <p:nvPr/>
        </p:nvSpPr>
        <p:spPr>
          <a:xfrm>
            <a:off x="548640" y="2962656"/>
            <a:ext cx="11064240" cy="713232"/>
          </a:xfrm>
          <a:prstGeom prst="roundRect">
            <a:avLst>
              <a:gd name="adj" fmla="val 12821"/>
            </a:avLst>
          </a:prstGeom>
          <a:solidFill>
            <a:schemeClr val="bg2"/>
          </a:solidFill>
          <a:ln/>
        </p:spPr>
      </p:sp>
      <p:sp>
        <p:nvSpPr>
          <p:cNvPr id="11" name="Text 8"/>
          <p:cNvSpPr txBox="1"/>
          <p:nvPr/>
        </p:nvSpPr>
        <p:spPr>
          <a:xfrm>
            <a:off x="777240" y="2962656"/>
            <a:ext cx="548640" cy="713232"/>
          </a:xfrm>
          <a:prstGeom prst="rect">
            <a:avLst/>
          </a:prstGeom>
          <a:noFill/>
          <a:ln/>
        </p:spPr>
        <p:txBody>
          <a:bodyPr wrap="square" lIns="0" tIns="0" rIns="0" bIns="0" rtlCol="0" anchor="ctr"/>
          <a:lstStyle/>
          <a:p>
            <a:pPr indent="0" marL="0">
              <a:buNone/>
            </a:pPr>
            <a:r>
              <a:rPr lang="en-US" sz="1700" b="1" dirty="0">
                <a:solidFill>
                  <a:schemeClr val="tx2"/>
                </a:solidFill>
              </a:rPr>
              <a:t>02</a:t>
            </a:r>
            <a:endParaRPr lang="en-US" sz="1700" dirty="0"/>
          </a:p>
        </p:txBody>
      </p:sp>
      <p:sp>
        <p:nvSpPr>
          <p:cNvPr id="12" name="Text 9"/>
          <p:cNvSpPr txBox="1"/>
          <p:nvPr/>
        </p:nvSpPr>
        <p:spPr>
          <a:xfrm>
            <a:off x="1417320" y="2962656"/>
            <a:ext cx="3154680" cy="713232"/>
          </a:xfrm>
          <a:prstGeom prst="rect">
            <a:avLst/>
          </a:prstGeom>
          <a:noFill/>
          <a:ln/>
        </p:spPr>
        <p:txBody>
          <a:bodyPr wrap="square" lIns="0" tIns="0" rIns="0" bIns="0" rtlCol="0" anchor="ctr"/>
          <a:lstStyle/>
          <a:p>
            <a:pPr indent="0" marL="0">
              <a:buNone/>
            </a:pPr>
            <a:r>
              <a:rPr lang="en-US" sz="1500" b="1" dirty="0">
                <a:solidFill>
                  <a:schemeClr val="tx2"/>
                </a:solidFill>
              </a:rPr>
              <a:t>Volatility is a common driver</a:t>
            </a:r>
            <a:endParaRPr lang="en-US" sz="1500" dirty="0"/>
          </a:p>
        </p:txBody>
      </p:sp>
      <p:sp>
        <p:nvSpPr>
          <p:cNvPr id="13" name="Text 10"/>
          <p:cNvSpPr txBox="1"/>
          <p:nvPr/>
        </p:nvSpPr>
        <p:spPr>
          <a:xfrm>
            <a:off x="4663440" y="2962656"/>
            <a:ext cx="6766560" cy="713232"/>
          </a:xfrm>
          <a:prstGeom prst="rect">
            <a:avLst/>
          </a:prstGeom>
          <a:noFill/>
          <a:ln/>
        </p:spPr>
        <p:txBody>
          <a:bodyPr wrap="square" lIns="0" tIns="0" rIns="0" bIns="0" rtlCol="0" anchor="ctr"/>
          <a:lstStyle/>
          <a:p>
            <a:pPr indent="0" marL="0">
              <a:buNone/>
            </a:pPr>
            <a:r>
              <a:rPr lang="en-US" sz="1300" dirty="0">
                <a:solidFill>
                  <a:schemeClr val="tx1"/>
                </a:solidFill>
              </a:rPr>
              <a:t>The positive activity–cost link mostly disappears once volatility is removed; AR keeps 0.41–0.61 with QS.</a:t>
            </a:r>
            <a:endParaRPr lang="en-US" sz="1300" dirty="0"/>
          </a:p>
        </p:txBody>
      </p:sp>
      <p:sp>
        <p:nvSpPr>
          <p:cNvPr id="14" name="conclusion 3"/>
          <p:cNvSpPr/>
          <p:nvPr/>
        </p:nvSpPr>
        <p:spPr>
          <a:xfrm>
            <a:off x="548640" y="3776472"/>
            <a:ext cx="11064240" cy="713232"/>
          </a:xfrm>
          <a:prstGeom prst="roundRect">
            <a:avLst>
              <a:gd name="adj" fmla="val 12821"/>
            </a:avLst>
          </a:prstGeom>
          <a:solidFill>
            <a:schemeClr val="tx2"/>
          </a:solidFill>
          <a:ln/>
        </p:spPr>
      </p:sp>
      <p:sp>
        <p:nvSpPr>
          <p:cNvPr id="15" name="Text 12"/>
          <p:cNvSpPr txBox="1"/>
          <p:nvPr/>
        </p:nvSpPr>
        <p:spPr>
          <a:xfrm>
            <a:off x="777240" y="3776472"/>
            <a:ext cx="548640" cy="713232"/>
          </a:xfrm>
          <a:prstGeom prst="rect">
            <a:avLst/>
          </a:prstGeom>
          <a:noFill/>
          <a:ln/>
        </p:spPr>
        <p:txBody>
          <a:bodyPr wrap="square" lIns="0" tIns="0" rIns="0" bIns="0" rtlCol="0" anchor="ctr"/>
          <a:lstStyle/>
          <a:p>
            <a:pPr indent="0" marL="0">
              <a:buNone/>
            </a:pPr>
            <a:r>
              <a:rPr lang="en-US" sz="1700" b="1" dirty="0">
                <a:solidFill>
                  <a:schemeClr val="accent3"/>
                </a:solidFill>
              </a:rPr>
              <a:t>03</a:t>
            </a:r>
            <a:endParaRPr lang="en-US" sz="1700" dirty="0"/>
          </a:p>
        </p:txBody>
      </p:sp>
      <p:sp>
        <p:nvSpPr>
          <p:cNvPr id="16" name="Text 13"/>
          <p:cNvSpPr txBox="1"/>
          <p:nvPr/>
        </p:nvSpPr>
        <p:spPr>
          <a:xfrm>
            <a:off x="1417320" y="3776472"/>
            <a:ext cx="3154680" cy="713232"/>
          </a:xfrm>
          <a:prstGeom prst="rect">
            <a:avLst/>
          </a:prstGeom>
          <a:noFill/>
          <a:ln/>
        </p:spPr>
        <p:txBody>
          <a:bodyPr wrap="square" lIns="0" tIns="0" rIns="0" bIns="0" rtlCol="0" anchor="ctr"/>
          <a:lstStyle/>
          <a:p>
            <a:pPr indent="0" marL="0">
              <a:buNone/>
            </a:pPr>
            <a:r>
              <a:rPr lang="en-US" sz="1500" b="1" dirty="0">
                <a:solidFill>
                  <a:schemeClr val="bg1"/>
                </a:solidFill>
              </a:rPr>
              <a:t>Price impact is the hardest</a:t>
            </a:r>
            <a:endParaRPr lang="en-US" sz="1500" dirty="0"/>
          </a:p>
        </p:txBody>
      </p:sp>
      <p:sp>
        <p:nvSpPr>
          <p:cNvPr id="17" name="Text 14"/>
          <p:cNvSpPr txBox="1"/>
          <p:nvPr/>
        </p:nvSpPr>
        <p:spPr>
          <a:xfrm>
            <a:off x="4663440" y="3776472"/>
            <a:ext cx="6766560" cy="713232"/>
          </a:xfrm>
          <a:prstGeom prst="rect">
            <a:avLst/>
          </a:prstGeom>
          <a:noFill/>
          <a:ln/>
        </p:spPr>
        <p:txBody>
          <a:bodyPr wrap="square" lIns="0" tIns="0" rIns="0" bIns="0" rtlCol="0" anchor="ctr"/>
          <a:lstStyle/>
          <a:p>
            <a:pPr indent="0" marL="0">
              <a:buNone/>
            </a:pPr>
            <a:r>
              <a:rPr lang="en-US" sz="1300" dirty="0">
                <a:solidFill>
                  <a:schemeClr val="bg1"/>
                </a:solidFill>
              </a:rPr>
              <a:t>No proxy tracks it after the volatility control, and AR ranks the venues by it no better than chance.</a:t>
            </a:r>
            <a:endParaRPr lang="en-US" sz="1300" dirty="0"/>
          </a:p>
        </p:txBody>
      </p:sp>
      <p:sp>
        <p:nvSpPr>
          <p:cNvPr id="18" name="conclusion 4"/>
          <p:cNvSpPr/>
          <p:nvPr/>
        </p:nvSpPr>
        <p:spPr>
          <a:xfrm>
            <a:off x="548640" y="4590288"/>
            <a:ext cx="11064240" cy="713232"/>
          </a:xfrm>
          <a:prstGeom prst="roundRect">
            <a:avLst>
              <a:gd name="adj" fmla="val 12821"/>
            </a:avLst>
          </a:prstGeom>
          <a:solidFill>
            <a:schemeClr val="bg2"/>
          </a:solidFill>
          <a:ln/>
        </p:spPr>
      </p:sp>
      <p:sp>
        <p:nvSpPr>
          <p:cNvPr id="19" name="Text 16"/>
          <p:cNvSpPr txBox="1"/>
          <p:nvPr/>
        </p:nvSpPr>
        <p:spPr>
          <a:xfrm>
            <a:off x="777240" y="4590288"/>
            <a:ext cx="548640" cy="713232"/>
          </a:xfrm>
          <a:prstGeom prst="rect">
            <a:avLst/>
          </a:prstGeom>
          <a:noFill/>
          <a:ln/>
        </p:spPr>
        <p:txBody>
          <a:bodyPr wrap="square" lIns="0" tIns="0" rIns="0" bIns="0" rtlCol="0" anchor="ctr"/>
          <a:lstStyle/>
          <a:p>
            <a:pPr indent="0" marL="0">
              <a:buNone/>
            </a:pPr>
            <a:r>
              <a:rPr lang="en-US" sz="1700" b="1" dirty="0">
                <a:solidFill>
                  <a:schemeClr val="tx2"/>
                </a:solidFill>
              </a:rPr>
              <a:t>04</a:t>
            </a:r>
            <a:endParaRPr lang="en-US" sz="1700" dirty="0"/>
          </a:p>
        </p:txBody>
      </p:sp>
      <p:sp>
        <p:nvSpPr>
          <p:cNvPr id="20" name="Text 17"/>
          <p:cNvSpPr txBox="1"/>
          <p:nvPr/>
        </p:nvSpPr>
        <p:spPr>
          <a:xfrm>
            <a:off x="1417320" y="4590288"/>
            <a:ext cx="3154680" cy="713232"/>
          </a:xfrm>
          <a:prstGeom prst="rect">
            <a:avLst/>
          </a:prstGeom>
          <a:noFill/>
          <a:ln/>
        </p:spPr>
        <p:txBody>
          <a:bodyPr wrap="square" lIns="0" tIns="0" rIns="0" bIns="0" rtlCol="0" anchor="ctr"/>
          <a:lstStyle/>
          <a:p>
            <a:pPr indent="0" marL="0">
              <a:buNone/>
            </a:pPr>
            <a:r>
              <a:rPr lang="en-US" sz="1500" b="1" dirty="0">
                <a:solidFill>
                  <a:schemeClr val="tx2"/>
                </a:solidFill>
              </a:rPr>
              <a:t>Levels need a baseline</a:t>
            </a:r>
            <a:endParaRPr lang="en-US" sz="1500" dirty="0"/>
          </a:p>
        </p:txBody>
      </p:sp>
      <p:sp>
        <p:nvSpPr>
          <p:cNvPr id="21" name="Text 18"/>
          <p:cNvSpPr txBox="1"/>
          <p:nvPr/>
        </p:nvSpPr>
        <p:spPr>
          <a:xfrm>
            <a:off x="4663440" y="4590288"/>
            <a:ext cx="6766560" cy="713232"/>
          </a:xfrm>
          <a:prstGeom prst="rect">
            <a:avLst/>
          </a:prstGeom>
          <a:noFill/>
          <a:ln/>
        </p:spPr>
        <p:txBody>
          <a:bodyPr wrap="square" lIns="0" tIns="0" rIns="0" bIns="0" rtlCol="0" anchor="ctr"/>
          <a:lstStyle/>
          <a:p>
            <a:pPr indent="0" marL="0">
              <a:buNone/>
            </a:pPr>
            <a:r>
              <a:rPr lang="en-US" sz="1300" dirty="0">
                <a:solidFill>
                  <a:schemeClr val="tx1"/>
                </a:solidFill>
              </a:rPr>
              <a:t>Amihud's small error is the zero forecast; AR is biased upwards at minute frequency.</a:t>
            </a:r>
            <a:endParaRPr lang="en-US" sz="1300" dirty="0"/>
          </a:p>
        </p:txBody>
      </p:sp>
      <p:sp>
        <p:nvSpPr>
          <p:cNvPr id="22" name="conclusion 5"/>
          <p:cNvSpPr/>
          <p:nvPr/>
        </p:nvSpPr>
        <p:spPr>
          <a:xfrm>
            <a:off x="548640" y="5404104"/>
            <a:ext cx="11064240" cy="713232"/>
          </a:xfrm>
          <a:prstGeom prst="roundRect">
            <a:avLst>
              <a:gd name="adj" fmla="val 12821"/>
            </a:avLst>
          </a:prstGeom>
          <a:solidFill>
            <a:schemeClr val="tx2"/>
          </a:solidFill>
          <a:ln/>
        </p:spPr>
      </p:sp>
      <p:sp>
        <p:nvSpPr>
          <p:cNvPr id="23" name="Text 20"/>
          <p:cNvSpPr txBox="1"/>
          <p:nvPr/>
        </p:nvSpPr>
        <p:spPr>
          <a:xfrm>
            <a:off x="777240" y="5404104"/>
            <a:ext cx="548640" cy="713232"/>
          </a:xfrm>
          <a:prstGeom prst="rect">
            <a:avLst/>
          </a:prstGeom>
          <a:noFill/>
          <a:ln/>
        </p:spPr>
        <p:txBody>
          <a:bodyPr wrap="square" lIns="0" tIns="0" rIns="0" bIns="0" rtlCol="0" anchor="ctr"/>
          <a:lstStyle/>
          <a:p>
            <a:pPr indent="0" marL="0">
              <a:buNone/>
            </a:pPr>
            <a:r>
              <a:rPr lang="en-US" sz="1700" b="1" dirty="0">
                <a:solidFill>
                  <a:schemeClr val="accent3"/>
                </a:solidFill>
              </a:rPr>
              <a:t>05</a:t>
            </a:r>
            <a:endParaRPr lang="en-US" sz="1700" dirty="0"/>
          </a:p>
        </p:txBody>
      </p:sp>
      <p:sp>
        <p:nvSpPr>
          <p:cNvPr id="24" name="Text 21"/>
          <p:cNvSpPr txBox="1"/>
          <p:nvPr/>
        </p:nvSpPr>
        <p:spPr>
          <a:xfrm>
            <a:off x="1417320" y="5404104"/>
            <a:ext cx="3154680" cy="713232"/>
          </a:xfrm>
          <a:prstGeom prst="rect">
            <a:avLst/>
          </a:prstGeom>
          <a:noFill/>
          <a:ln/>
        </p:spPr>
        <p:txBody>
          <a:bodyPr wrap="square" lIns="0" tIns="0" rIns="0" bIns="0" rtlCol="0" anchor="ctr"/>
          <a:lstStyle/>
          <a:p>
            <a:pPr indent="0" marL="0">
              <a:buNone/>
            </a:pPr>
            <a:r>
              <a:rPr lang="en-US" sz="1500" b="1" dirty="0">
                <a:solidFill>
                  <a:schemeClr val="bg1"/>
                </a:solidFill>
              </a:rPr>
              <a:t>For practice</a:t>
            </a:r>
            <a:endParaRPr lang="en-US" sz="1500" dirty="0"/>
          </a:p>
        </p:txBody>
      </p:sp>
      <p:sp>
        <p:nvSpPr>
          <p:cNvPr id="25" name="Text 22"/>
          <p:cNvSpPr txBox="1"/>
          <p:nvPr/>
        </p:nvSpPr>
        <p:spPr>
          <a:xfrm>
            <a:off x="4663440" y="5404104"/>
            <a:ext cx="6766560" cy="713232"/>
          </a:xfrm>
          <a:prstGeom prst="rect">
            <a:avLst/>
          </a:prstGeom>
          <a:noFill/>
          <a:ln/>
        </p:spPr>
        <p:txBody>
          <a:bodyPr wrap="square" lIns="0" tIns="0" rIns="0" bIns="0" rtlCol="0" anchor="ctr"/>
          <a:lstStyle/>
          <a:p>
            <a:pPr indent="0" marL="0">
              <a:buNone/>
            </a:pPr>
            <a:r>
              <a:rPr lang="en-US" sz="1300" dirty="0">
                <a:solidFill>
                  <a:schemeClr val="bg1"/>
                </a:solidFill>
              </a:rPr>
              <a:t>Use AR to compare venues and time liquidity; for cost levels, calibrate on recent data and check against a simple baseline.</a:t>
            </a:r>
            <a:endParaRPr lang="en-US" sz="1300" dirty="0"/>
          </a:p>
        </p:txBody>
      </p:sp>
      <p:sp>
        <p:nvSpPr>
          <p:cNvPr id="26"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endParaRPr lang="en-US" sz="10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REFERENCES</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References, data and tools</a:t>
            </a:r>
            <a:endParaRPr lang="en-US" sz="2800" dirty="0"/>
          </a:p>
        </p:txBody>
      </p:sp>
      <p:sp>
        <p:nvSpPr>
          <p:cNvPr id="4" name="Text 2"/>
          <p:cNvSpPr txBox="1"/>
          <p:nvPr/>
        </p:nvSpPr>
        <p:spPr>
          <a:xfrm>
            <a:off x="548640" y="1874520"/>
            <a:ext cx="2103120" cy="731520"/>
          </a:xfrm>
          <a:prstGeom prst="rect">
            <a:avLst/>
          </a:prstGeom>
          <a:noFill/>
          <a:ln/>
        </p:spPr>
        <p:txBody>
          <a:bodyPr wrap="square" lIns="0" tIns="0" rIns="0" bIns="0" rtlCol="0" anchor="t"/>
          <a:lstStyle/>
          <a:p>
            <a:pPr indent="0" marL="0">
              <a:buNone/>
            </a:pPr>
            <a:r>
              <a:rPr lang="en-US" sz="1400" b="1" dirty="0">
                <a:solidFill>
                  <a:schemeClr val="tx2"/>
                </a:solidFill>
              </a:rPr>
              <a:t>Main paper</a:t>
            </a:r>
            <a:endParaRPr lang="en-US" sz="1400" dirty="0"/>
          </a:p>
        </p:txBody>
      </p:sp>
      <p:sp>
        <p:nvSpPr>
          <p:cNvPr id="5" name="Text 3"/>
          <p:cNvSpPr txBox="1"/>
          <p:nvPr/>
        </p:nvSpPr>
        <p:spPr>
          <a:xfrm>
            <a:off x="2743200" y="1874520"/>
            <a:ext cx="8869680" cy="777240"/>
          </a:xfrm>
          <a:prstGeom prst="rect">
            <a:avLst/>
          </a:prstGeom>
          <a:noFill/>
          <a:ln/>
        </p:spPr>
        <p:txBody>
          <a:bodyPr wrap="square" lIns="0" tIns="0" rIns="0" bIns="0" rtlCol="0" anchor="t"/>
          <a:lstStyle/>
          <a:p>
            <a:pPr indent="0" marL="0">
              <a:buNone/>
            </a:pPr>
            <a:r>
              <a:rPr lang="en-US" sz="1300" dirty="0">
                <a:solidFill>
                  <a:schemeClr val="tx1"/>
                </a:solidFill>
              </a:rPr>
              <a:t>Brauneis, A., Mestel, R., Riordan, R., Theissen, E. (2021). How to measure the liquidity of cryptocurrency markets? Journal of Banking &amp; Finance 124, 106041. We worked with the SSRN version of March 2020.</a:t>
            </a:r>
            <a:endParaRPr lang="en-US" sz="1300" dirty="0"/>
          </a:p>
        </p:txBody>
      </p:sp>
      <p:sp>
        <p:nvSpPr>
          <p:cNvPr id="6" name="Text 4"/>
          <p:cNvSpPr txBox="1"/>
          <p:nvPr/>
        </p:nvSpPr>
        <p:spPr>
          <a:xfrm>
            <a:off x="548640" y="2743200"/>
            <a:ext cx="2103120" cy="731520"/>
          </a:xfrm>
          <a:prstGeom prst="rect">
            <a:avLst/>
          </a:prstGeom>
          <a:noFill/>
          <a:ln/>
        </p:spPr>
        <p:txBody>
          <a:bodyPr wrap="square" lIns="0" tIns="0" rIns="0" bIns="0" rtlCol="0" anchor="t"/>
          <a:lstStyle/>
          <a:p>
            <a:pPr indent="0" marL="0">
              <a:buNone/>
            </a:pPr>
            <a:r>
              <a:rPr lang="en-US" sz="1400" b="1" dirty="0">
                <a:solidFill>
                  <a:schemeClr val="tx2"/>
                </a:solidFill>
              </a:rPr>
              <a:t>Proxy methods</a:t>
            </a:r>
            <a:endParaRPr lang="en-US" sz="1400" dirty="0"/>
          </a:p>
        </p:txBody>
      </p:sp>
      <p:sp>
        <p:nvSpPr>
          <p:cNvPr id="7" name="Text 5"/>
          <p:cNvSpPr txBox="1"/>
          <p:nvPr/>
        </p:nvSpPr>
        <p:spPr>
          <a:xfrm>
            <a:off x="2743200" y="2743200"/>
            <a:ext cx="8869680" cy="777240"/>
          </a:xfrm>
          <a:prstGeom prst="rect">
            <a:avLst/>
          </a:prstGeom>
          <a:noFill/>
          <a:ln/>
        </p:spPr>
        <p:txBody>
          <a:bodyPr wrap="square" lIns="0" tIns="0" rIns="0" bIns="0" rtlCol="0" anchor="t"/>
          <a:lstStyle/>
          <a:p>
            <a:pPr indent="0" marL="0">
              <a:buNone/>
            </a:pPr>
            <a:r>
              <a:rPr lang="en-US" sz="1300" dirty="0">
                <a:solidFill>
                  <a:schemeClr val="tx1"/>
                </a:solidFill>
              </a:rPr>
              <a:t>Roll (1984); Amihud (2002); Corwin &amp; Schultz (2012); Kyle &amp; Obizhaeva (2016); Abdi &amp; Ranaldo (2017), as cited in the paper.</a:t>
            </a:r>
            <a:endParaRPr lang="en-US" sz="1300" dirty="0"/>
          </a:p>
        </p:txBody>
      </p:sp>
      <p:sp>
        <p:nvSpPr>
          <p:cNvPr id="8" name="Text 6"/>
          <p:cNvSpPr txBox="1"/>
          <p:nvPr/>
        </p:nvSpPr>
        <p:spPr>
          <a:xfrm>
            <a:off x="548640" y="3611880"/>
            <a:ext cx="2103120" cy="731520"/>
          </a:xfrm>
          <a:prstGeom prst="rect">
            <a:avLst/>
          </a:prstGeom>
          <a:noFill/>
          <a:ln/>
        </p:spPr>
        <p:txBody>
          <a:bodyPr wrap="square" lIns="0" tIns="0" rIns="0" bIns="0" rtlCol="0" anchor="t"/>
          <a:lstStyle/>
          <a:p>
            <a:pPr indent="0" marL="0">
              <a:buNone/>
            </a:pPr>
            <a:r>
              <a:rPr lang="en-US" sz="1400" b="1" dirty="0">
                <a:solidFill>
                  <a:schemeClr val="tx2"/>
                </a:solidFill>
              </a:rPr>
              <a:t>Data</a:t>
            </a:r>
            <a:endParaRPr lang="en-US" sz="1400" dirty="0"/>
          </a:p>
        </p:txBody>
      </p:sp>
      <p:sp>
        <p:nvSpPr>
          <p:cNvPr id="9" name="Text 7"/>
          <p:cNvSpPr txBox="1"/>
          <p:nvPr/>
        </p:nvSpPr>
        <p:spPr>
          <a:xfrm>
            <a:off x="2743200" y="3611880"/>
            <a:ext cx="8869680" cy="777240"/>
          </a:xfrm>
          <a:prstGeom prst="rect">
            <a:avLst/>
          </a:prstGeom>
          <a:noFill/>
          <a:ln/>
        </p:spPr>
        <p:txBody>
          <a:bodyPr wrap="square" lIns="0" tIns="0" rIns="0" bIns="0" rtlCol="0" anchor="t"/>
          <a:lstStyle/>
          <a:p>
            <a:pPr indent="0" marL="0">
              <a:buNone/>
            </a:pPr>
            <a:r>
              <a:rPr lang="en-US" sz="1300" dirty="0">
                <a:solidFill>
                  <a:schemeClr val="tx1"/>
                </a:solidFill>
              </a:rPr>
              <a:t>Tardis.dev historical CSV datasets: trades, quotes and book_snapshot_25 for Bitfinex, Bitstamp and Coinbase, seven days of 2019.</a:t>
            </a:r>
            <a:endParaRPr lang="en-US" sz="1300" dirty="0"/>
          </a:p>
        </p:txBody>
      </p:sp>
      <p:sp>
        <p:nvSpPr>
          <p:cNvPr id="10" name="Text 8"/>
          <p:cNvSpPr txBox="1"/>
          <p:nvPr/>
        </p:nvSpPr>
        <p:spPr>
          <a:xfrm>
            <a:off x="548640" y="4480560"/>
            <a:ext cx="2103120" cy="731520"/>
          </a:xfrm>
          <a:prstGeom prst="rect">
            <a:avLst/>
          </a:prstGeom>
          <a:noFill/>
          <a:ln/>
        </p:spPr>
        <p:txBody>
          <a:bodyPr wrap="square" lIns="0" tIns="0" rIns="0" bIns="0" rtlCol="0" anchor="t"/>
          <a:lstStyle/>
          <a:p>
            <a:pPr indent="0" marL="0">
              <a:buNone/>
            </a:pPr>
            <a:r>
              <a:rPr lang="en-US" sz="1400" b="1" dirty="0">
                <a:solidFill>
                  <a:schemeClr val="tx2"/>
                </a:solidFill>
              </a:rPr>
              <a:t>Code</a:t>
            </a:r>
            <a:endParaRPr lang="en-US" sz="1400" dirty="0"/>
          </a:p>
        </p:txBody>
      </p:sp>
      <p:sp>
        <p:nvSpPr>
          <p:cNvPr id="11" name="Text 9"/>
          <p:cNvSpPr txBox="1"/>
          <p:nvPr/>
        </p:nvSpPr>
        <p:spPr>
          <a:xfrm>
            <a:off x="2743200" y="4480560"/>
            <a:ext cx="8869680" cy="777240"/>
          </a:xfrm>
          <a:prstGeom prst="rect">
            <a:avLst/>
          </a:prstGeom>
          <a:noFill/>
          <a:ln/>
        </p:spPr>
        <p:txBody>
          <a:bodyPr wrap="square" lIns="0" tIns="0" rIns="0" bIns="0" rtlCol="0" anchor="t"/>
          <a:lstStyle/>
          <a:p>
            <a:pPr indent="0" marL="0">
              <a:buNone/>
            </a:pPr>
            <a:r>
              <a:rPr lang="en-US" sz="1300" dirty="0">
                <a:solidFill>
                  <a:schemeClr val="tx1"/>
                </a:solidFill>
              </a:rPr>
              <a:t>Group17_Cryptocurrency_Liquidity_Measurement_notebook.ipynb (Python 3, pandas, NumPy, matplotlib). FAST_MODE about one minute; full mode several hours.</a:t>
            </a:r>
            <a:endParaRPr lang="en-US" sz="1300" dirty="0"/>
          </a:p>
        </p:txBody>
      </p:sp>
      <p:sp>
        <p:nvSpPr>
          <p:cNvPr id="12" name="LLM use"/>
          <p:cNvSpPr/>
          <p:nvPr/>
        </p:nvSpPr>
        <p:spPr>
          <a:xfrm>
            <a:off x="548640" y="5440680"/>
            <a:ext cx="11064240" cy="731520"/>
          </a:xfrm>
          <a:prstGeom prst="roundRect">
            <a:avLst>
              <a:gd name="adj" fmla="val 12500"/>
            </a:avLst>
          </a:prstGeom>
          <a:solidFill>
            <a:schemeClr val="tx2"/>
          </a:solidFill>
          <a:ln/>
        </p:spPr>
      </p:sp>
      <p:sp>
        <p:nvSpPr>
          <p:cNvPr id="13" name="Text 11"/>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300" b="1" dirty="0">
                <a:solidFill>
                  <a:schemeClr val="accent3"/>
                </a:solidFill>
              </a:rPr>
              <a:t>Use of language models: </a:t>
            </a:r>
            <a:pPr indent="0" marL="0">
              <a:buNone/>
            </a:pPr>
            <a:r>
              <a:rPr lang="en-US" sz="1300" dirty="0">
                <a:solidFill>
                  <a:schemeClr val="bg1"/>
                </a:solidFill>
              </a:rPr>
              <a:t>an LLM (Claude, Anthropic) helped us implement and review code and draft explanations and slides. All numbers come from the notebook's computed outputs.</a:t>
            </a:r>
            <a:endParaRPr lang="en-US" sz="1300" dirty="0"/>
          </a:p>
        </p:txBody>
      </p:sp>
      <p:sp>
        <p:nvSpPr>
          <p:cNvPr id="15"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endParaRPr lang="en-US" sz="1500" dirty="0"/>
          </a:p>
        </p:txBody>
      </p:sp>
      <p:sp>
        <p:nvSpPr>
          <p:cNvPr id="16"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endParaRPr lang="en-US" sz="10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64240" cy="822960"/>
          </a:xfrm>
          <a:prstGeom prst="rect">
            <a:avLst/>
          </a:prstGeom>
          <a:noFill/>
          <a:ln/>
        </p:spPr>
        <p:txBody>
          <a:bodyPr wrap="square" lIns="0" tIns="0" rIns="0" bIns="0" rtlCol="0" anchor="ctr"/>
          <a:lstStyle/>
          <a:p>
            <a:pPr algn="ctr" indent="0" marL="0">
              <a:buNone/>
            </a:pPr>
            <a:r>
              <a:rPr lang="en-US" sz="4400" b="1" dirty="0">
                <a:solidFill>
                  <a:schemeClr val="bg1"/>
                </a:solidFill>
              </a:rPr>
              <a:t>Thank you</a:t>
            </a:r>
            <a:endParaRPr lang="en-US" sz="4400" dirty="0"/>
          </a:p>
        </p:txBody>
      </p:sp>
      <p:sp>
        <p:nvSpPr>
          <p:cNvPr id="3" name="Text 1"/>
          <p:cNvSpPr txBox="1"/>
          <p:nvPr/>
        </p:nvSpPr>
        <p:spPr>
          <a:xfrm>
            <a:off x="548640" y="1508760"/>
            <a:ext cx="11064240" cy="411480"/>
          </a:xfrm>
          <a:prstGeom prst="rect">
            <a:avLst/>
          </a:prstGeom>
          <a:noFill/>
          <a:ln/>
        </p:spPr>
        <p:txBody>
          <a:bodyPr wrap="square" lIns="0" tIns="0" rIns="0" bIns="0" rtlCol="0" anchor="t"/>
          <a:lstStyle/>
          <a:p>
            <a:pPr algn="ctr" indent="0" marL="0">
              <a:buNone/>
            </a:pPr>
            <a:r>
              <a:rPr lang="en-US" sz="1800" dirty="0">
                <a:solidFill>
                  <a:schemeClr val="accent2"/>
                </a:solidFill>
              </a:rPr>
              <a:t>Questions are welcome</a:t>
            </a:r>
            <a:endParaRPr lang="en-US" sz="1800" dirty="0"/>
          </a:p>
        </p:txBody>
      </p:sp>
      <p:pic>
        <p:nvPicPr>
          <p:cNvPr id="4" name="Image 0" descr="Figure kneeling in front of a big dollar sign">    </p:cNvPr>
          <p:cNvPicPr>
            <a:picLocks noChangeAspect="1"/>
          </p:cNvPicPr>
          <p:nvPr/>
        </p:nvPicPr>
        <p:blipFill>
          <a:blip r:embed="rId1"/>
          <a:stretch>
            <a:fillRect/>
          </a:stretch>
        </p:blipFill>
        <p:spPr>
          <a:xfrm>
            <a:off x="4956048" y="2148840"/>
            <a:ext cx="2286000" cy="2286000"/>
          </a:xfrm>
          <a:prstGeom prst="ellipse">
            <a:avLst/>
          </a:prstGeom>
        </p:spPr>
      </p:pic>
      <p:sp>
        <p:nvSpPr>
          <p:cNvPr id="5" name="Text 2"/>
          <p:cNvSpPr txBox="1"/>
          <p:nvPr/>
        </p:nvSpPr>
        <p:spPr>
          <a:xfrm>
            <a:off x="548640" y="4572000"/>
            <a:ext cx="11064240" cy="365760"/>
          </a:xfrm>
          <a:prstGeom prst="rect">
            <a:avLst/>
          </a:prstGeom>
          <a:noFill/>
          <a:ln/>
        </p:spPr>
        <p:txBody>
          <a:bodyPr wrap="square" lIns="0" tIns="0" rIns="0" bIns="0" rtlCol="0" anchor="t"/>
          <a:lstStyle/>
          <a:p>
            <a:pPr algn="ctr" indent="0" marL="0">
              <a:buNone/>
            </a:pPr>
            <a:r>
              <a:rPr lang="en-US" sz="1400" i="1" dirty="0">
                <a:solidFill>
                  <a:schemeClr val="accent3"/>
                </a:solidFill>
              </a:rPr>
              <a:t>…and may your spreads always be tight</a:t>
            </a:r>
            <a:endParaRPr lang="en-US" sz="1400" dirty="0"/>
          </a:p>
        </p:txBody>
      </p:sp>
      <p:sp>
        <p:nvSpPr>
          <p:cNvPr id="6" name="Text 3"/>
          <p:cNvSpPr txBox="1"/>
          <p:nvPr/>
        </p:nvSpPr>
        <p:spPr>
          <a:xfrm>
            <a:off x="548640" y="5120640"/>
            <a:ext cx="11064240" cy="365760"/>
          </a:xfrm>
          <a:prstGeom prst="rect">
            <a:avLst/>
          </a:prstGeom>
          <a:noFill/>
          <a:ln/>
        </p:spPr>
        <p:txBody>
          <a:bodyPr wrap="square" lIns="0" tIns="0" rIns="0" bIns="0" rtlCol="0" anchor="t"/>
          <a:lstStyle/>
          <a:p>
            <a:pPr algn="ctr" indent="0" marL="0">
              <a:buNone/>
            </a:pPr>
            <a:r>
              <a:rPr lang="en-US" sz="1500" b="1" dirty="0">
                <a:solidFill>
                  <a:schemeClr val="bg1"/>
                </a:solidFill>
              </a:rPr>
              <a:t>Chistiakova Maria  ·  Rudko Sofia  ·  Meyzler Liya  ·  Samoilova Maria</a:t>
            </a:r>
            <a:endParaRPr lang="en-US" sz="1500" dirty="0"/>
          </a:p>
        </p:txBody>
      </p:sp>
      <p:sp>
        <p:nvSpPr>
          <p:cNvPr id="7" name="Text 4"/>
          <p:cNvSpPr txBox="1"/>
          <p:nvPr/>
        </p:nvSpPr>
        <p:spPr>
          <a:xfrm>
            <a:off x="548640" y="5532120"/>
            <a:ext cx="11064240" cy="320040"/>
          </a:xfrm>
          <a:prstGeom prst="rect">
            <a:avLst/>
          </a:prstGeom>
          <a:noFill/>
          <a:ln/>
        </p:spPr>
        <p:txBody>
          <a:bodyPr wrap="square" lIns="0" tIns="0" rIns="0" bIns="0" rtlCol="0" anchor="t"/>
          <a:lstStyle/>
          <a:p>
            <a:pPr algn="ctr" indent="0" marL="0">
              <a:buNone/>
            </a:pPr>
            <a:r>
              <a:rPr lang="en-US" sz="1200" dirty="0">
                <a:solidFill>
                  <a:schemeClr val="accent2"/>
                </a:solidFill>
              </a:rPr>
              <a:t>Research Seminar: Data Analysis in Finance  ·  Group 17  ·  Moscow, 2026</a:t>
            </a:r>
            <a:endParaRPr lang="en-US" sz="1200" dirty="0"/>
          </a:p>
        </p:txBody>
      </p:sp>
      <p:pic>
        <p:nvPicPr>
          <p:cNvPr id="8" name="Image 1" descr="HSE University logo">    </p:cNvPr>
          <p:cNvPicPr>
            <a:picLocks noChangeAspect="1"/>
          </p:cNvPicPr>
          <p:nvPr/>
        </p:nvPicPr>
        <p:blipFill>
          <a:blip r:embed="rId2"/>
          <a:stretch>
            <a:fillRect/>
          </a:stretch>
        </p:blipFill>
        <p:spPr>
          <a:xfrm>
            <a:off x="5138928" y="6035040"/>
            <a:ext cx="502920" cy="502920"/>
          </a:xfrm>
          <a:prstGeom prst="rect">
            <a:avLst/>
          </a:prstGeom>
        </p:spPr>
      </p:pic>
      <p:pic>
        <p:nvPicPr>
          <p:cNvPr id="9" name="Image 2" descr="Faculty of Computer Science logo">    </p:cNvPr>
          <p:cNvPicPr>
            <a:picLocks noChangeAspect="1"/>
          </p:cNvPicPr>
          <p:nvPr/>
        </p:nvPicPr>
        <p:blipFill>
          <a:blip r:embed="rId3"/>
          <a:stretch>
            <a:fillRect/>
          </a:stretch>
        </p:blipFill>
        <p:spPr>
          <a:xfrm>
            <a:off x="5833872" y="6144768"/>
            <a:ext cx="1216152" cy="23774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3" type="body" hasCustomPrompt="1"/>
          </p:nvPr>
        </p:nvSpPr>
        <p:spPr>
          <a:xfrm>
            <a:off x="548640" y="822960"/>
            <a:ext cx="8229600" cy="256032"/>
          </a:xfrm>
          <a:prstGeom prst="rect">
            <a:avLst/>
          </a:prstGeom>
          <a:noFill/>
          <a:ln/>
        </p:spPr>
        <p:txBody>
          <a:bodyPr wrap="square" lIns="0" tIns="0" rIns="0" bIns="0" rtlCol="0" anchor="ctr"/>
          <a:lstStyle/>
          <a:p>
            <a:pPr indent="0" marL="0">
              <a:buNone/>
            </a:pPr>
            <a:r>
              <a:rPr lang="en-US" sz="1000" b="1" spc="150" kern="0" dirty="0">
                <a:solidFill>
                  <a:schemeClr val="accent4"/>
                </a:solidFill>
              </a:rPr>
              <a:t>BACKUP · PART 2</a:t>
            </a:r>
            <a:endParaRPr lang="en-US" sz="1000" dirty="0"/>
          </a:p>
        </p:txBody>
      </p:sp>
      <p:sp>
        <p:nvSpPr>
          <p:cNvPr id="3" name="Text 1"/>
          <p:cNvSpPr/>
          <p:nvPr>
            <p:ph idx="104" type="title" hasCustomPrompt="1"/>
          </p:nvPr>
        </p:nvSpPr>
        <p:spPr>
          <a:xfrm>
            <a:off x="548640" y="1060704"/>
            <a:ext cx="11064240" cy="566928"/>
          </a:xfrm>
          <a:prstGeom prst="rect">
            <a:avLst/>
          </a:prstGeom>
          <a:noFill/>
          <a:ln/>
        </p:spPr>
        <p:txBody>
          <a:bodyPr wrap="square" lIns="0" tIns="0" rIns="0" bIns="0" rtlCol="0" anchor="ctr"/>
          <a:lstStyle/>
          <a:p>
            <a:pPr algn="l" indent="0" marL="0">
              <a:buNone/>
            </a:pPr>
            <a:r>
              <a:rPr lang="en-US" sz="2800" b="1" dirty="0">
                <a:solidFill>
                  <a:schemeClr val="tx2"/>
                </a:solidFill>
              </a:rPr>
              <a:t>Proxy details for questions</a:t>
            </a:r>
            <a:endParaRPr lang="en-US" sz="2800" dirty="0"/>
          </a:p>
        </p:txBody>
      </p:sp>
      <p:sp>
        <p:nvSpPr>
          <p:cNvPr id="4" name="Text 1"/>
          <p:cNvSpPr/>
          <p:nvPr>
            <p:ph idx="105" type="body" hasCustomPrompt="1"/>
          </p:nvPr>
        </p:nvSpPr>
        <p:spPr>
          <a:xfrm>
            <a:off x="548640" y="1645920"/>
            <a:ext cx="11064240" cy="384048"/>
          </a:xfrm>
          <a:prstGeom prst="rect">
            <a:avLst/>
          </a:prstGeom>
          <a:noFill/>
          <a:ln/>
        </p:spPr>
        <p:txBody>
          <a:bodyPr wrap="square" lIns="0" tIns="0" rIns="0" bIns="0" rtlCol="0" anchor="t"/>
          <a:lstStyle/>
          <a:p>
            <a:pPr indent="0" marL="0">
              <a:buNone/>
            </a:pPr>
            <a:r>
              <a:rPr lang="en-US" sz="1500" dirty="0">
                <a:solidFill>
                  <a:schemeClr val="accent4"/>
                </a:solidFill>
              </a:rPr>
              <a:t>Short answers on the eight proxies (Sofia).</a:t>
            </a:r>
            <a:endParaRPr lang="en-US" sz="1500" dirty="0"/>
          </a:p>
        </p:txBody>
      </p:sp>
      <p:sp>
        <p:nvSpPr>
          <p:cNvPr id="5" name="Text 1"/>
          <p:cNvSpPr/>
          <p:nvPr>
            <p:ph idx="106" type="body" hasCustomPrompt="1"/>
          </p:nvPr>
        </p:nvSpPr>
        <p:spPr>
          <a:xfrm>
            <a:off x="548640" y="6309360"/>
            <a:ext cx="10698480" cy="402336"/>
          </a:xfrm>
          <a:prstGeom prst="rect">
            <a:avLst/>
          </a:prstGeom>
          <a:noFill/>
          <a:ln/>
        </p:spPr>
        <p:txBody>
          <a:bodyPr wrap="square" lIns="0" tIns="0" rIns="0" bIns="0" rtlCol="0" anchor="t"/>
          <a:lstStyle/>
          <a:p>
            <a:pPr indent="0" marL="0">
              <a:buNone/>
            </a:pPr>
            <a:r>
              <a:rPr lang="en-US" sz="1000" dirty="0">
                <a:solidFill>
                  <a:schemeClr val="accent4"/>
                </a:solidFill>
              </a:rPr>
              <a:t>Notebook Sections 4.6–4.9.</a:t>
            </a:r>
            <a:endParaRPr lang="en-US" sz="1000" dirty="0"/>
          </a:p>
        </p:txBody>
      </p:sp>
      <p:sp>
        <p:nvSpPr>
          <p:cNvPr id="6" name="backup 1"/>
          <p:cNvSpPr/>
          <p:nvPr/>
        </p:nvSpPr>
        <p:spPr>
          <a:xfrm>
            <a:off x="548640" y="2148840"/>
            <a:ext cx="5440680" cy="1243584"/>
          </a:xfrm>
          <a:prstGeom prst="roundRect">
            <a:avLst>
              <a:gd name="adj" fmla="val 7353"/>
            </a:avLst>
          </a:prstGeom>
          <a:solidFill>
            <a:schemeClr val="bg2"/>
          </a:solidFill>
          <a:ln/>
        </p:spPr>
      </p:sp>
      <p:sp>
        <p:nvSpPr>
          <p:cNvPr id="7" name="Text 5"/>
          <p:cNvSpPr txBox="1"/>
          <p:nvPr/>
        </p:nvSpPr>
        <p:spPr>
          <a:xfrm>
            <a:off x="777240" y="2240280"/>
            <a:ext cx="5029200" cy="1060704"/>
          </a:xfrm>
          <a:prstGeom prst="rect">
            <a:avLst/>
          </a:prstGeom>
          <a:noFill/>
          <a:ln/>
        </p:spPr>
        <p:txBody>
          <a:bodyPr wrap="square" lIns="0" tIns="0" rIns="0" bIns="0" rtlCol="0" anchor="ctr"/>
          <a:lstStyle/>
          <a:p>
            <a:pPr indent="0" marL="0">
              <a:buNone/>
            </a:pPr>
            <a:r>
              <a:rPr lang="en-US" sz="1500" b="1" dirty="0">
                <a:solidFill>
                  <a:schemeClr val="tx2"/>
                </a:solidFill>
              </a:rPr>
              <a:t>Why average TX over minutes with trades?</a:t>
            </a:r>
            <a:endParaRPr lang="en-US" sz="1400" dirty="0"/>
          </a:p>
          <a:p>
            <a:pPr indent="0" marL="0">
              <a:buNone/>
            </a:pPr>
            <a:r>
              <a:rPr lang="en-US" sz="1400" dirty="0">
                <a:solidFill>
                  <a:schemeClr val="tx1"/>
                </a:solidFill>
              </a:rPr>
              <a:t>That is the paper's definition (Section 2.2.2): a minute without trades is a gap, not a zero.</a:t>
            </a:r>
            <a:endParaRPr lang="en-US" sz="1400" dirty="0"/>
          </a:p>
        </p:txBody>
      </p:sp>
      <p:sp>
        <p:nvSpPr>
          <p:cNvPr id="8" name="backup 2"/>
          <p:cNvSpPr/>
          <p:nvPr/>
        </p:nvSpPr>
        <p:spPr>
          <a:xfrm>
            <a:off x="6172200" y="2148840"/>
            <a:ext cx="5440680" cy="1243584"/>
          </a:xfrm>
          <a:prstGeom prst="roundRect">
            <a:avLst>
              <a:gd name="adj" fmla="val 7353"/>
            </a:avLst>
          </a:prstGeom>
          <a:solidFill>
            <a:schemeClr val="bg2"/>
          </a:solidFill>
          <a:ln/>
        </p:spPr>
      </p:sp>
      <p:sp>
        <p:nvSpPr>
          <p:cNvPr id="9" name="Text 7"/>
          <p:cNvSpPr txBox="1"/>
          <p:nvPr/>
        </p:nvSpPr>
        <p:spPr>
          <a:xfrm>
            <a:off x="6400800" y="2240280"/>
            <a:ext cx="5029200" cy="1060704"/>
          </a:xfrm>
          <a:prstGeom prst="rect">
            <a:avLst/>
          </a:prstGeom>
          <a:noFill/>
          <a:ln/>
        </p:spPr>
        <p:txBody>
          <a:bodyPr wrap="square" lIns="0" tIns="0" rIns="0" bIns="0" rtlCol="0" anchor="ctr"/>
          <a:lstStyle/>
          <a:p>
            <a:pPr indent="0" marL="0">
              <a:buNone/>
            </a:pPr>
            <a:r>
              <a:rPr lang="en-US" sz="1500" b="1" dirty="0">
                <a:solidFill>
                  <a:schemeClr val="tx2"/>
                </a:solidFill>
              </a:rPr>
              <a:t>Does setting negative pairs to 0 bias AR and CS?</a:t>
            </a:r>
            <a:endParaRPr lang="en-US" sz="1400" dirty="0"/>
          </a:p>
          <a:p>
            <a:pPr indent="0" marL="0">
              <a:buNone/>
            </a:pPr>
            <a:r>
              <a:rPr lang="en-US" sz="1400" dirty="0">
                <a:solidFill>
                  <a:schemeClr val="tx1"/>
                </a:solidFill>
              </a:rPr>
              <a:t>Yes, upwards, as in the paper. 29–60% of pairs are negative; “average first, clip after” gives CS = 0 in five of six markets.</a:t>
            </a:r>
            <a:endParaRPr lang="en-US" sz="1400" dirty="0"/>
          </a:p>
        </p:txBody>
      </p:sp>
      <p:sp>
        <p:nvSpPr>
          <p:cNvPr id="10" name="backup 3"/>
          <p:cNvSpPr/>
          <p:nvPr/>
        </p:nvSpPr>
        <p:spPr>
          <a:xfrm>
            <a:off x="548640" y="3502152"/>
            <a:ext cx="5440680" cy="1243584"/>
          </a:xfrm>
          <a:prstGeom prst="roundRect">
            <a:avLst>
              <a:gd name="adj" fmla="val 7353"/>
            </a:avLst>
          </a:prstGeom>
          <a:solidFill>
            <a:schemeClr val="bg2"/>
          </a:solidFill>
          <a:ln/>
        </p:spPr>
      </p:sp>
      <p:sp>
        <p:nvSpPr>
          <p:cNvPr id="11" name="Text 9"/>
          <p:cNvSpPr txBox="1"/>
          <p:nvPr/>
        </p:nvSpPr>
        <p:spPr>
          <a:xfrm>
            <a:off x="777240" y="3593592"/>
            <a:ext cx="5029200" cy="1060704"/>
          </a:xfrm>
          <a:prstGeom prst="rect">
            <a:avLst/>
          </a:prstGeom>
          <a:noFill/>
          <a:ln/>
        </p:spPr>
        <p:txBody>
          <a:bodyPr wrap="square" lIns="0" tIns="0" rIns="0" bIns="0" rtlCol="0" anchor="ctr"/>
          <a:lstStyle/>
          <a:p>
            <a:pPr indent="0" marL="0">
              <a:buNone/>
            </a:pPr>
            <a:r>
              <a:rPr lang="en-US" sz="1500" b="1" dirty="0">
                <a:solidFill>
                  <a:schemeClr val="tx2"/>
                </a:solidFill>
              </a:rPr>
              <a:t>Why is Roll so often zero?</a:t>
            </a:r>
            <a:endParaRPr lang="en-US" sz="1400" dirty="0"/>
          </a:p>
          <a:p>
            <a:pPr indent="0" marL="0">
              <a:buNone/>
            </a:pPr>
            <a:r>
              <a:rPr lang="en-US" sz="1400" dirty="0">
                <a:solidFill>
                  <a:schemeClr val="tx1"/>
                </a:solidFill>
              </a:rPr>
              <a:t>Spreads below 1 bp against minute moves of about 7 bp: the covariance is often positive, so Roll = 0. The simulation shows the same.</a:t>
            </a:r>
            <a:endParaRPr lang="en-US" sz="1400" dirty="0"/>
          </a:p>
        </p:txBody>
      </p:sp>
      <p:sp>
        <p:nvSpPr>
          <p:cNvPr id="12" name="backup 4"/>
          <p:cNvSpPr/>
          <p:nvPr/>
        </p:nvSpPr>
        <p:spPr>
          <a:xfrm>
            <a:off x="6172200" y="3502152"/>
            <a:ext cx="5440680" cy="1243584"/>
          </a:xfrm>
          <a:prstGeom prst="roundRect">
            <a:avLst>
              <a:gd name="adj" fmla="val 7353"/>
            </a:avLst>
          </a:prstGeom>
          <a:solidFill>
            <a:schemeClr val="bg2"/>
          </a:solidFill>
          <a:ln/>
        </p:spPr>
      </p:sp>
      <p:sp>
        <p:nvSpPr>
          <p:cNvPr id="13" name="Text 11"/>
          <p:cNvSpPr txBox="1"/>
          <p:nvPr/>
        </p:nvSpPr>
        <p:spPr>
          <a:xfrm>
            <a:off x="6400800" y="3593592"/>
            <a:ext cx="5029200" cy="1060704"/>
          </a:xfrm>
          <a:prstGeom prst="rect">
            <a:avLst/>
          </a:prstGeom>
          <a:noFill/>
          <a:ln/>
        </p:spPr>
        <p:txBody>
          <a:bodyPr wrap="square" lIns="0" tIns="0" rIns="0" bIns="0" rtlCol="0" anchor="ctr"/>
          <a:lstStyle/>
          <a:p>
            <a:pPr indent="0" marL="0">
              <a:buNone/>
            </a:pPr>
            <a:r>
              <a:rPr lang="en-US" sz="1500" b="1" dirty="0">
                <a:solidFill>
                  <a:schemeClr val="tx2"/>
                </a:solidFill>
              </a:rPr>
              <a:t>Why does AR keep the square root?</a:t>
            </a:r>
            <a:endParaRPr lang="en-US" sz="1400" dirty="0"/>
          </a:p>
          <a:p>
            <a:pPr indent="0" marL="0">
              <a:buNone/>
            </a:pPr>
            <a:r>
              <a:rPr lang="en-US" sz="1400" dirty="0">
                <a:solidFill>
                  <a:schemeClr val="tx1"/>
                </a:solidFill>
              </a:rPr>
              <a:t>As in the SSRN formula: AR is then a spread in bp, comparable with QS.</a:t>
            </a:r>
            <a:endParaRPr lang="en-US" sz="1400" dirty="0"/>
          </a:p>
        </p:txBody>
      </p:sp>
      <p:sp>
        <p:nvSpPr>
          <p:cNvPr id="14" name="backup 5"/>
          <p:cNvSpPr/>
          <p:nvPr/>
        </p:nvSpPr>
        <p:spPr>
          <a:xfrm>
            <a:off x="548640" y="4855464"/>
            <a:ext cx="5440680" cy="1243584"/>
          </a:xfrm>
          <a:prstGeom prst="roundRect">
            <a:avLst>
              <a:gd name="adj" fmla="val 7353"/>
            </a:avLst>
          </a:prstGeom>
          <a:solidFill>
            <a:schemeClr val="bg2"/>
          </a:solidFill>
          <a:ln/>
        </p:spPr>
      </p:sp>
      <p:sp>
        <p:nvSpPr>
          <p:cNvPr id="15" name="Text 13"/>
          <p:cNvSpPr txBox="1"/>
          <p:nvPr/>
        </p:nvSpPr>
        <p:spPr>
          <a:xfrm>
            <a:off x="777240" y="4946904"/>
            <a:ext cx="5029200" cy="1060704"/>
          </a:xfrm>
          <a:prstGeom prst="rect">
            <a:avLst/>
          </a:prstGeom>
          <a:noFill/>
          <a:ln/>
        </p:spPr>
        <p:txBody>
          <a:bodyPr wrap="square" lIns="0" tIns="0" rIns="0" bIns="0" rtlCol="0" anchor="ctr"/>
          <a:lstStyle/>
          <a:p>
            <a:pPr indent="0" marL="0">
              <a:buNone/>
            </a:pPr>
            <a:r>
              <a:rPr lang="en-US" sz="1500" b="1" dirty="0">
                <a:solidFill>
                  <a:schemeClr val="tx2"/>
                </a:solidFill>
              </a:rPr>
              <a:t>What are Kyle's units?</a:t>
            </a:r>
            <a:endParaRPr lang="en-US" sz="1400" dirty="0"/>
          </a:p>
          <a:p>
            <a:pPr indent="0" marL="0">
              <a:buNone/>
            </a:pPr>
            <a:r>
              <a:rPr lang="en-US" sz="1400" dirty="0">
                <a:solidFill>
                  <a:schemeClr val="tx1"/>
                </a:solidFill>
              </a:rPr>
              <a:t>Kyle divides by total hourly USD volume, so its level depends on units; we scale it ×10⁴ only for level comparisons.</a:t>
            </a:r>
            <a:endParaRPr lang="en-US" sz="1400" dirty="0"/>
          </a:p>
        </p:txBody>
      </p:sp>
      <p:sp>
        <p:nvSpPr>
          <p:cNvPr id="16" name="backup 6"/>
          <p:cNvSpPr/>
          <p:nvPr/>
        </p:nvSpPr>
        <p:spPr>
          <a:xfrm>
            <a:off x="6172200" y="4855464"/>
            <a:ext cx="5440680" cy="1243584"/>
          </a:xfrm>
          <a:prstGeom prst="roundRect">
            <a:avLst>
              <a:gd name="adj" fmla="val 7353"/>
            </a:avLst>
          </a:prstGeom>
          <a:solidFill>
            <a:schemeClr val="bg2"/>
          </a:solidFill>
          <a:ln/>
        </p:spPr>
      </p:sp>
      <p:sp>
        <p:nvSpPr>
          <p:cNvPr id="17" name="Text 15"/>
          <p:cNvSpPr txBox="1"/>
          <p:nvPr/>
        </p:nvSpPr>
        <p:spPr>
          <a:xfrm>
            <a:off x="6400800" y="4946904"/>
            <a:ext cx="5029200" cy="1060704"/>
          </a:xfrm>
          <a:prstGeom prst="rect">
            <a:avLst/>
          </a:prstGeom>
          <a:noFill/>
          <a:ln/>
        </p:spPr>
        <p:txBody>
          <a:bodyPr wrap="square" lIns="0" tIns="0" rIns="0" bIns="0" rtlCol="0" anchor="ctr"/>
          <a:lstStyle/>
          <a:p>
            <a:pPr indent="0" marL="0">
              <a:buNone/>
            </a:pPr>
            <a:r>
              <a:rPr lang="en-US" sz="1500" b="1" dirty="0">
                <a:solidFill>
                  <a:schemeClr val="tx2"/>
                </a:solidFill>
              </a:rPr>
              <a:t>What about odd Bitfinex prices?</a:t>
            </a:r>
            <a:endParaRPr lang="en-US" sz="1400" dirty="0"/>
          </a:p>
          <a:p>
            <a:pPr indent="0" marL="0">
              <a:buNone/>
            </a:pPr>
            <a:r>
              <a:rPr lang="en-US" sz="1400" dirty="0">
                <a:solidFill>
                  <a:schemeClr val="tx1"/>
                </a:solidFill>
              </a:rPr>
              <a:t>33.4% of BTC and 21.5% of ETH minutes have sub-cent prices; kept as recorded and flagged.</a:t>
            </a:r>
            <a:endParaRPr lang="en-US" sz="1400" dirty="0"/>
          </a:p>
        </p:txBody>
      </p:sp>
      <p:sp>
        <p:nvSpPr>
          <p:cNvPr id="25" name="Slide Number Placeholder 0"/>
          <p:cNvSpPr>
            <a:spLocks noGrp="1"/>
          </p:cNvSpPr>
          <p:nvPr>
            <p:ph type="sldNum" sz="quarter" idx="4294967295"/>
          </p:nvPr>
        </p:nvSpPr>
        <p:spPr>
          <a:xfrm>
            <a:off x="10972800" y="274320"/>
            <a:ext cx="685800" cy="384048"/>
          </a:xfrm>
          <a:prstGeom prst="rect">
            <a:avLst/>
          </a:prstGeom>
          <a:extLst>
            <a:ext uri="{C572A759-6A51-4108-AA02-DFA0A04FC94B}">
              <ma14:wrappingTextBoxFlag xmlns:ma14="http://schemas.microsoft.com/office/mac/drawingml/2011/main" val="0"/>
            </a:ext>
          </a:extLst>
        </p:spPr>
        <p:txBody>
          <a:bodyPr/>
          <a:lstStyle>
            <a:lvl1pPr>
              <a:defRPr sz="1600">
                <a:solidFill>
                  <a:srgbClr val="102D69"/>
                </a:solidFill>
                <a:latin typeface="Navigo"/>
                <a:ea typeface="Navigo"/>
                <a:cs typeface="Navig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Group 17 FCS">
  <a:themeElements>
    <a:clrScheme name="Group 17 FCS">
      <a:dk1>
        <a:srgbClr val="1F2A44"/>
      </a:dk1>
      <a:lt1>
        <a:srgbClr val="FFFFFF"/>
      </a:lt1>
      <a:dk2>
        <a:srgbClr val="102D69"/>
      </a:dk2>
      <a:lt2>
        <a:srgbClr val="F3F4F8"/>
      </a:lt2>
      <a:accent1>
        <a:srgbClr val="102D69"/>
      </a:accent1>
      <a:accent2>
        <a:srgbClr val="DFC7F2"/>
      </a:accent2>
      <a:accent3>
        <a:srgbClr val="DCFF05"/>
      </a:accent3>
      <a:accent4>
        <a:srgbClr val="5F6A8C"/>
      </a:accent4>
      <a:accent5>
        <a:srgbClr val="B9BED0"/>
      </a:accent5>
      <a:accent6>
        <a:srgbClr val="7B75AA"/>
      </a:accent6>
      <a:hlink>
        <a:srgbClr val="102D69"/>
      </a:hlink>
      <a:folHlink>
        <a:srgbClr val="7B75AA"/>
      </a:folHlink>
    </a:clrScheme>
    <a:fontScheme name="Group 17 FCS">
      <a:majorFont>
        <a:latin typeface="Navig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vig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HSE University, Faculty of Computer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Measure the Liquidity of Cryptocurrency Markets?</dc:title>
  <dc:subject>Research Seminar: Data Analysis in Finance</dc:subject>
  <dc:creator>Group 17: Chistiakova Maria, Rudko Sofia, Meyzler Liya, Samoilova Maria</dc:creator>
  <cp:lastModifiedBy>Group 17: Chistiakova Maria, Rudko Sofia, Meyzler Liya, Samoilova Maria</cp:lastModifiedBy>
  <cp:revision>1</cp:revision>
  <dcterms:created xsi:type="dcterms:W3CDTF">2026-10-16T18:18:35Z</dcterms:created>
  <dcterms:modified xsi:type="dcterms:W3CDTF">2026-10-16T18:18:35Z</dcterms:modified>
</cp:coreProperties>
</file>